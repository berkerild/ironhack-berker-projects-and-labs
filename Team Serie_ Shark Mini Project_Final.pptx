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Neuton"/>
      <p:regular r:id="rId18"/>
      <p:bold r:id="rId19"/>
      <p: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58">
          <p15:clr>
            <a:srgbClr val="747775"/>
          </p15:clr>
        </p15:guide>
        <p15:guide id="2" orient="horz" pos="151">
          <p15:clr>
            <a:srgbClr val="747775"/>
          </p15:clr>
        </p15:guide>
        <p15:guide id="3" pos="680">
          <p15:clr>
            <a:srgbClr val="747775"/>
          </p15:clr>
        </p15:guide>
        <p15:guide id="4" orient="horz" pos="72">
          <p15:clr>
            <a:srgbClr val="747775"/>
          </p15:clr>
        </p15:guide>
        <p15:guide id="5" pos="553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58"/>
        <p:guide pos="151" orient="horz"/>
        <p:guide pos="680"/>
        <p:guide pos="72" orient="horz"/>
        <p:guide pos="5531"/>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euton-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Neuton-bold.fntdata"/><Relationship Id="rId6" Type="http://schemas.openxmlformats.org/officeDocument/2006/relationships/slide" Target="slides/slide1.xml"/><Relationship Id="rId18" Type="http://schemas.openxmlformats.org/officeDocument/2006/relationships/font" Target="fonts/Neuton-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875bc2219_1_6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a:solidFill>
                  <a:schemeClr val="dk1"/>
                </a:solidFill>
              </a:rPr>
              <a:t>Hello everyone.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GB">
                <a:solidFill>
                  <a:schemeClr val="dk1"/>
                </a:solidFill>
              </a:rPr>
              <a:t>I am Amanda and together with Ailixier, Berker and Tina, we are representing Save Our Sharks, which is shark conservation organization in the US and we’re working to challenge the idea that sharks are bloodthirsty killers.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
        <p:nvSpPr>
          <p:cNvPr id="58" name="Google Shape;58;g3e875bc2219_1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e875bc221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e875bc221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a:t>When people think about sharks, they often think of danger and shark attacks. But  popular culture and media coverage like the release of the movie Jaws, can sometimes make the risk seem much greater than it really is.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GB"/>
              <a:t>In this presentation, we'll use data to explore what shark incidents actually tell us. We'll look at patterns in shark attacks, fatality rates, and trends over time to separate fear from fact and better understand shark-human interactions.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GB"/>
              <a:t>Using the Global Shark Attack dataset, we investigated how many incidents are fatal, whether they are provoked or unprovoked, and how incident numbers have changed over the last 50 years.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GB"/>
              <a:t>Our goal is to use data to better understand the reality behind shark-human interactions.</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e8dfca1ab2_3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e8dfca1ab2_3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a:solidFill>
                  <a:schemeClr val="dk1"/>
                </a:solidFill>
              </a:rPr>
              <a:t>Our dataset contains over 7,000 recorded shark incidents from around the world.</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GB">
                <a:solidFill>
                  <a:schemeClr val="dk1"/>
                </a:solidFill>
              </a:rPr>
              <a:t>To answer our research questions, we selected several key columns.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GB">
                <a:solidFill>
                  <a:schemeClr val="dk1"/>
                </a:solidFill>
              </a:rPr>
              <a:t>We used </a:t>
            </a:r>
            <a:r>
              <a:rPr b="1" lang="en-GB">
                <a:solidFill>
                  <a:schemeClr val="dk1"/>
                </a:solidFill>
              </a:rPr>
              <a:t>Type</a:t>
            </a:r>
            <a:r>
              <a:rPr lang="en-GB">
                <a:solidFill>
                  <a:schemeClr val="dk1"/>
                </a:solidFill>
              </a:rPr>
              <a:t> to compare provoked and unprovoked incidents, </a:t>
            </a:r>
            <a:r>
              <a:rPr b="1" lang="en-GB">
                <a:solidFill>
                  <a:schemeClr val="dk1"/>
                </a:solidFill>
              </a:rPr>
              <a:t>Fatal</a:t>
            </a:r>
            <a:r>
              <a:rPr lang="en-GB">
                <a:solidFill>
                  <a:schemeClr val="dk1"/>
                </a:solidFill>
              </a:rPr>
              <a:t> to measure risk, and </a:t>
            </a:r>
            <a:r>
              <a:rPr b="1" lang="en-GB">
                <a:solidFill>
                  <a:schemeClr val="dk1"/>
                </a:solidFill>
              </a:rPr>
              <a:t>Species</a:t>
            </a:r>
            <a:r>
              <a:rPr lang="en-GB">
                <a:solidFill>
                  <a:schemeClr val="dk1"/>
                </a:solidFill>
              </a:rPr>
              <a:t> to identify which sharks are involved.</a:t>
            </a:r>
            <a:endParaRPr>
              <a:solidFill>
                <a:schemeClr val="dk1"/>
              </a:solidFill>
            </a:endParaRPr>
          </a:p>
          <a:p>
            <a:pPr indent="0" lvl="0" marL="0" rtl="0" algn="l">
              <a:lnSpc>
                <a:spcPct val="115000"/>
              </a:lnSpc>
              <a:spcBef>
                <a:spcPts val="0"/>
              </a:spcBef>
              <a:spcAft>
                <a:spcPts val="0"/>
              </a:spcAft>
              <a:buNone/>
            </a:pPr>
            <a:r>
              <a:rPr lang="en-GB">
                <a:solidFill>
                  <a:schemeClr val="dk1"/>
                </a:solidFill>
              </a:rPr>
              <a:t>We also looked at </a:t>
            </a:r>
            <a:r>
              <a:rPr b="1" lang="en-GB">
                <a:solidFill>
                  <a:schemeClr val="dk1"/>
                </a:solidFill>
              </a:rPr>
              <a:t>Year</a:t>
            </a:r>
            <a:r>
              <a:rPr lang="en-GB">
                <a:solidFill>
                  <a:schemeClr val="dk1"/>
                </a:solidFill>
              </a:rPr>
              <a:t> to analyze trends over time, </a:t>
            </a:r>
            <a:r>
              <a:rPr b="1" lang="en-GB">
                <a:solidFill>
                  <a:schemeClr val="dk1"/>
                </a:solidFill>
              </a:rPr>
              <a:t>Gender</a:t>
            </a:r>
            <a:r>
              <a:rPr lang="en-GB">
                <a:solidFill>
                  <a:schemeClr val="dk1"/>
                </a:solidFill>
              </a:rPr>
              <a:t> and </a:t>
            </a:r>
            <a:r>
              <a:rPr b="1" lang="en-GB">
                <a:solidFill>
                  <a:schemeClr val="dk1"/>
                </a:solidFill>
              </a:rPr>
              <a:t>Activity</a:t>
            </a:r>
            <a:r>
              <a:rPr lang="en-GB">
                <a:solidFill>
                  <a:schemeClr val="dk1"/>
                </a:solidFill>
              </a:rPr>
              <a:t> to understand who is affected and what they were doing, and </a:t>
            </a:r>
            <a:r>
              <a:rPr b="1" lang="en-GB">
                <a:solidFill>
                  <a:schemeClr val="dk1"/>
                </a:solidFill>
              </a:rPr>
              <a:t>State</a:t>
            </a:r>
            <a:r>
              <a:rPr lang="en-GB">
                <a:solidFill>
                  <a:schemeClr val="dk1"/>
                </a:solidFill>
              </a:rPr>
              <a:t> to explore geographic patterns.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GB">
                <a:solidFill>
                  <a:schemeClr val="dk1"/>
                </a:solidFill>
              </a:rPr>
              <a:t>These variables help us investigate whether public fears match the data.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e875bc2219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e875bc2219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500"/>
              </a:spcBef>
              <a:spcAft>
                <a:spcPts val="0"/>
              </a:spcAft>
              <a:buNone/>
            </a:pPr>
            <a:r>
              <a:rPr b="1" lang="en-GB" sz="1050">
                <a:solidFill>
                  <a:srgbClr val="1D1C1D"/>
                </a:solidFill>
              </a:rPr>
              <a:t>Tina</a:t>
            </a:r>
            <a:endParaRPr b="1" sz="1050">
              <a:solidFill>
                <a:srgbClr val="1D1C1D"/>
              </a:solidFill>
            </a:endParaRPr>
          </a:p>
          <a:p>
            <a:pPr indent="0" lvl="0" marL="0" rtl="0" algn="l">
              <a:lnSpc>
                <a:spcPct val="115000"/>
              </a:lnSpc>
              <a:spcBef>
                <a:spcPts val="500"/>
              </a:spcBef>
              <a:spcAft>
                <a:spcPts val="0"/>
              </a:spcAft>
              <a:buNone/>
            </a:pPr>
            <a:br>
              <a:rPr b="1" lang="en-GB" sz="1050">
                <a:solidFill>
                  <a:srgbClr val="1D1C1D"/>
                </a:solidFill>
              </a:rPr>
            </a:br>
            <a:r>
              <a:rPr b="1" lang="en-GB" sz="1050">
                <a:solidFill>
                  <a:srgbClr val="1D1C1D"/>
                </a:solidFill>
              </a:rPr>
              <a:t>Missing values </a:t>
            </a:r>
            <a:endParaRPr sz="1050">
              <a:solidFill>
                <a:srgbClr val="1D1C1D"/>
              </a:solidFill>
            </a:endParaRPr>
          </a:p>
          <a:p>
            <a:pPr indent="-295275" lvl="1" marL="914400" rtl="0" algn="l">
              <a:lnSpc>
                <a:spcPct val="115000"/>
              </a:lnSpc>
              <a:spcBef>
                <a:spcPts val="500"/>
              </a:spcBef>
              <a:spcAft>
                <a:spcPts val="0"/>
              </a:spcAft>
              <a:buClr>
                <a:srgbClr val="1D1C1D"/>
              </a:buClr>
              <a:buSzPts val="1050"/>
              <a:buChar char="○"/>
            </a:pPr>
            <a:r>
              <a:rPr lang="en-GB" sz="1050">
                <a:solidFill>
                  <a:srgbClr val="1D1C1D"/>
                </a:solidFill>
              </a:rPr>
              <a:t>State - 7 null State entries with the US. Statistically small number so we decided to drop these rows</a:t>
            </a:r>
            <a:endParaRPr sz="1050">
              <a:solidFill>
                <a:srgbClr val="1D1C1D"/>
              </a:solidFill>
            </a:endParaRPr>
          </a:p>
          <a:p>
            <a:pPr indent="-295275" lvl="1" marL="914400" rtl="0" algn="l">
              <a:lnSpc>
                <a:spcPct val="115000"/>
              </a:lnSpc>
              <a:spcBef>
                <a:spcPts val="0"/>
              </a:spcBef>
              <a:spcAft>
                <a:spcPts val="0"/>
              </a:spcAft>
              <a:buClr>
                <a:srgbClr val="1D1C1D"/>
              </a:buClr>
              <a:buSzPts val="1050"/>
              <a:buChar char="○"/>
            </a:pPr>
            <a:r>
              <a:rPr lang="en-GB" sz="1050">
                <a:solidFill>
                  <a:srgbClr val="1D1C1D"/>
                </a:solidFill>
              </a:rPr>
              <a:t>Type - 18 null entries</a:t>
            </a:r>
            <a:endParaRPr sz="1050">
              <a:solidFill>
                <a:srgbClr val="1D1C1D"/>
              </a:solidFill>
            </a:endParaRPr>
          </a:p>
          <a:p>
            <a:pPr indent="-295275" lvl="1" marL="914400" rtl="0" algn="l">
              <a:lnSpc>
                <a:spcPct val="115000"/>
              </a:lnSpc>
              <a:spcBef>
                <a:spcPts val="0"/>
              </a:spcBef>
              <a:spcAft>
                <a:spcPts val="0"/>
              </a:spcAft>
              <a:buClr>
                <a:srgbClr val="1D1C1D"/>
              </a:buClr>
              <a:buSzPts val="1050"/>
              <a:buChar char="○"/>
            </a:pPr>
            <a:r>
              <a:rPr lang="en-GB" sz="1050">
                <a:solidFill>
                  <a:srgbClr val="1D1C1D"/>
                </a:solidFill>
              </a:rPr>
              <a:t>Sex - 578 null entries</a:t>
            </a:r>
            <a:endParaRPr sz="1050">
              <a:solidFill>
                <a:srgbClr val="1D1C1D"/>
              </a:solidFill>
            </a:endParaRPr>
          </a:p>
          <a:p>
            <a:pPr indent="-295275" lvl="1" marL="914400" rtl="0" algn="l">
              <a:lnSpc>
                <a:spcPct val="115000"/>
              </a:lnSpc>
              <a:spcBef>
                <a:spcPts val="0"/>
              </a:spcBef>
              <a:spcAft>
                <a:spcPts val="0"/>
              </a:spcAft>
              <a:buClr>
                <a:srgbClr val="1D1C1D"/>
              </a:buClr>
              <a:buSzPts val="1050"/>
              <a:buChar char="○"/>
            </a:pPr>
            <a:r>
              <a:rPr lang="en-GB" sz="1050">
                <a:solidFill>
                  <a:srgbClr val="1D1C1D"/>
                </a:solidFill>
              </a:rPr>
              <a:t>Species - 3131 null entries</a:t>
            </a:r>
            <a:endParaRPr sz="1050">
              <a:solidFill>
                <a:srgbClr val="1D1C1D"/>
              </a:solidFill>
            </a:endParaRPr>
          </a:p>
          <a:p>
            <a:pPr indent="-295275" lvl="2" marL="1371600" rtl="0" algn="l">
              <a:lnSpc>
                <a:spcPct val="115000"/>
              </a:lnSpc>
              <a:spcBef>
                <a:spcPts val="0"/>
              </a:spcBef>
              <a:spcAft>
                <a:spcPts val="0"/>
              </a:spcAft>
              <a:buClr>
                <a:srgbClr val="1D1C1D"/>
              </a:buClr>
              <a:buSzPts val="1050"/>
              <a:buChar char="■"/>
            </a:pPr>
            <a:r>
              <a:rPr lang="en-GB" sz="1050">
                <a:solidFill>
                  <a:srgbClr val="1D1C1D"/>
                </a:solidFill>
              </a:rPr>
              <a:t>We acknowledge that correctly identifying the species during a shark attack is quite challenging since it relies on descriptions by the victim or by other witnesses to the event. </a:t>
            </a:r>
            <a:endParaRPr sz="1050">
              <a:solidFill>
                <a:srgbClr val="1D1C1D"/>
              </a:solidFill>
            </a:endParaRPr>
          </a:p>
          <a:p>
            <a:pPr indent="-295275" lvl="1" marL="914400" rtl="0" algn="l">
              <a:lnSpc>
                <a:spcPct val="115000"/>
              </a:lnSpc>
              <a:spcBef>
                <a:spcPts val="0"/>
              </a:spcBef>
              <a:spcAft>
                <a:spcPts val="0"/>
              </a:spcAft>
              <a:buClr>
                <a:srgbClr val="1D1C1D"/>
              </a:buClr>
              <a:buSzPts val="1050"/>
              <a:buChar char="○"/>
            </a:pPr>
            <a:r>
              <a:rPr lang="en-GB" sz="1050">
                <a:solidFill>
                  <a:srgbClr val="1D1C1D"/>
                </a:solidFill>
              </a:rPr>
              <a:t>Fatal - 561 null entries and additional 71 that were categorised as Unknown. We replaced Unknown with NaN to group these all together.</a:t>
            </a:r>
            <a:endParaRPr sz="1050">
              <a:solidFill>
                <a:srgbClr val="1D1C1D"/>
              </a:solidFill>
            </a:endParaRPr>
          </a:p>
          <a:p>
            <a:pPr indent="-295275" lvl="1" marL="914400" rtl="0" algn="l">
              <a:lnSpc>
                <a:spcPct val="115000"/>
              </a:lnSpc>
              <a:spcBef>
                <a:spcPts val="0"/>
              </a:spcBef>
              <a:spcAft>
                <a:spcPts val="0"/>
              </a:spcAft>
              <a:buClr>
                <a:srgbClr val="1D1C1D"/>
              </a:buClr>
              <a:buSzPts val="1050"/>
              <a:buChar char="○"/>
            </a:pPr>
            <a:r>
              <a:rPr lang="en-GB" sz="1050">
                <a:solidFill>
                  <a:srgbClr val="1D1C1D"/>
                </a:solidFill>
              </a:rPr>
              <a:t>Year - 2 null entries	</a:t>
            </a:r>
            <a:br>
              <a:rPr lang="en-GB" sz="1050">
                <a:solidFill>
                  <a:srgbClr val="1D1C1D"/>
                </a:solidFill>
              </a:rPr>
            </a:br>
            <a:endParaRPr sz="1050">
              <a:solidFill>
                <a:srgbClr val="1D1C1D"/>
              </a:solidFill>
            </a:endParaRPr>
          </a:p>
          <a:p>
            <a:pPr indent="-295275" lvl="0" marL="457200" rtl="0" algn="l">
              <a:lnSpc>
                <a:spcPct val="115000"/>
              </a:lnSpc>
              <a:spcBef>
                <a:spcPts val="0"/>
              </a:spcBef>
              <a:spcAft>
                <a:spcPts val="0"/>
              </a:spcAft>
              <a:buClr>
                <a:srgbClr val="1D1C1D"/>
              </a:buClr>
              <a:buSzPts val="1050"/>
              <a:buChar char="●"/>
            </a:pPr>
            <a:r>
              <a:rPr b="1" lang="en-GB" sz="1050">
                <a:solidFill>
                  <a:srgbClr val="1D1C1D"/>
                </a:solidFill>
              </a:rPr>
              <a:t>Formatting issues</a:t>
            </a:r>
            <a:endParaRPr b="1" sz="1050">
              <a:solidFill>
                <a:srgbClr val="1D1C1D"/>
              </a:solidFill>
            </a:endParaRPr>
          </a:p>
          <a:p>
            <a:pPr indent="-295275" lvl="1" marL="914400" rtl="0" algn="l">
              <a:lnSpc>
                <a:spcPct val="115000"/>
              </a:lnSpc>
              <a:spcBef>
                <a:spcPts val="0"/>
              </a:spcBef>
              <a:spcAft>
                <a:spcPts val="0"/>
              </a:spcAft>
              <a:buClr>
                <a:srgbClr val="1D1C1D"/>
              </a:buClr>
              <a:buSzPts val="1050"/>
              <a:buChar char="○"/>
            </a:pPr>
            <a:r>
              <a:rPr lang="en-GB" sz="1050">
                <a:solidFill>
                  <a:srgbClr val="1D1C1D"/>
                </a:solidFill>
              </a:rPr>
              <a:t>Mix of lower and uppercase. We standardized everything to lowercase.</a:t>
            </a:r>
            <a:endParaRPr sz="1050">
              <a:solidFill>
                <a:srgbClr val="1D1C1D"/>
              </a:solidFill>
            </a:endParaRPr>
          </a:p>
          <a:p>
            <a:pPr indent="-295275" lvl="1" marL="914400" rtl="0" algn="l">
              <a:lnSpc>
                <a:spcPct val="115000"/>
              </a:lnSpc>
              <a:spcBef>
                <a:spcPts val="0"/>
              </a:spcBef>
              <a:spcAft>
                <a:spcPts val="0"/>
              </a:spcAft>
              <a:buClr>
                <a:srgbClr val="1D1C1D"/>
              </a:buClr>
              <a:buSzPts val="1050"/>
              <a:buChar char="○"/>
            </a:pPr>
            <a:r>
              <a:rPr lang="en-GB" sz="1050">
                <a:solidFill>
                  <a:srgbClr val="1D1C1D"/>
                </a:solidFill>
              </a:rPr>
              <a:t>Trailing whitespace in column names and values. </a:t>
            </a:r>
            <a:endParaRPr sz="1050">
              <a:solidFill>
                <a:srgbClr val="1D1C1D"/>
              </a:solidFill>
            </a:endParaRPr>
          </a:p>
          <a:p>
            <a:pPr indent="-295275" lvl="1" marL="914400" rtl="0" algn="l">
              <a:lnSpc>
                <a:spcPct val="115000"/>
              </a:lnSpc>
              <a:spcBef>
                <a:spcPts val="0"/>
              </a:spcBef>
              <a:spcAft>
                <a:spcPts val="0"/>
              </a:spcAft>
              <a:buClr>
                <a:srgbClr val="1D1C1D"/>
              </a:buClr>
              <a:buSzPts val="1050"/>
              <a:buChar char="○"/>
            </a:pPr>
            <a:r>
              <a:rPr lang="en-GB" sz="1050">
                <a:solidFill>
                  <a:srgbClr val="1D1C1D"/>
                </a:solidFill>
              </a:rPr>
              <a:t>Renaming values under different columns to structure everything logically.</a:t>
            </a:r>
            <a:endParaRPr sz="1050">
              <a:solidFill>
                <a:srgbClr val="1D1C1D"/>
              </a:solidFill>
            </a:endParaRPr>
          </a:p>
          <a:p>
            <a:pPr indent="-295275" lvl="0" marL="457200" rtl="0" algn="l">
              <a:lnSpc>
                <a:spcPct val="115000"/>
              </a:lnSpc>
              <a:spcBef>
                <a:spcPts val="0"/>
              </a:spcBef>
              <a:spcAft>
                <a:spcPts val="0"/>
              </a:spcAft>
              <a:buClr>
                <a:srgbClr val="1D1C1D"/>
              </a:buClr>
              <a:buSzPts val="1050"/>
              <a:buChar char="●"/>
            </a:pPr>
            <a:r>
              <a:rPr b="1" lang="en-GB" sz="1050">
                <a:solidFill>
                  <a:srgbClr val="1D1C1D"/>
                </a:solidFill>
              </a:rPr>
              <a:t>Inconsistent data</a:t>
            </a:r>
            <a:endParaRPr b="1" sz="1050">
              <a:solidFill>
                <a:srgbClr val="1D1C1D"/>
              </a:solidFill>
            </a:endParaRPr>
          </a:p>
          <a:p>
            <a:pPr indent="-285750" lvl="1" marL="914400" rtl="0" algn="l">
              <a:lnSpc>
                <a:spcPct val="115000"/>
              </a:lnSpc>
              <a:spcBef>
                <a:spcPts val="0"/>
              </a:spcBef>
              <a:spcAft>
                <a:spcPts val="0"/>
              </a:spcAft>
              <a:buClr>
                <a:srgbClr val="1D1C1D"/>
              </a:buClr>
              <a:buSzPts val="900"/>
              <a:buChar char="○"/>
            </a:pPr>
            <a:r>
              <a:rPr lang="en-GB" sz="900">
                <a:solidFill>
                  <a:srgbClr val="1D1C1D"/>
                </a:solidFill>
              </a:rPr>
              <a:t>State</a:t>
            </a:r>
            <a:endParaRPr sz="900">
              <a:solidFill>
                <a:srgbClr val="1D1C1D"/>
              </a:solidFill>
            </a:endParaRPr>
          </a:p>
          <a:p>
            <a:pPr indent="-285750" lvl="2" marL="1371600" rtl="0" algn="l">
              <a:lnSpc>
                <a:spcPct val="115000"/>
              </a:lnSpc>
              <a:spcBef>
                <a:spcPts val="0"/>
              </a:spcBef>
              <a:spcAft>
                <a:spcPts val="0"/>
              </a:spcAft>
              <a:buClr>
                <a:srgbClr val="1D1C1D"/>
              </a:buClr>
              <a:buSzPts val="900"/>
              <a:buChar char="■"/>
            </a:pPr>
            <a:r>
              <a:rPr lang="en-GB" sz="900">
                <a:solidFill>
                  <a:srgbClr val="1D1C1D"/>
                </a:solidFill>
              </a:rPr>
              <a:t>Inconsistent state names and formatting. For example 'North &amp; South Carolina' vs ‘North Carolina and South Carolina or Carolina coast (North or South?). Combine all in Carolina may be better</a:t>
            </a:r>
            <a:endParaRPr sz="900">
              <a:solidFill>
                <a:srgbClr val="1D1C1D"/>
              </a:solidFill>
            </a:endParaRPr>
          </a:p>
          <a:p>
            <a:pPr indent="-285750" lvl="1" marL="914400" rtl="0" algn="l">
              <a:lnSpc>
                <a:spcPct val="115000"/>
              </a:lnSpc>
              <a:spcBef>
                <a:spcPts val="0"/>
              </a:spcBef>
              <a:spcAft>
                <a:spcPts val="0"/>
              </a:spcAft>
              <a:buClr>
                <a:srgbClr val="1D1C1D"/>
              </a:buClr>
              <a:buSzPts val="900"/>
              <a:buChar char="○"/>
            </a:pPr>
            <a:r>
              <a:rPr lang="en-GB" sz="900">
                <a:solidFill>
                  <a:srgbClr val="1D1C1D"/>
                </a:solidFill>
              </a:rPr>
              <a:t>Country</a:t>
            </a:r>
            <a:endParaRPr sz="900">
              <a:solidFill>
                <a:srgbClr val="1D1C1D"/>
              </a:solidFill>
            </a:endParaRPr>
          </a:p>
          <a:p>
            <a:pPr indent="-285750" lvl="2" marL="1371600" rtl="0" algn="l">
              <a:lnSpc>
                <a:spcPct val="115000"/>
              </a:lnSpc>
              <a:spcBef>
                <a:spcPts val="0"/>
              </a:spcBef>
              <a:spcAft>
                <a:spcPts val="0"/>
              </a:spcAft>
              <a:buClr>
                <a:srgbClr val="1D1C1D"/>
              </a:buClr>
              <a:buSzPts val="900"/>
              <a:buChar char="■"/>
            </a:pPr>
            <a:r>
              <a:rPr lang="en-GB" sz="900">
                <a:solidFill>
                  <a:srgbClr val="1D1C1D"/>
                </a:solidFill>
              </a:rPr>
              <a:t>Inconsistent country names and formatting. replace invalid entries with 'NaN' to represent missing data and we replace inconsistent countries</a:t>
            </a:r>
            <a:endParaRPr sz="900">
              <a:solidFill>
                <a:schemeClr val="dk1"/>
              </a:solidFill>
              <a:highlight>
                <a:schemeClr val="lt1"/>
              </a:highlight>
            </a:endParaRPr>
          </a:p>
          <a:p>
            <a:pPr indent="-285750" lvl="1" marL="914400" rtl="0" algn="l">
              <a:lnSpc>
                <a:spcPct val="115000"/>
              </a:lnSpc>
              <a:spcBef>
                <a:spcPts val="0"/>
              </a:spcBef>
              <a:spcAft>
                <a:spcPts val="0"/>
              </a:spcAft>
              <a:buClr>
                <a:srgbClr val="1D1C1D"/>
              </a:buClr>
              <a:buSzPts val="900"/>
              <a:buChar char="○"/>
            </a:pPr>
            <a:r>
              <a:rPr lang="en-GB" sz="900">
                <a:solidFill>
                  <a:srgbClr val="1D1C1D"/>
                </a:solidFill>
              </a:rPr>
              <a:t>Type</a:t>
            </a:r>
            <a:endParaRPr sz="900">
              <a:solidFill>
                <a:srgbClr val="1D1C1D"/>
              </a:solidFill>
            </a:endParaRPr>
          </a:p>
          <a:p>
            <a:pPr indent="-285750" lvl="2" marL="1371600" rtl="0" algn="l">
              <a:lnSpc>
                <a:spcPct val="115000"/>
              </a:lnSpc>
              <a:spcBef>
                <a:spcPts val="0"/>
              </a:spcBef>
              <a:spcAft>
                <a:spcPts val="0"/>
              </a:spcAft>
              <a:buClr>
                <a:srgbClr val="1D1C1D"/>
              </a:buClr>
              <a:buSzPts val="900"/>
              <a:buChar char="■"/>
            </a:pPr>
            <a:r>
              <a:rPr lang="en-GB" sz="900">
                <a:solidFill>
                  <a:srgbClr val="1D1C1D"/>
                </a:solidFill>
              </a:rPr>
              <a:t>Provoked vs Unprovoked. We looked at the Injury column to get more detail on how the type was classified as provoked vs unprovoked. For example if the shark was </a:t>
            </a:r>
            <a:r>
              <a:rPr lang="en-GB" sz="900">
                <a:solidFill>
                  <a:schemeClr val="dk1"/>
                </a:solidFill>
                <a:highlight>
                  <a:schemeClr val="lt1"/>
                </a:highlight>
              </a:rPr>
              <a:t>hooked or netted it is classified as provoked.</a:t>
            </a:r>
            <a:endParaRPr sz="900">
              <a:solidFill>
                <a:srgbClr val="1D1C1D"/>
              </a:solidFill>
            </a:endParaRPr>
          </a:p>
          <a:p>
            <a:pPr indent="-285750" lvl="2" marL="1371600" rtl="0" algn="l">
              <a:lnSpc>
                <a:spcPct val="115000"/>
              </a:lnSpc>
              <a:spcBef>
                <a:spcPts val="0"/>
              </a:spcBef>
              <a:spcAft>
                <a:spcPts val="0"/>
              </a:spcAft>
              <a:buClr>
                <a:srgbClr val="1D1C1D"/>
              </a:buClr>
              <a:buSzPts val="900"/>
              <a:buChar char="■"/>
            </a:pPr>
            <a:r>
              <a:rPr lang="en-GB" sz="900">
                <a:solidFill>
                  <a:schemeClr val="dk1"/>
                </a:solidFill>
                <a:highlight>
                  <a:schemeClr val="lt1"/>
                </a:highlight>
              </a:rPr>
              <a:t>Watercraft – This shows incidents in which a boat was bitten or rammed by a shark and no injury to a person was recorded.</a:t>
            </a:r>
            <a:endParaRPr sz="900">
              <a:solidFill>
                <a:schemeClr val="dk1"/>
              </a:solidFill>
              <a:highlight>
                <a:schemeClr val="lt1"/>
              </a:highlight>
            </a:endParaRPr>
          </a:p>
          <a:p>
            <a:pPr indent="-285750" lvl="2" marL="1371600" rtl="0" algn="l">
              <a:lnSpc>
                <a:spcPct val="115000"/>
              </a:lnSpc>
              <a:spcBef>
                <a:spcPts val="0"/>
              </a:spcBef>
              <a:spcAft>
                <a:spcPts val="0"/>
              </a:spcAft>
              <a:buClr>
                <a:srgbClr val="1D1C1D"/>
              </a:buClr>
              <a:buSzPts val="900"/>
              <a:buChar char="■"/>
            </a:pPr>
            <a:r>
              <a:rPr lang="en-GB" sz="900">
                <a:solidFill>
                  <a:schemeClr val="dk1"/>
                </a:solidFill>
                <a:highlight>
                  <a:schemeClr val="lt1"/>
                </a:highlight>
              </a:rPr>
              <a:t>Questionable incidents - Incidents in which there are insufficient data to determine if the injury was caused by a shark or the person drowned and the body was later scavenged by sharks. Because we don’t know, we have grouped these incidents as Unknown.</a:t>
            </a:r>
            <a:endParaRPr sz="900">
              <a:solidFill>
                <a:schemeClr val="dk1"/>
              </a:solidFill>
              <a:highlight>
                <a:schemeClr val="lt1"/>
              </a:highlight>
            </a:endParaRPr>
          </a:p>
          <a:p>
            <a:pPr indent="-285750" lvl="2" marL="1371600" rtl="0" algn="l">
              <a:lnSpc>
                <a:spcPct val="115000"/>
              </a:lnSpc>
              <a:spcBef>
                <a:spcPts val="0"/>
              </a:spcBef>
              <a:spcAft>
                <a:spcPts val="0"/>
              </a:spcAft>
              <a:buClr>
                <a:schemeClr val="dk1"/>
              </a:buClr>
              <a:buSzPts val="900"/>
              <a:buChar char="■"/>
            </a:pPr>
            <a:r>
              <a:rPr lang="en-GB" sz="900">
                <a:solidFill>
                  <a:schemeClr val="dk1"/>
                </a:solidFill>
                <a:highlight>
                  <a:schemeClr val="lt1"/>
                </a:highlight>
              </a:rPr>
              <a:t>Invalid - Shows the incidents that are not clear why/how it happened.</a:t>
            </a:r>
            <a:endParaRPr sz="900">
              <a:solidFill>
                <a:schemeClr val="dk1"/>
              </a:solidFill>
              <a:highlight>
                <a:schemeClr val="lt1"/>
              </a:highlight>
            </a:endParaRPr>
          </a:p>
          <a:p>
            <a:pPr indent="-285750" lvl="0" marL="457200" rtl="0" algn="l">
              <a:lnSpc>
                <a:spcPct val="115000"/>
              </a:lnSpc>
              <a:spcBef>
                <a:spcPts val="0"/>
              </a:spcBef>
              <a:spcAft>
                <a:spcPts val="0"/>
              </a:spcAft>
              <a:buClr>
                <a:srgbClr val="1D1C1D"/>
              </a:buClr>
              <a:buSzPts val="900"/>
              <a:buChar char="●"/>
            </a:pPr>
            <a:r>
              <a:rPr lang="en-GB" sz="900">
                <a:solidFill>
                  <a:srgbClr val="1D1C1D"/>
                </a:solidFill>
              </a:rPr>
              <a:t>Species</a:t>
            </a:r>
            <a:endParaRPr sz="900">
              <a:solidFill>
                <a:srgbClr val="1D1C1D"/>
              </a:solidFill>
            </a:endParaRPr>
          </a:p>
          <a:p>
            <a:pPr indent="-285750" lvl="1" marL="914400" rtl="0" algn="l">
              <a:lnSpc>
                <a:spcPct val="115000"/>
              </a:lnSpc>
              <a:spcBef>
                <a:spcPts val="0"/>
              </a:spcBef>
              <a:spcAft>
                <a:spcPts val="0"/>
              </a:spcAft>
              <a:buClr>
                <a:srgbClr val="1D1C1D"/>
              </a:buClr>
              <a:buSzPts val="900"/>
              <a:buChar char="○"/>
            </a:pPr>
            <a:r>
              <a:rPr lang="en-GB" sz="900">
                <a:solidFill>
                  <a:srgbClr val="1D1C1D"/>
                </a:solidFill>
              </a:rPr>
              <a:t>We scanned the “Species” column and applied a keyword-matching logic for specific identifiers, such as “white” for White Sharks, “tiger” for Tiger Sharks,”bull” for Bull Sharks to categorize records accordingly.</a:t>
            </a:r>
            <a:endParaRPr sz="900">
              <a:solidFill>
                <a:srgbClr val="1D1C1D"/>
              </a:solidFill>
            </a:endParaRPr>
          </a:p>
          <a:p>
            <a:pPr indent="-285750" lvl="1" marL="914400" rtl="0" algn="l">
              <a:lnSpc>
                <a:spcPct val="115000"/>
              </a:lnSpc>
              <a:spcBef>
                <a:spcPts val="0"/>
              </a:spcBef>
              <a:spcAft>
                <a:spcPts val="0"/>
              </a:spcAft>
              <a:buClr>
                <a:srgbClr val="1D1C1D"/>
              </a:buClr>
              <a:buSzPts val="900"/>
              <a:buChar char="○"/>
            </a:pPr>
            <a:r>
              <a:rPr lang="en-GB" sz="900">
                <a:solidFill>
                  <a:srgbClr val="1D1C1D"/>
                </a:solidFill>
              </a:rPr>
              <a:t>Reports with vague or speculative descriptions(like:”unknown” ,”large shark”) were grouped as “Unknown” to maintain data integrity.</a:t>
            </a:r>
            <a:endParaRPr sz="900">
              <a:solidFill>
                <a:srgbClr val="1D1C1D"/>
              </a:solidFill>
            </a:endParaRPr>
          </a:p>
          <a:p>
            <a:pPr indent="0" lvl="0" marL="457200" rtl="0" algn="l">
              <a:lnSpc>
                <a:spcPct val="115000"/>
              </a:lnSpc>
              <a:spcBef>
                <a:spcPts val="500"/>
              </a:spcBef>
              <a:spcAft>
                <a:spcPts val="0"/>
              </a:spcAft>
              <a:buNone/>
            </a:pPr>
            <a:r>
              <a:t/>
            </a:r>
            <a:endParaRPr sz="1050">
              <a:solidFill>
                <a:srgbClr val="1D1C1D"/>
              </a:solidFill>
            </a:endParaRPr>
          </a:p>
          <a:p>
            <a:pPr indent="0" lvl="0" marL="0" rtl="0" algn="l">
              <a:spcBef>
                <a:spcPts val="5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875bc2219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e875bc2219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500"/>
              </a:spcBef>
              <a:spcAft>
                <a:spcPts val="0"/>
              </a:spcAft>
              <a:buNone/>
            </a:pPr>
            <a:r>
              <a:rPr lang="en-GB" sz="900">
                <a:solidFill>
                  <a:srgbClr val="1D1C1D"/>
                </a:solidFill>
              </a:rPr>
              <a:t>Tina</a:t>
            </a:r>
            <a:endParaRPr sz="900">
              <a:solidFill>
                <a:srgbClr val="1D1C1D"/>
              </a:solidFill>
            </a:endParaRPr>
          </a:p>
          <a:p>
            <a:pPr indent="0" lvl="0" marL="0" rtl="0" algn="l">
              <a:lnSpc>
                <a:spcPct val="115000"/>
              </a:lnSpc>
              <a:spcBef>
                <a:spcPts val="500"/>
              </a:spcBef>
              <a:spcAft>
                <a:spcPts val="0"/>
              </a:spcAft>
              <a:buNone/>
            </a:pPr>
            <a:r>
              <a:t/>
            </a:r>
            <a:endParaRPr>
              <a:solidFill>
                <a:srgbClr val="1D1C1D"/>
              </a:solidFill>
            </a:endParaRPr>
          </a:p>
          <a:p>
            <a:pPr indent="0" lvl="0" marL="0" rtl="0" algn="l">
              <a:lnSpc>
                <a:spcPct val="115000"/>
              </a:lnSpc>
              <a:spcBef>
                <a:spcPts val="500"/>
              </a:spcBef>
              <a:spcAft>
                <a:spcPts val="0"/>
              </a:spcAft>
              <a:buNone/>
            </a:pPr>
            <a:r>
              <a:t/>
            </a:r>
            <a:endParaRPr>
              <a:solidFill>
                <a:srgbClr val="1D1C1D"/>
              </a:solidFill>
            </a:endParaRPr>
          </a:p>
          <a:p>
            <a:pPr indent="0" lvl="0" marL="0" rtl="0" algn="l">
              <a:lnSpc>
                <a:spcPct val="115000"/>
              </a:lnSpc>
              <a:spcBef>
                <a:spcPts val="500"/>
              </a:spcBef>
              <a:spcAft>
                <a:spcPts val="500"/>
              </a:spcAft>
              <a:buNone/>
            </a:pPr>
            <a:r>
              <a:t/>
            </a:r>
            <a:endParaRPr>
              <a:solidFill>
                <a:srgbClr val="1D1C1D"/>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e875bc2219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e875bc2219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Tina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e875bc2219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e875bc2219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500"/>
              </a:spcBef>
              <a:spcAft>
                <a:spcPts val="0"/>
              </a:spcAft>
              <a:buNone/>
            </a:pPr>
            <a:r>
              <a:rPr lang="en-GB" sz="1300">
                <a:solidFill>
                  <a:srgbClr val="1D1C1D"/>
                </a:solidFill>
              </a:rPr>
              <a:t>Berker</a:t>
            </a:r>
            <a:endParaRPr sz="1300">
              <a:solidFill>
                <a:srgbClr val="1D1C1D"/>
              </a:solidFill>
            </a:endParaRPr>
          </a:p>
          <a:p>
            <a:pPr indent="-311150" lvl="0" marL="457200" marR="381000" rtl="0" algn="l">
              <a:lnSpc>
                <a:spcPct val="115000"/>
              </a:lnSpc>
              <a:spcBef>
                <a:spcPts val="1200"/>
              </a:spcBef>
              <a:spcAft>
                <a:spcPts val="0"/>
              </a:spcAft>
              <a:buClr>
                <a:srgbClr val="1D1C1D"/>
              </a:buClr>
              <a:buSzPts val="1300"/>
              <a:buChar char="●"/>
            </a:pPr>
            <a:r>
              <a:rPr lang="en-GB" sz="1300">
                <a:solidFill>
                  <a:srgbClr val="1D1C1D"/>
                </a:solidFill>
              </a:rPr>
              <a:t>One of our biggest challenges was dealing with open text fields in the dataset. For example the Species column had over 600 unique entries</a:t>
            </a:r>
            <a:r>
              <a:rPr lang="en-GB" sz="1300">
                <a:solidFill>
                  <a:srgbClr val="1D1C1D"/>
                </a:solidFill>
              </a:rPr>
              <a:t> — things like 'large shark, approximately 8 feet' or 'suspected white shark'</a:t>
            </a:r>
            <a:r>
              <a:rPr lang="en-GB" sz="1300">
                <a:solidFill>
                  <a:srgbClr val="1D1C1D"/>
                </a:solidFill>
              </a:rPr>
              <a:t>. And these made the analysis nearly impossible until we grouped them into four clean categories using keyword matching.</a:t>
            </a:r>
            <a:endParaRPr sz="1300">
              <a:solidFill>
                <a:srgbClr val="1D1C1D"/>
              </a:solidFill>
            </a:endParaRPr>
          </a:p>
          <a:p>
            <a:pPr indent="-311150" lvl="0" marL="457200" marR="381000" rtl="0" algn="l">
              <a:lnSpc>
                <a:spcPct val="115000"/>
              </a:lnSpc>
              <a:spcBef>
                <a:spcPts val="0"/>
              </a:spcBef>
              <a:spcAft>
                <a:spcPts val="0"/>
              </a:spcAft>
              <a:buClr>
                <a:srgbClr val="1D1C1D"/>
              </a:buClr>
              <a:buSzPts val="1300"/>
              <a:buChar char="●"/>
            </a:pPr>
            <a:r>
              <a:rPr lang="en-GB" sz="1300">
                <a:solidFill>
                  <a:srgbClr val="1D1C1D"/>
                </a:solidFill>
              </a:rPr>
              <a:t>The second challenge was the Type column. Some values like Questionable, Invalid and Sea Disaster weren't clear attacks at all. So instead of just dropping them blindly, we cross referenced the Injury and Species columns to confirm our decisions. We found some values in those columns which helped us to </a:t>
            </a:r>
            <a:r>
              <a:rPr lang="en-GB" sz="1300">
                <a:solidFill>
                  <a:srgbClr val="1D1C1D"/>
                </a:solidFill>
              </a:rPr>
              <a:t>understand</a:t>
            </a:r>
            <a:r>
              <a:rPr lang="en-GB" sz="1300">
                <a:solidFill>
                  <a:srgbClr val="1D1C1D"/>
                </a:solidFill>
              </a:rPr>
              <a:t> where those actually belong in type column.</a:t>
            </a:r>
            <a:endParaRPr sz="1300">
              <a:solidFill>
                <a:srgbClr val="1D1C1D"/>
              </a:solidFill>
            </a:endParaRPr>
          </a:p>
          <a:p>
            <a:pPr indent="-311150" lvl="0" marL="457200" marR="381000" rtl="0" algn="l">
              <a:lnSpc>
                <a:spcPct val="115000"/>
              </a:lnSpc>
              <a:spcBef>
                <a:spcPts val="0"/>
              </a:spcBef>
              <a:spcAft>
                <a:spcPts val="0"/>
              </a:spcAft>
              <a:buClr>
                <a:srgbClr val="1D1C1D"/>
              </a:buClr>
              <a:buSzPts val="1300"/>
              <a:buChar char="●"/>
            </a:pPr>
            <a:r>
              <a:rPr lang="en-GB" sz="1300">
                <a:solidFill>
                  <a:srgbClr val="1D1C1D"/>
                </a:solidFill>
              </a:rPr>
              <a:t>Another challenge was that some columns had messy values. Such as State column having some lowercase/uppercase issues and having country values inside. So, we had to clean up and structure properly before we start the analysis.</a:t>
            </a:r>
            <a:endParaRPr sz="1300">
              <a:solidFill>
                <a:srgbClr val="1D1C1D"/>
              </a:solidFill>
            </a:endParaRPr>
          </a:p>
          <a:p>
            <a:pPr indent="-311150" lvl="0" marL="457200" rtl="0" algn="l">
              <a:lnSpc>
                <a:spcPct val="115000"/>
              </a:lnSpc>
              <a:spcBef>
                <a:spcPts val="0"/>
              </a:spcBef>
              <a:spcAft>
                <a:spcPts val="0"/>
              </a:spcAft>
              <a:buClr>
                <a:srgbClr val="1D1C1D"/>
              </a:buClr>
              <a:buSzPts val="1300"/>
              <a:buChar char="●"/>
            </a:pPr>
            <a:r>
              <a:rPr lang="en-GB" sz="1300">
                <a:solidFill>
                  <a:srgbClr val="1D1C1D"/>
                </a:solidFill>
              </a:rPr>
              <a:t>Last but not least, we can consider this as a general challenge for almost all the data frames. A</a:t>
            </a:r>
            <a:r>
              <a:rPr lang="en-GB" sz="1300">
                <a:solidFill>
                  <a:srgbClr val="1D1C1D"/>
                </a:solidFill>
              </a:rPr>
              <a:t>nalysing the data that has a correlation does not necessarily mean causation. So, we had challenges answering WHY and HOW questions while making the analysis.</a:t>
            </a:r>
            <a:endParaRPr sz="1300">
              <a:solidFill>
                <a:srgbClr val="1D1C1D"/>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ebd178874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ebd17887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GB" sz="1300"/>
              <a:t>Berker</a:t>
            </a:r>
            <a:endParaRPr sz="1300"/>
          </a:p>
          <a:p>
            <a:pPr indent="0" lvl="0" marL="457200" rtl="0" algn="l">
              <a:spcBef>
                <a:spcPts val="0"/>
              </a:spcBef>
              <a:spcAft>
                <a:spcPts val="0"/>
              </a:spcAft>
              <a:buNone/>
            </a:pPr>
            <a:r>
              <a:t/>
            </a:r>
            <a:endParaRPr sz="1300"/>
          </a:p>
          <a:p>
            <a:pPr indent="-311150" lvl="0" marL="457200" marR="381000" rtl="0" algn="l">
              <a:lnSpc>
                <a:spcPct val="115000"/>
              </a:lnSpc>
              <a:spcBef>
                <a:spcPts val="1200"/>
              </a:spcBef>
              <a:spcAft>
                <a:spcPts val="0"/>
              </a:spcAft>
              <a:buSzPts val="1300"/>
              <a:buAutoNum type="arabicPeriod"/>
            </a:pPr>
            <a:r>
              <a:rPr lang="en-GB" sz="1300"/>
              <a:t>So what does the data actually tell us? Out of over 2,300 recorded shark incidents in the USA, the vast majority were not fatal. Even unprovoked attacks — where the shark approaches completely on its own — are only fatal around 8% of the time. That means sharks had every opportunity to kill and chose not to, 92% of the time.</a:t>
            </a:r>
            <a:endParaRPr sz="1300"/>
          </a:p>
          <a:p>
            <a:pPr indent="-311150" lvl="0" marL="457200" marR="381000" rtl="0" algn="l">
              <a:lnSpc>
                <a:spcPct val="115000"/>
              </a:lnSpc>
              <a:spcBef>
                <a:spcPts val="0"/>
              </a:spcBef>
              <a:spcAft>
                <a:spcPts val="0"/>
              </a:spcAft>
              <a:buSzPts val="1300"/>
              <a:buAutoNum type="arabicPeriod"/>
            </a:pPr>
            <a:r>
              <a:rPr lang="en-GB" sz="1300"/>
              <a:t>We found out provoked incidents at just 1.3% fatality rate. So, when humans trigger the interaction, sharks are still rarely killing. This directly challenges the idea that sharks are aggressive predators and basically the data tells a very different story.</a:t>
            </a:r>
            <a:endParaRPr sz="1300"/>
          </a:p>
          <a:p>
            <a:pPr indent="-311150" lvl="0" marL="457200" rtl="0" algn="l">
              <a:lnSpc>
                <a:spcPct val="115000"/>
              </a:lnSpc>
              <a:spcBef>
                <a:spcPts val="0"/>
              </a:spcBef>
              <a:spcAft>
                <a:spcPts val="0"/>
              </a:spcAft>
              <a:buSzPts val="1300"/>
              <a:buAutoNum type="arabicPeriod"/>
            </a:pPr>
            <a:r>
              <a:rPr lang="en-GB" sz="1300"/>
              <a:t>Based on our conclusions, we could launch some potential applications as an organization. Such as;</a:t>
            </a:r>
            <a:endParaRPr sz="1300"/>
          </a:p>
          <a:p>
            <a:pPr indent="-311150" lvl="1" marL="914400" rtl="0" algn="l">
              <a:lnSpc>
                <a:spcPct val="105000"/>
              </a:lnSpc>
              <a:spcBef>
                <a:spcPts val="0"/>
              </a:spcBef>
              <a:spcAft>
                <a:spcPts val="0"/>
              </a:spcAft>
              <a:buClr>
                <a:schemeClr val="dk1"/>
              </a:buClr>
              <a:buSzPts val="1300"/>
              <a:buAutoNum type="alphaLcPeriod"/>
            </a:pPr>
            <a:r>
              <a:rPr lang="en-GB" sz="1300">
                <a:solidFill>
                  <a:srgbClr val="1F1F1F"/>
                </a:solidFill>
                <a:highlight>
                  <a:schemeClr val="lt1"/>
                </a:highlight>
              </a:rPr>
              <a:t>Launching the awareness campaign in Florida, since they have the highest percentage of shark incidents with almost 50%</a:t>
            </a:r>
            <a:endParaRPr sz="1300">
              <a:solidFill>
                <a:srgbClr val="1F1F1F"/>
              </a:solidFill>
              <a:highlight>
                <a:schemeClr val="lt1"/>
              </a:highlight>
            </a:endParaRPr>
          </a:p>
          <a:p>
            <a:pPr indent="-311150" lvl="1" marL="914400" rtl="0" algn="l">
              <a:lnSpc>
                <a:spcPct val="105000"/>
              </a:lnSpc>
              <a:spcBef>
                <a:spcPts val="0"/>
              </a:spcBef>
              <a:spcAft>
                <a:spcPts val="0"/>
              </a:spcAft>
              <a:buClr>
                <a:schemeClr val="dk1"/>
              </a:buClr>
              <a:buSzPts val="1300"/>
              <a:buAutoNum type="alphaLcPeriod"/>
            </a:pPr>
            <a:r>
              <a:rPr lang="en-GB" sz="1300">
                <a:solidFill>
                  <a:schemeClr val="dk1"/>
                </a:solidFill>
              </a:rPr>
              <a:t>Conducting further research on shark migration patterns for the bull shark, tiger shark and white shark to better understand these species that are involved in many incidents</a:t>
            </a:r>
            <a:endParaRPr sz="1300">
              <a:solidFill>
                <a:schemeClr val="dk1"/>
              </a:solidFill>
            </a:endParaRPr>
          </a:p>
          <a:p>
            <a:pPr indent="-311150" lvl="1" marL="914400" rtl="0" algn="l">
              <a:lnSpc>
                <a:spcPct val="115000"/>
              </a:lnSpc>
              <a:spcBef>
                <a:spcPts val="0"/>
              </a:spcBef>
              <a:spcAft>
                <a:spcPts val="0"/>
              </a:spcAft>
              <a:buSzPts val="1300"/>
              <a:buAutoNum type="alphaLcPeriod"/>
            </a:pPr>
            <a:r>
              <a:rPr lang="en-GB" sz="1300">
                <a:solidFill>
                  <a:schemeClr val="dk1"/>
                </a:solidFill>
              </a:rPr>
              <a:t>Using verified statistics to debunk the myth of "increasingly aggressive" shark behavior. </a:t>
            </a:r>
            <a:r>
              <a:rPr lang="en-GB" sz="1300"/>
              <a:t> </a:t>
            </a:r>
            <a:endParaRPr sz="13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875bc2219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e875bc2219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Ailixier</a:t>
            </a:r>
            <a:endParaRPr/>
          </a:p>
          <a:p>
            <a:pPr indent="0" lvl="0" marL="0" rtl="0" algn="l">
              <a:lnSpc>
                <a:spcPct val="115000"/>
              </a:lnSpc>
              <a:spcBef>
                <a:spcPts val="1200"/>
              </a:spcBef>
              <a:spcAft>
                <a:spcPts val="0"/>
              </a:spcAft>
              <a:buClr>
                <a:schemeClr val="dk1"/>
              </a:buClr>
              <a:buSzPts val="1100"/>
              <a:buFont typeface="Arial"/>
              <a:buNone/>
            </a:pPr>
            <a:r>
              <a:rPr lang="en-GB"/>
              <a:t>Let's look at the type data , most incidents are classified as 'Unprovoked.' This sounds scary, but it actually means the shark didn't have a clear reason to attack—it was likely just confused, or it mistook a human for its natural prey, like a fish or a seal. The high number of 'Unknown' species also shows that these events are usually quick, blurry, and unpredictable. In short, the data suggests that these are not intentional attacks, but simple cases of mistaken identity.</a:t>
            </a:r>
            <a:endParaRPr/>
          </a:p>
          <a:p>
            <a:pPr indent="0" lvl="0" marL="0" rtl="0" algn="l">
              <a:lnSpc>
                <a:spcPct val="115000"/>
              </a:lnSpc>
              <a:spcBef>
                <a:spcPts val="1200"/>
              </a:spcBef>
              <a:spcAft>
                <a:spcPts val="0"/>
              </a:spcAft>
              <a:buClr>
                <a:schemeClr val="dk1"/>
              </a:buClr>
              <a:buSzPts val="1100"/>
              <a:buFont typeface="Arial"/>
              <a:buNone/>
            </a:pPr>
            <a:r>
              <a:rPr lang="en-GB"/>
              <a:t>Second, look at the species data. Even for these major species, the fatality rate is around 10 percent. This means 9 out of 10 people survive these encounters. This is not what we’d expect if they were truly 'hunting' humans.</a:t>
            </a:r>
            <a:endParaRPr/>
          </a:p>
          <a:p>
            <a:pPr indent="0" lvl="0" marL="0" rtl="0" algn="l">
              <a:spcBef>
                <a:spcPts val="1200"/>
              </a:spcBef>
              <a:spcAft>
                <a:spcPts val="0"/>
              </a:spcAft>
              <a:buNone/>
            </a:pPr>
            <a:r>
              <a:t/>
            </a:r>
            <a:endParaRPr b="1"/>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ea87bb8d2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ea87bb8d2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Ailixier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our gender analysis shows that males are involved in far more incidents than females. Does this mean sharks prefer men? Not at all. It points to a behavior gap: males are more likely to participate in high-risk activities in the water, such as surfing or </a:t>
            </a:r>
            <a:r>
              <a:rPr lang="en-GB">
                <a:solidFill>
                  <a:schemeClr val="dk1"/>
                </a:solidFill>
                <a:latin typeface="Calibri"/>
                <a:ea typeface="Calibri"/>
                <a:cs typeface="Calibri"/>
                <a:sym typeface="Calibri"/>
              </a:rPr>
              <a:t>deep-water</a:t>
            </a:r>
            <a:r>
              <a:rPr lang="en-GB">
                <a:solidFill>
                  <a:schemeClr val="dk1"/>
                </a:solidFill>
              </a:rPr>
              <a:t> swimming.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Second, look at the timeline. Incidents after 1975 are much higher than before. However, this does not mean sharks have become more dangerous. Instead, this data reflects two major changes: the global boom in coastal tourism since 1975, and the improvement of modern reporting systems. Simply put, as more people head into the water, the chances of encountering a shark naturally increase. This shift is driven by changes in human activity, not by any change in shark behavior.</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ea87bb8d22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ea87bb8d2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Ailixier: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Finally,</a:t>
            </a:r>
            <a:r>
              <a:rPr lang="en-GB">
                <a:solidFill>
                  <a:schemeClr val="dk1"/>
                </a:solidFill>
              </a:rPr>
              <a:t> Look at the activity breakdown. Surfing accounts for over 34 percent of all incidents, which is the highest. But notice the fatality rate—it’s very low, at only 1.8 percent. We found that fatality rates are significantly correlated with activity types. While surfing is the most frequent activity, it has a surprisingly low fatality rate—likely due to the safety barrier provided by the surfboard. In contrast, swimming poses a much higher risk, as swimmers are more vulnerable in the water.</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e875bc2219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e875bc2219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300"/>
              <a:t>Berker</a:t>
            </a:r>
            <a:endParaRPr sz="1300"/>
          </a:p>
          <a:p>
            <a:pPr indent="-311150" lvl="0" marL="457200" rtl="0" algn="l">
              <a:spcBef>
                <a:spcPts val="0"/>
              </a:spcBef>
              <a:spcAft>
                <a:spcPts val="0"/>
              </a:spcAft>
              <a:buSzPts val="1300"/>
              <a:buChar char="-"/>
            </a:pPr>
            <a:r>
              <a:rPr lang="en-GB" sz="1300"/>
              <a:t>Finally, why do incidents happen at all? The data confirms that incident numbers are driven by human behaviour and habitat entrance. So, not by sharks becoming more aggressive.</a:t>
            </a:r>
            <a:endParaRPr sz="1300"/>
          </a:p>
          <a:p>
            <a:pPr indent="-311150" lvl="0" marL="457200" rtl="0" algn="l">
              <a:lnSpc>
                <a:spcPct val="115000"/>
              </a:lnSpc>
              <a:spcBef>
                <a:spcPts val="0"/>
              </a:spcBef>
              <a:spcAft>
                <a:spcPts val="0"/>
              </a:spcAft>
              <a:buSzPts val="1300"/>
              <a:buChar char="-"/>
            </a:pPr>
            <a:r>
              <a:rPr lang="en-GB" sz="1300">
                <a:solidFill>
                  <a:schemeClr val="dk1"/>
                </a:solidFill>
              </a:rPr>
              <a:t>By replacing fear with facts, we can help build public support for shark conservation and protect a species that plays a vital role in marine ecosystems.</a:t>
            </a:r>
            <a:endParaRPr sz="1300">
              <a:solidFill>
                <a:schemeClr val="dk1"/>
              </a:solidFill>
            </a:endParaRPr>
          </a:p>
          <a:p>
            <a:pPr indent="-311150" lvl="1" marL="914400" rtl="0" algn="l">
              <a:lnSpc>
                <a:spcPct val="115000"/>
              </a:lnSpc>
              <a:spcBef>
                <a:spcPts val="0"/>
              </a:spcBef>
              <a:spcAft>
                <a:spcPts val="0"/>
              </a:spcAft>
              <a:buSzPts val="1300"/>
              <a:buChar char="-"/>
            </a:pPr>
            <a:r>
              <a:rPr b="1" lang="en-GB" sz="1300">
                <a:solidFill>
                  <a:schemeClr val="dk1"/>
                </a:solidFill>
              </a:rPr>
              <a:t>Lets save our sharks and we can only protect sharks starts with understanding them.</a:t>
            </a:r>
            <a:endParaRPr b="1" sz="1300">
              <a:solidFill>
                <a:schemeClr val="dk1"/>
              </a:solidFill>
            </a:endParaRPr>
          </a:p>
          <a:p>
            <a:pPr indent="-311150" lvl="2" marL="1371600" rtl="0" algn="l">
              <a:lnSpc>
                <a:spcPct val="115000"/>
              </a:lnSpc>
              <a:spcBef>
                <a:spcPts val="0"/>
              </a:spcBef>
              <a:spcAft>
                <a:spcPts val="0"/>
              </a:spcAft>
              <a:buSzPts val="1300"/>
              <a:buChar char="-"/>
            </a:pPr>
            <a:r>
              <a:rPr i="1" lang="en-GB" sz="1300">
                <a:solidFill>
                  <a:schemeClr val="dk1"/>
                </a:solidFill>
              </a:rPr>
              <a:t>Thank You</a:t>
            </a:r>
            <a:r>
              <a:rPr lang="en-GB" sz="1300">
                <a:solidFill>
                  <a:schemeClr val="dk1"/>
                </a:solidFill>
              </a:rPr>
              <a:t> 🦈</a:t>
            </a:r>
            <a:endParaRPr sz="13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Clr>
                <a:schemeClr val="dk1"/>
              </a:buClr>
              <a:buSzPts val="1100"/>
              <a:buChar char="●"/>
              <a:defRPr sz="1100"/>
            </a:lvl1pPr>
            <a:lvl2pPr indent="-298450" lvl="1" marL="914400">
              <a:spcBef>
                <a:spcPts val="0"/>
              </a:spcBef>
              <a:spcAft>
                <a:spcPts val="0"/>
              </a:spcAft>
              <a:buClr>
                <a:schemeClr val="dk1"/>
              </a:buClr>
              <a:buSzPts val="1100"/>
              <a:buAutoNum type="alphaLcPeriod"/>
              <a:defRPr sz="1000"/>
            </a:lvl2pPr>
            <a:lvl3pPr indent="-298450" lvl="2" marL="1371600">
              <a:spcBef>
                <a:spcPts val="0"/>
              </a:spcBef>
              <a:spcAft>
                <a:spcPts val="0"/>
              </a:spcAft>
              <a:buClr>
                <a:schemeClr val="dk1"/>
              </a:buClr>
              <a:buSzPts val="1100"/>
              <a:buAutoNum type="romanLcPeriod"/>
              <a:defRPr sz="1000"/>
            </a:lvl3pPr>
            <a:lvl4pPr indent="-298450" lvl="3" marL="1828800">
              <a:spcBef>
                <a:spcPts val="0"/>
              </a:spcBef>
              <a:spcAft>
                <a:spcPts val="0"/>
              </a:spcAft>
              <a:buClr>
                <a:schemeClr val="dk1"/>
              </a:buClr>
              <a:buSzPts val="1100"/>
              <a:buAutoNum type="arabicPeriod"/>
              <a:defRPr/>
            </a:lvl4pPr>
            <a:lvl5pPr indent="-298450" lvl="4" marL="2286000">
              <a:spcBef>
                <a:spcPts val="0"/>
              </a:spcBef>
              <a:spcAft>
                <a:spcPts val="0"/>
              </a:spcAft>
              <a:buClr>
                <a:schemeClr val="dk1"/>
              </a:buClr>
              <a:buSzPts val="1100"/>
              <a:buAutoNum type="alphaLcPeriod"/>
              <a:defRPr/>
            </a:lvl5pPr>
            <a:lvl6pPr indent="-298450" lvl="5" marL="2743200">
              <a:spcBef>
                <a:spcPts val="0"/>
              </a:spcBef>
              <a:spcAft>
                <a:spcPts val="0"/>
              </a:spcAft>
              <a:buClr>
                <a:schemeClr val="dk1"/>
              </a:buClr>
              <a:buSzPts val="1100"/>
              <a:buAutoNum type="romanLcPeriod"/>
              <a:defRPr/>
            </a:lvl6pPr>
            <a:lvl7pPr indent="-298450" lvl="6" marL="3200400">
              <a:spcBef>
                <a:spcPts val="0"/>
              </a:spcBef>
              <a:spcAft>
                <a:spcPts val="0"/>
              </a:spcAft>
              <a:buClr>
                <a:schemeClr val="dk1"/>
              </a:buClr>
              <a:buSzPts val="1100"/>
              <a:buAutoNum type="arabicPeriod"/>
              <a:defRPr/>
            </a:lvl7pPr>
            <a:lvl8pPr indent="-298450" lvl="7" marL="3657600">
              <a:spcBef>
                <a:spcPts val="0"/>
              </a:spcBef>
              <a:spcAft>
                <a:spcPts val="0"/>
              </a:spcAft>
              <a:buClr>
                <a:schemeClr val="dk1"/>
              </a:buClr>
              <a:buSzPts val="1100"/>
              <a:buAutoNum type="alphaLcPeriod"/>
              <a:defRPr/>
            </a:lvl8pPr>
            <a:lvl9pPr indent="-298450" lvl="8" marL="4114800">
              <a:spcBef>
                <a:spcPts val="0"/>
              </a:spcBef>
              <a:spcAft>
                <a:spcPts val="0"/>
              </a:spcAft>
              <a:buClr>
                <a:schemeClr val="dk1"/>
              </a:buClr>
              <a:buSzPts val="1100"/>
              <a:buAutoNum type="romanLcPeriod"/>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sharkattackfile.net/" TargetMode="Externa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grpSp>
        <p:nvGrpSpPr>
          <p:cNvPr id="60" name="Google Shape;60;p14"/>
          <p:cNvGrpSpPr/>
          <p:nvPr/>
        </p:nvGrpSpPr>
        <p:grpSpPr>
          <a:xfrm>
            <a:off x="324" y="2980948"/>
            <a:ext cx="13458574" cy="1193557"/>
            <a:chOff x="-7831766" y="3618491"/>
            <a:chExt cx="22642285" cy="2008004"/>
          </a:xfrm>
        </p:grpSpPr>
        <p:sp>
          <p:nvSpPr>
            <p:cNvPr id="61" name="Google Shape;61;p14"/>
            <p:cNvSpPr/>
            <p:nvPr/>
          </p:nvSpPr>
          <p:spPr>
            <a:xfrm>
              <a:off x="-7831766" y="3618491"/>
              <a:ext cx="12194381" cy="2008004"/>
            </a:xfrm>
            <a:custGeom>
              <a:rect b="b" l="l" r="r" t="t"/>
              <a:pathLst>
                <a:path extrusionOk="0" h="1411602" w="8572500">
                  <a:moveTo>
                    <a:pt x="0" y="106677"/>
                  </a:moveTo>
                  <a:lnTo>
                    <a:pt x="119063" y="100010"/>
                  </a:lnTo>
                  <a:cubicBezTo>
                    <a:pt x="238125" y="94295"/>
                    <a:pt x="476250" y="80960"/>
                    <a:pt x="714375" y="122870"/>
                  </a:cubicBezTo>
                  <a:cubicBezTo>
                    <a:pt x="952500" y="163827"/>
                    <a:pt x="1190625" y="259077"/>
                    <a:pt x="1428750" y="330515"/>
                  </a:cubicBezTo>
                  <a:cubicBezTo>
                    <a:pt x="1666875" y="401952"/>
                    <a:pt x="1905000" y="449577"/>
                    <a:pt x="2143125" y="435290"/>
                  </a:cubicBezTo>
                  <a:cubicBezTo>
                    <a:pt x="2381250" y="421002"/>
                    <a:pt x="2619375" y="344802"/>
                    <a:pt x="2857500" y="344802"/>
                  </a:cubicBezTo>
                  <a:cubicBezTo>
                    <a:pt x="3095625" y="344802"/>
                    <a:pt x="3333750" y="421002"/>
                    <a:pt x="3571875" y="368615"/>
                  </a:cubicBezTo>
                  <a:cubicBezTo>
                    <a:pt x="3810000" y="316227"/>
                    <a:pt x="4048125" y="135252"/>
                    <a:pt x="4286250" y="52385"/>
                  </a:cubicBezTo>
                  <a:cubicBezTo>
                    <a:pt x="4524375" y="-29530"/>
                    <a:pt x="4762500" y="-14290"/>
                    <a:pt x="5000625" y="90485"/>
                  </a:cubicBezTo>
                  <a:cubicBezTo>
                    <a:pt x="5238750" y="195260"/>
                    <a:pt x="5476875" y="389570"/>
                    <a:pt x="5715000" y="456245"/>
                  </a:cubicBezTo>
                  <a:cubicBezTo>
                    <a:pt x="5953125" y="522920"/>
                    <a:pt x="6191250" y="461960"/>
                    <a:pt x="6429375" y="437195"/>
                  </a:cubicBezTo>
                  <a:cubicBezTo>
                    <a:pt x="6667500" y="411477"/>
                    <a:pt x="6905625" y="421002"/>
                    <a:pt x="7143750" y="344802"/>
                  </a:cubicBezTo>
                  <a:cubicBezTo>
                    <a:pt x="7381875" y="268602"/>
                    <a:pt x="7620000" y="106677"/>
                    <a:pt x="7858125" y="90485"/>
                  </a:cubicBezTo>
                  <a:cubicBezTo>
                    <a:pt x="8096250" y="75245"/>
                    <a:pt x="8334375" y="204785"/>
                    <a:pt x="8453438" y="270507"/>
                  </a:cubicBezTo>
                  <a:lnTo>
                    <a:pt x="8572500" y="335277"/>
                  </a:lnTo>
                  <a:lnTo>
                    <a:pt x="8572500" y="1411602"/>
                  </a:lnTo>
                  <a:lnTo>
                    <a:pt x="8453438" y="1411602"/>
                  </a:lnTo>
                  <a:cubicBezTo>
                    <a:pt x="8334375" y="1411602"/>
                    <a:pt x="8096250" y="1411602"/>
                    <a:pt x="7858125" y="1411602"/>
                  </a:cubicBezTo>
                  <a:cubicBezTo>
                    <a:pt x="7620000" y="1411602"/>
                    <a:pt x="7381875" y="1411602"/>
                    <a:pt x="7143750" y="1411602"/>
                  </a:cubicBezTo>
                  <a:cubicBezTo>
                    <a:pt x="6905625" y="1411602"/>
                    <a:pt x="6667500" y="1411602"/>
                    <a:pt x="6429375" y="1411602"/>
                  </a:cubicBezTo>
                  <a:cubicBezTo>
                    <a:pt x="6191250" y="1411602"/>
                    <a:pt x="5953125" y="1411602"/>
                    <a:pt x="5715000" y="1411602"/>
                  </a:cubicBezTo>
                  <a:cubicBezTo>
                    <a:pt x="5476875" y="1411602"/>
                    <a:pt x="5238750" y="1411602"/>
                    <a:pt x="5000625" y="1411602"/>
                  </a:cubicBezTo>
                  <a:cubicBezTo>
                    <a:pt x="4762500" y="1411602"/>
                    <a:pt x="4524375" y="1411602"/>
                    <a:pt x="4286250" y="1411602"/>
                  </a:cubicBezTo>
                  <a:cubicBezTo>
                    <a:pt x="4048125" y="1411602"/>
                    <a:pt x="3810000" y="1411602"/>
                    <a:pt x="3571875" y="1411602"/>
                  </a:cubicBezTo>
                  <a:cubicBezTo>
                    <a:pt x="3333750" y="1411602"/>
                    <a:pt x="3095625" y="1411602"/>
                    <a:pt x="2857500" y="1411602"/>
                  </a:cubicBezTo>
                  <a:cubicBezTo>
                    <a:pt x="2619375" y="1411602"/>
                    <a:pt x="2381250" y="1411602"/>
                    <a:pt x="2143125" y="1411602"/>
                  </a:cubicBezTo>
                  <a:cubicBezTo>
                    <a:pt x="1905000" y="1411602"/>
                    <a:pt x="1666875" y="1411602"/>
                    <a:pt x="1428750" y="1411602"/>
                  </a:cubicBezTo>
                  <a:cubicBezTo>
                    <a:pt x="1190625" y="1411602"/>
                    <a:pt x="952500" y="1411602"/>
                    <a:pt x="714375" y="1411602"/>
                  </a:cubicBezTo>
                  <a:cubicBezTo>
                    <a:pt x="476250" y="1411602"/>
                    <a:pt x="238125" y="1411602"/>
                    <a:pt x="119063" y="1411602"/>
                  </a:cubicBezTo>
                  <a:lnTo>
                    <a:pt x="0" y="1411602"/>
                  </a:lnTo>
                  <a:close/>
                </a:path>
              </a:pathLst>
            </a:custGeom>
            <a:solidFill>
              <a:srgbClr val="48B0D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2" name="Google Shape;62;p14"/>
            <p:cNvSpPr/>
            <p:nvPr/>
          </p:nvSpPr>
          <p:spPr>
            <a:xfrm flipH="1">
              <a:off x="2616138" y="3618491"/>
              <a:ext cx="12194381" cy="2008004"/>
            </a:xfrm>
            <a:custGeom>
              <a:rect b="b" l="l" r="r" t="t"/>
              <a:pathLst>
                <a:path extrusionOk="0" h="1411602" w="8572500">
                  <a:moveTo>
                    <a:pt x="0" y="106677"/>
                  </a:moveTo>
                  <a:lnTo>
                    <a:pt x="119063" y="100010"/>
                  </a:lnTo>
                  <a:cubicBezTo>
                    <a:pt x="238125" y="94295"/>
                    <a:pt x="476250" y="80960"/>
                    <a:pt x="714375" y="122870"/>
                  </a:cubicBezTo>
                  <a:cubicBezTo>
                    <a:pt x="952500" y="163827"/>
                    <a:pt x="1190625" y="259077"/>
                    <a:pt x="1428750" y="330515"/>
                  </a:cubicBezTo>
                  <a:cubicBezTo>
                    <a:pt x="1666875" y="401952"/>
                    <a:pt x="1905000" y="449577"/>
                    <a:pt x="2143125" y="435290"/>
                  </a:cubicBezTo>
                  <a:cubicBezTo>
                    <a:pt x="2381250" y="421002"/>
                    <a:pt x="2619375" y="344802"/>
                    <a:pt x="2857500" y="344802"/>
                  </a:cubicBezTo>
                  <a:cubicBezTo>
                    <a:pt x="3095625" y="344802"/>
                    <a:pt x="3333750" y="421002"/>
                    <a:pt x="3571875" y="368615"/>
                  </a:cubicBezTo>
                  <a:cubicBezTo>
                    <a:pt x="3810000" y="316227"/>
                    <a:pt x="4048125" y="135252"/>
                    <a:pt x="4286250" y="52385"/>
                  </a:cubicBezTo>
                  <a:cubicBezTo>
                    <a:pt x="4524375" y="-29530"/>
                    <a:pt x="4762500" y="-14290"/>
                    <a:pt x="5000625" y="90485"/>
                  </a:cubicBezTo>
                  <a:cubicBezTo>
                    <a:pt x="5238750" y="195260"/>
                    <a:pt x="5476875" y="389570"/>
                    <a:pt x="5715000" y="456245"/>
                  </a:cubicBezTo>
                  <a:cubicBezTo>
                    <a:pt x="5953125" y="522920"/>
                    <a:pt x="6191250" y="461960"/>
                    <a:pt x="6429375" y="437195"/>
                  </a:cubicBezTo>
                  <a:cubicBezTo>
                    <a:pt x="6667500" y="411477"/>
                    <a:pt x="6905625" y="421002"/>
                    <a:pt x="7143750" y="344802"/>
                  </a:cubicBezTo>
                  <a:cubicBezTo>
                    <a:pt x="7381875" y="268602"/>
                    <a:pt x="7620000" y="106677"/>
                    <a:pt x="7858125" y="90485"/>
                  </a:cubicBezTo>
                  <a:cubicBezTo>
                    <a:pt x="8096250" y="75245"/>
                    <a:pt x="8334375" y="204785"/>
                    <a:pt x="8453438" y="270507"/>
                  </a:cubicBezTo>
                  <a:lnTo>
                    <a:pt x="8572500" y="335277"/>
                  </a:lnTo>
                  <a:lnTo>
                    <a:pt x="8572500" y="1411602"/>
                  </a:lnTo>
                  <a:lnTo>
                    <a:pt x="8453438" y="1411602"/>
                  </a:lnTo>
                  <a:cubicBezTo>
                    <a:pt x="8334375" y="1411602"/>
                    <a:pt x="8096250" y="1411602"/>
                    <a:pt x="7858125" y="1411602"/>
                  </a:cubicBezTo>
                  <a:cubicBezTo>
                    <a:pt x="7620000" y="1411602"/>
                    <a:pt x="7381875" y="1411602"/>
                    <a:pt x="7143750" y="1411602"/>
                  </a:cubicBezTo>
                  <a:cubicBezTo>
                    <a:pt x="6905625" y="1411602"/>
                    <a:pt x="6667500" y="1411602"/>
                    <a:pt x="6429375" y="1411602"/>
                  </a:cubicBezTo>
                  <a:cubicBezTo>
                    <a:pt x="6191250" y="1411602"/>
                    <a:pt x="5953125" y="1411602"/>
                    <a:pt x="5715000" y="1411602"/>
                  </a:cubicBezTo>
                  <a:cubicBezTo>
                    <a:pt x="5476875" y="1411602"/>
                    <a:pt x="5238750" y="1411602"/>
                    <a:pt x="5000625" y="1411602"/>
                  </a:cubicBezTo>
                  <a:cubicBezTo>
                    <a:pt x="4762500" y="1411602"/>
                    <a:pt x="4524375" y="1411602"/>
                    <a:pt x="4286250" y="1411602"/>
                  </a:cubicBezTo>
                  <a:cubicBezTo>
                    <a:pt x="4048125" y="1411602"/>
                    <a:pt x="3810000" y="1411602"/>
                    <a:pt x="3571875" y="1411602"/>
                  </a:cubicBezTo>
                  <a:cubicBezTo>
                    <a:pt x="3333750" y="1411602"/>
                    <a:pt x="3095625" y="1411602"/>
                    <a:pt x="2857500" y="1411602"/>
                  </a:cubicBezTo>
                  <a:cubicBezTo>
                    <a:pt x="2619375" y="1411602"/>
                    <a:pt x="2381250" y="1411602"/>
                    <a:pt x="2143125" y="1411602"/>
                  </a:cubicBezTo>
                  <a:cubicBezTo>
                    <a:pt x="1905000" y="1411602"/>
                    <a:pt x="1666875" y="1411602"/>
                    <a:pt x="1428750" y="1411602"/>
                  </a:cubicBezTo>
                  <a:cubicBezTo>
                    <a:pt x="1190625" y="1411602"/>
                    <a:pt x="952500" y="1411602"/>
                    <a:pt x="714375" y="1411602"/>
                  </a:cubicBezTo>
                  <a:cubicBezTo>
                    <a:pt x="476250" y="1411602"/>
                    <a:pt x="238125" y="1411602"/>
                    <a:pt x="119063" y="1411602"/>
                  </a:cubicBezTo>
                  <a:lnTo>
                    <a:pt x="0" y="1411602"/>
                  </a:lnTo>
                  <a:close/>
                </a:path>
              </a:pathLst>
            </a:custGeom>
            <a:solidFill>
              <a:srgbClr val="48B0D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63" name="Google Shape;63;p14"/>
          <p:cNvGrpSpPr/>
          <p:nvPr/>
        </p:nvGrpSpPr>
        <p:grpSpPr>
          <a:xfrm>
            <a:off x="7975610" y="2758744"/>
            <a:ext cx="787013" cy="782993"/>
            <a:chOff x="2648107" y="-3"/>
            <a:chExt cx="6891534" cy="6856329"/>
          </a:xfrm>
        </p:grpSpPr>
        <p:sp>
          <p:nvSpPr>
            <p:cNvPr id="64" name="Google Shape;64;p14"/>
            <p:cNvSpPr/>
            <p:nvPr/>
          </p:nvSpPr>
          <p:spPr>
            <a:xfrm>
              <a:off x="2648107" y="-3"/>
              <a:ext cx="6891534" cy="6842039"/>
            </a:xfrm>
            <a:custGeom>
              <a:rect b="b" l="l" r="r" t="t"/>
              <a:pathLst>
                <a:path extrusionOk="0" h="6842039" w="6891534">
                  <a:moveTo>
                    <a:pt x="0" y="6842039"/>
                  </a:moveTo>
                  <a:cubicBezTo>
                    <a:pt x="0" y="6842039"/>
                    <a:pt x="1586692" y="1826064"/>
                    <a:pt x="5942939" y="39300"/>
                  </a:cubicBezTo>
                  <a:cubicBezTo>
                    <a:pt x="6328631" y="-118925"/>
                    <a:pt x="6731514" y="225297"/>
                    <a:pt x="6634690" y="630826"/>
                  </a:cubicBezTo>
                  <a:cubicBezTo>
                    <a:pt x="6308605" y="1996758"/>
                    <a:pt x="5899203" y="4644740"/>
                    <a:pt x="6891534" y="6842039"/>
                  </a:cubicBezTo>
                  <a:lnTo>
                    <a:pt x="0" y="6842039"/>
                  </a:lnTo>
                  <a:close/>
                </a:path>
              </a:pathLst>
            </a:custGeom>
            <a:solidFill>
              <a:srgbClr val="185E89"/>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5" name="Google Shape;65;p14"/>
            <p:cNvSpPr/>
            <p:nvPr/>
          </p:nvSpPr>
          <p:spPr>
            <a:xfrm>
              <a:off x="2648107" y="277720"/>
              <a:ext cx="6200320" cy="6578606"/>
            </a:xfrm>
            <a:custGeom>
              <a:rect b="b" l="l" r="r" t="t"/>
              <a:pathLst>
                <a:path extrusionOk="0" h="6578606" w="6200320">
                  <a:moveTo>
                    <a:pt x="0" y="6564315"/>
                  </a:moveTo>
                  <a:cubicBezTo>
                    <a:pt x="0" y="6564315"/>
                    <a:pt x="1328619" y="2102648"/>
                    <a:pt x="5284439" y="72075"/>
                  </a:cubicBezTo>
                  <a:cubicBezTo>
                    <a:pt x="5836102" y="-211125"/>
                    <a:pt x="6419692" y="395138"/>
                    <a:pt x="6117884" y="936788"/>
                  </a:cubicBezTo>
                  <a:cubicBezTo>
                    <a:pt x="4908760" y="3106787"/>
                    <a:pt x="2454427" y="6838352"/>
                    <a:pt x="0" y="6564315"/>
                  </a:cubicBezTo>
                  <a:close/>
                </a:path>
              </a:pathLst>
            </a:custGeom>
            <a:solidFill>
              <a:schemeClr val="lt1">
                <a:alpha val="9799"/>
              </a:scheme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6" name="Google Shape;66;p14"/>
            <p:cNvSpPr/>
            <p:nvPr/>
          </p:nvSpPr>
          <p:spPr>
            <a:xfrm>
              <a:off x="8458354" y="3279182"/>
              <a:ext cx="713354" cy="3345400"/>
            </a:xfrm>
            <a:custGeom>
              <a:rect b="b" l="l" r="r" t="t"/>
              <a:pathLst>
                <a:path extrusionOk="0" h="3345400" w="713354">
                  <a:moveTo>
                    <a:pt x="144594" y="0"/>
                  </a:moveTo>
                  <a:cubicBezTo>
                    <a:pt x="144594" y="0"/>
                    <a:pt x="44274" y="1706187"/>
                    <a:pt x="713354" y="3345400"/>
                  </a:cubicBezTo>
                  <a:cubicBezTo>
                    <a:pt x="713354" y="3345400"/>
                    <a:pt x="-385720" y="1941211"/>
                    <a:pt x="144594" y="0"/>
                  </a:cubicBezTo>
                  <a:close/>
                </a:path>
              </a:pathLst>
            </a:custGeom>
            <a:solidFill>
              <a:schemeClr val="lt1">
                <a:alpha val="9799"/>
              </a:scheme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67" name="Google Shape;67;p14"/>
          <p:cNvGrpSpPr/>
          <p:nvPr/>
        </p:nvGrpSpPr>
        <p:grpSpPr>
          <a:xfrm>
            <a:off x="-4315186" y="2999485"/>
            <a:ext cx="13458574" cy="1193557"/>
            <a:chOff x="-7831766" y="3618491"/>
            <a:chExt cx="22642285" cy="2008004"/>
          </a:xfrm>
        </p:grpSpPr>
        <p:sp>
          <p:nvSpPr>
            <p:cNvPr id="68" name="Google Shape;68;p14"/>
            <p:cNvSpPr/>
            <p:nvPr/>
          </p:nvSpPr>
          <p:spPr>
            <a:xfrm>
              <a:off x="-7831766" y="3618491"/>
              <a:ext cx="12194381" cy="2008004"/>
            </a:xfrm>
            <a:custGeom>
              <a:rect b="b" l="l" r="r" t="t"/>
              <a:pathLst>
                <a:path extrusionOk="0" h="1411602" w="8572500">
                  <a:moveTo>
                    <a:pt x="0" y="106677"/>
                  </a:moveTo>
                  <a:lnTo>
                    <a:pt x="119063" y="100010"/>
                  </a:lnTo>
                  <a:cubicBezTo>
                    <a:pt x="238125" y="94295"/>
                    <a:pt x="476250" y="80960"/>
                    <a:pt x="714375" y="122870"/>
                  </a:cubicBezTo>
                  <a:cubicBezTo>
                    <a:pt x="952500" y="163827"/>
                    <a:pt x="1190625" y="259077"/>
                    <a:pt x="1428750" y="330515"/>
                  </a:cubicBezTo>
                  <a:cubicBezTo>
                    <a:pt x="1666875" y="401952"/>
                    <a:pt x="1905000" y="449577"/>
                    <a:pt x="2143125" y="435290"/>
                  </a:cubicBezTo>
                  <a:cubicBezTo>
                    <a:pt x="2381250" y="421002"/>
                    <a:pt x="2619375" y="344802"/>
                    <a:pt x="2857500" y="344802"/>
                  </a:cubicBezTo>
                  <a:cubicBezTo>
                    <a:pt x="3095625" y="344802"/>
                    <a:pt x="3333750" y="421002"/>
                    <a:pt x="3571875" y="368615"/>
                  </a:cubicBezTo>
                  <a:cubicBezTo>
                    <a:pt x="3810000" y="316227"/>
                    <a:pt x="4048125" y="135252"/>
                    <a:pt x="4286250" y="52385"/>
                  </a:cubicBezTo>
                  <a:cubicBezTo>
                    <a:pt x="4524375" y="-29530"/>
                    <a:pt x="4762500" y="-14290"/>
                    <a:pt x="5000625" y="90485"/>
                  </a:cubicBezTo>
                  <a:cubicBezTo>
                    <a:pt x="5238750" y="195260"/>
                    <a:pt x="5476875" y="389570"/>
                    <a:pt x="5715000" y="456245"/>
                  </a:cubicBezTo>
                  <a:cubicBezTo>
                    <a:pt x="5953125" y="522920"/>
                    <a:pt x="6191250" y="461960"/>
                    <a:pt x="6429375" y="437195"/>
                  </a:cubicBezTo>
                  <a:cubicBezTo>
                    <a:pt x="6667500" y="411477"/>
                    <a:pt x="6905625" y="421002"/>
                    <a:pt x="7143750" y="344802"/>
                  </a:cubicBezTo>
                  <a:cubicBezTo>
                    <a:pt x="7381875" y="268602"/>
                    <a:pt x="7620000" y="106677"/>
                    <a:pt x="7858125" y="90485"/>
                  </a:cubicBezTo>
                  <a:cubicBezTo>
                    <a:pt x="8096250" y="75245"/>
                    <a:pt x="8334375" y="204785"/>
                    <a:pt x="8453438" y="270507"/>
                  </a:cubicBezTo>
                  <a:lnTo>
                    <a:pt x="8572500" y="335277"/>
                  </a:lnTo>
                  <a:lnTo>
                    <a:pt x="8572500" y="1411602"/>
                  </a:lnTo>
                  <a:lnTo>
                    <a:pt x="8453438" y="1411602"/>
                  </a:lnTo>
                  <a:cubicBezTo>
                    <a:pt x="8334375" y="1411602"/>
                    <a:pt x="8096250" y="1411602"/>
                    <a:pt x="7858125" y="1411602"/>
                  </a:cubicBezTo>
                  <a:cubicBezTo>
                    <a:pt x="7620000" y="1411602"/>
                    <a:pt x="7381875" y="1411602"/>
                    <a:pt x="7143750" y="1411602"/>
                  </a:cubicBezTo>
                  <a:cubicBezTo>
                    <a:pt x="6905625" y="1411602"/>
                    <a:pt x="6667500" y="1411602"/>
                    <a:pt x="6429375" y="1411602"/>
                  </a:cubicBezTo>
                  <a:cubicBezTo>
                    <a:pt x="6191250" y="1411602"/>
                    <a:pt x="5953125" y="1411602"/>
                    <a:pt x="5715000" y="1411602"/>
                  </a:cubicBezTo>
                  <a:cubicBezTo>
                    <a:pt x="5476875" y="1411602"/>
                    <a:pt x="5238750" y="1411602"/>
                    <a:pt x="5000625" y="1411602"/>
                  </a:cubicBezTo>
                  <a:cubicBezTo>
                    <a:pt x="4762500" y="1411602"/>
                    <a:pt x="4524375" y="1411602"/>
                    <a:pt x="4286250" y="1411602"/>
                  </a:cubicBezTo>
                  <a:cubicBezTo>
                    <a:pt x="4048125" y="1411602"/>
                    <a:pt x="3810000" y="1411602"/>
                    <a:pt x="3571875" y="1411602"/>
                  </a:cubicBezTo>
                  <a:cubicBezTo>
                    <a:pt x="3333750" y="1411602"/>
                    <a:pt x="3095625" y="1411602"/>
                    <a:pt x="2857500" y="1411602"/>
                  </a:cubicBezTo>
                  <a:cubicBezTo>
                    <a:pt x="2619375" y="1411602"/>
                    <a:pt x="2381250" y="1411602"/>
                    <a:pt x="2143125" y="1411602"/>
                  </a:cubicBezTo>
                  <a:cubicBezTo>
                    <a:pt x="1905000" y="1411602"/>
                    <a:pt x="1666875" y="1411602"/>
                    <a:pt x="1428750" y="1411602"/>
                  </a:cubicBezTo>
                  <a:cubicBezTo>
                    <a:pt x="1190625" y="1411602"/>
                    <a:pt x="952500" y="1411602"/>
                    <a:pt x="714375" y="1411602"/>
                  </a:cubicBezTo>
                  <a:cubicBezTo>
                    <a:pt x="476250" y="1411602"/>
                    <a:pt x="238125" y="1411602"/>
                    <a:pt x="119063" y="1411602"/>
                  </a:cubicBezTo>
                  <a:lnTo>
                    <a:pt x="0" y="1411602"/>
                  </a:lnTo>
                  <a:close/>
                </a:path>
              </a:pathLst>
            </a:custGeom>
            <a:solidFill>
              <a:srgbClr val="52C0E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9" name="Google Shape;69;p14"/>
            <p:cNvSpPr/>
            <p:nvPr/>
          </p:nvSpPr>
          <p:spPr>
            <a:xfrm flipH="1">
              <a:off x="2616138" y="3618491"/>
              <a:ext cx="12194381" cy="2008004"/>
            </a:xfrm>
            <a:custGeom>
              <a:rect b="b" l="l" r="r" t="t"/>
              <a:pathLst>
                <a:path extrusionOk="0" h="1411602" w="8572500">
                  <a:moveTo>
                    <a:pt x="0" y="106677"/>
                  </a:moveTo>
                  <a:lnTo>
                    <a:pt x="119063" y="100010"/>
                  </a:lnTo>
                  <a:cubicBezTo>
                    <a:pt x="238125" y="94295"/>
                    <a:pt x="476250" y="80960"/>
                    <a:pt x="714375" y="122870"/>
                  </a:cubicBezTo>
                  <a:cubicBezTo>
                    <a:pt x="952500" y="163827"/>
                    <a:pt x="1190625" y="259077"/>
                    <a:pt x="1428750" y="330515"/>
                  </a:cubicBezTo>
                  <a:cubicBezTo>
                    <a:pt x="1666875" y="401952"/>
                    <a:pt x="1905000" y="449577"/>
                    <a:pt x="2143125" y="435290"/>
                  </a:cubicBezTo>
                  <a:cubicBezTo>
                    <a:pt x="2381250" y="421002"/>
                    <a:pt x="2619375" y="344802"/>
                    <a:pt x="2857500" y="344802"/>
                  </a:cubicBezTo>
                  <a:cubicBezTo>
                    <a:pt x="3095625" y="344802"/>
                    <a:pt x="3333750" y="421002"/>
                    <a:pt x="3571875" y="368615"/>
                  </a:cubicBezTo>
                  <a:cubicBezTo>
                    <a:pt x="3810000" y="316227"/>
                    <a:pt x="4048125" y="135252"/>
                    <a:pt x="4286250" y="52385"/>
                  </a:cubicBezTo>
                  <a:cubicBezTo>
                    <a:pt x="4524375" y="-29530"/>
                    <a:pt x="4762500" y="-14290"/>
                    <a:pt x="5000625" y="90485"/>
                  </a:cubicBezTo>
                  <a:cubicBezTo>
                    <a:pt x="5238750" y="195260"/>
                    <a:pt x="5476875" y="389570"/>
                    <a:pt x="5715000" y="456245"/>
                  </a:cubicBezTo>
                  <a:cubicBezTo>
                    <a:pt x="5953125" y="522920"/>
                    <a:pt x="6191250" y="461960"/>
                    <a:pt x="6429375" y="437195"/>
                  </a:cubicBezTo>
                  <a:cubicBezTo>
                    <a:pt x="6667500" y="411477"/>
                    <a:pt x="6905625" y="421002"/>
                    <a:pt x="7143750" y="344802"/>
                  </a:cubicBezTo>
                  <a:cubicBezTo>
                    <a:pt x="7381875" y="268602"/>
                    <a:pt x="7620000" y="106677"/>
                    <a:pt x="7858125" y="90485"/>
                  </a:cubicBezTo>
                  <a:cubicBezTo>
                    <a:pt x="8096250" y="75245"/>
                    <a:pt x="8334375" y="204785"/>
                    <a:pt x="8453438" y="270507"/>
                  </a:cubicBezTo>
                  <a:lnTo>
                    <a:pt x="8572500" y="335277"/>
                  </a:lnTo>
                  <a:lnTo>
                    <a:pt x="8572500" y="1411602"/>
                  </a:lnTo>
                  <a:lnTo>
                    <a:pt x="8453438" y="1411602"/>
                  </a:lnTo>
                  <a:cubicBezTo>
                    <a:pt x="8334375" y="1411602"/>
                    <a:pt x="8096250" y="1411602"/>
                    <a:pt x="7858125" y="1411602"/>
                  </a:cubicBezTo>
                  <a:cubicBezTo>
                    <a:pt x="7620000" y="1411602"/>
                    <a:pt x="7381875" y="1411602"/>
                    <a:pt x="7143750" y="1411602"/>
                  </a:cubicBezTo>
                  <a:cubicBezTo>
                    <a:pt x="6905625" y="1411602"/>
                    <a:pt x="6667500" y="1411602"/>
                    <a:pt x="6429375" y="1411602"/>
                  </a:cubicBezTo>
                  <a:cubicBezTo>
                    <a:pt x="6191250" y="1411602"/>
                    <a:pt x="5953125" y="1411602"/>
                    <a:pt x="5715000" y="1411602"/>
                  </a:cubicBezTo>
                  <a:cubicBezTo>
                    <a:pt x="5476875" y="1411602"/>
                    <a:pt x="5238750" y="1411602"/>
                    <a:pt x="5000625" y="1411602"/>
                  </a:cubicBezTo>
                  <a:cubicBezTo>
                    <a:pt x="4762500" y="1411602"/>
                    <a:pt x="4524375" y="1411602"/>
                    <a:pt x="4286250" y="1411602"/>
                  </a:cubicBezTo>
                  <a:cubicBezTo>
                    <a:pt x="4048125" y="1411602"/>
                    <a:pt x="3810000" y="1411602"/>
                    <a:pt x="3571875" y="1411602"/>
                  </a:cubicBezTo>
                  <a:cubicBezTo>
                    <a:pt x="3333750" y="1411602"/>
                    <a:pt x="3095625" y="1411602"/>
                    <a:pt x="2857500" y="1411602"/>
                  </a:cubicBezTo>
                  <a:cubicBezTo>
                    <a:pt x="2619375" y="1411602"/>
                    <a:pt x="2381250" y="1411602"/>
                    <a:pt x="2143125" y="1411602"/>
                  </a:cubicBezTo>
                  <a:cubicBezTo>
                    <a:pt x="1905000" y="1411602"/>
                    <a:pt x="1666875" y="1411602"/>
                    <a:pt x="1428750" y="1411602"/>
                  </a:cubicBezTo>
                  <a:cubicBezTo>
                    <a:pt x="1190625" y="1411602"/>
                    <a:pt x="952500" y="1411602"/>
                    <a:pt x="714375" y="1411602"/>
                  </a:cubicBezTo>
                  <a:cubicBezTo>
                    <a:pt x="476250" y="1411602"/>
                    <a:pt x="238125" y="1411602"/>
                    <a:pt x="119063" y="1411602"/>
                  </a:cubicBezTo>
                  <a:lnTo>
                    <a:pt x="0" y="1411602"/>
                  </a:lnTo>
                  <a:close/>
                </a:path>
              </a:pathLst>
            </a:custGeom>
            <a:solidFill>
              <a:srgbClr val="52C0E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70" name="Google Shape;70;p14"/>
          <p:cNvSpPr/>
          <p:nvPr/>
        </p:nvSpPr>
        <p:spPr>
          <a:xfrm>
            <a:off x="0" y="2932340"/>
            <a:ext cx="9144000" cy="3136446"/>
          </a:xfrm>
          <a:custGeom>
            <a:rect b="b" l="l" r="r" t="t"/>
            <a:pathLst>
              <a:path extrusionOk="0" h="4181928" w="12192000">
                <a:moveTo>
                  <a:pt x="0" y="0"/>
                </a:moveTo>
                <a:lnTo>
                  <a:pt x="254678" y="70170"/>
                </a:lnTo>
                <a:cubicBezTo>
                  <a:pt x="510710" y="140339"/>
                  <a:pt x="1020065" y="280678"/>
                  <a:pt x="1528064" y="294712"/>
                </a:cubicBezTo>
                <a:cubicBezTo>
                  <a:pt x="2036065" y="310501"/>
                  <a:pt x="2542710" y="198228"/>
                  <a:pt x="3050710" y="250855"/>
                </a:cubicBezTo>
                <a:cubicBezTo>
                  <a:pt x="3558710" y="303482"/>
                  <a:pt x="4068065" y="521009"/>
                  <a:pt x="4576065" y="652576"/>
                </a:cubicBezTo>
                <a:cubicBezTo>
                  <a:pt x="5084065" y="784144"/>
                  <a:pt x="5590710" y="829752"/>
                  <a:pt x="6098710" y="715728"/>
                </a:cubicBezTo>
                <a:cubicBezTo>
                  <a:pt x="6606710" y="601702"/>
                  <a:pt x="7116065" y="328043"/>
                  <a:pt x="7624064" y="257874"/>
                </a:cubicBezTo>
                <a:cubicBezTo>
                  <a:pt x="8132065" y="187704"/>
                  <a:pt x="8638710" y="321024"/>
                  <a:pt x="9146709" y="435050"/>
                </a:cubicBezTo>
                <a:cubicBezTo>
                  <a:pt x="9654710" y="549075"/>
                  <a:pt x="10164065" y="643805"/>
                  <a:pt x="10672064" y="654329"/>
                </a:cubicBezTo>
                <a:cubicBezTo>
                  <a:pt x="11180065" y="666610"/>
                  <a:pt x="11686710" y="596440"/>
                  <a:pt x="11938677" y="561355"/>
                </a:cubicBezTo>
                <a:lnTo>
                  <a:pt x="12192000" y="526271"/>
                </a:lnTo>
                <a:lnTo>
                  <a:pt x="12192000" y="2491014"/>
                </a:lnTo>
                <a:lnTo>
                  <a:pt x="12192000" y="4181928"/>
                </a:lnTo>
                <a:lnTo>
                  <a:pt x="0" y="4181928"/>
                </a:lnTo>
                <a:lnTo>
                  <a:pt x="0" y="2491014"/>
                </a:lnTo>
                <a:close/>
              </a:path>
            </a:pathLst>
          </a:custGeom>
          <a:solidFill>
            <a:srgbClr val="AADBF2"/>
          </a:solidFill>
          <a:ln>
            <a:noFill/>
          </a:ln>
        </p:spPr>
        <p:txBody>
          <a:bodyPr anchorCtr="0" anchor="ctr" bIns="34275" lIns="68575" spcFirstLastPara="1" rIns="68575" wrap="square" tIns="34275">
            <a:noAutofit/>
          </a:bodyPr>
          <a:lstStyle/>
          <a:p>
            <a:pPr indent="0" lvl="0" marL="0" rtl="0" algn="ctr">
              <a:spcBef>
                <a:spcPts val="0"/>
              </a:spcBef>
              <a:spcAft>
                <a:spcPts val="0"/>
              </a:spcAft>
              <a:buClr>
                <a:schemeClr val="dk1"/>
              </a:buClr>
              <a:buSzPts val="1100"/>
              <a:buFont typeface="Arial"/>
              <a:buNone/>
            </a:pPr>
            <a:r>
              <a:rPr lang="en-GB" sz="2400">
                <a:solidFill>
                  <a:srgbClr val="185E89"/>
                </a:solidFill>
                <a:latin typeface="Neuton"/>
                <a:ea typeface="Neuton"/>
                <a:cs typeface="Neuton"/>
                <a:sym typeface="Neuton"/>
              </a:rPr>
              <a:t>Team Serie: Ailixier, Amanda, Berker &amp; Tina</a:t>
            </a:r>
            <a:endParaRPr sz="2400">
              <a:solidFill>
                <a:srgbClr val="185E89"/>
              </a:solidFill>
              <a:latin typeface="Neuton"/>
              <a:ea typeface="Neuton"/>
              <a:cs typeface="Neuton"/>
              <a:sym typeface="Neuton"/>
            </a:endParaRPr>
          </a:p>
        </p:txBody>
      </p:sp>
      <p:sp>
        <p:nvSpPr>
          <p:cNvPr id="71" name="Google Shape;71;p14"/>
          <p:cNvSpPr/>
          <p:nvPr/>
        </p:nvSpPr>
        <p:spPr>
          <a:xfrm>
            <a:off x="8" y="1368305"/>
            <a:ext cx="3270168" cy="552919"/>
          </a:xfrm>
          <a:custGeom>
            <a:rect b="b" l="l" r="r" t="t"/>
            <a:pathLst>
              <a:path extrusionOk="0" h="737226" w="4360224">
                <a:moveTo>
                  <a:pt x="2278464" y="511301"/>
                </a:moveTo>
                <a:cubicBezTo>
                  <a:pt x="2367440" y="319586"/>
                  <a:pt x="2512980" y="143410"/>
                  <a:pt x="2655945" y="78055"/>
                </a:cubicBezTo>
                <a:cubicBezTo>
                  <a:pt x="3006077" y="-81960"/>
                  <a:pt x="3442432" y="45643"/>
                  <a:pt x="3654748" y="429074"/>
                </a:cubicBezTo>
                <a:cubicBezTo>
                  <a:pt x="3730049" y="271546"/>
                  <a:pt x="3920432" y="240111"/>
                  <a:pt x="4038534" y="254230"/>
                </a:cubicBezTo>
                <a:cubicBezTo>
                  <a:pt x="4231226" y="277229"/>
                  <a:pt x="4371261" y="507128"/>
                  <a:pt x="4359540" y="700708"/>
                </a:cubicBezTo>
                <a:cubicBezTo>
                  <a:pt x="4354390" y="786221"/>
                  <a:pt x="137627" y="695291"/>
                  <a:pt x="90031" y="691206"/>
                </a:cubicBezTo>
                <a:cubicBezTo>
                  <a:pt x="-49738" y="679396"/>
                  <a:pt x="-4184" y="578610"/>
                  <a:pt x="74846" y="463439"/>
                </a:cubicBezTo>
                <a:cubicBezTo>
                  <a:pt x="511911" y="-173511"/>
                  <a:pt x="1023745" y="466547"/>
                  <a:pt x="1039195" y="422237"/>
                </a:cubicBezTo>
                <a:cubicBezTo>
                  <a:pt x="1148772" y="107269"/>
                  <a:pt x="1442783" y="10124"/>
                  <a:pt x="1642846" y="534"/>
                </a:cubicBezTo>
                <a:cubicBezTo>
                  <a:pt x="1881269" y="-10921"/>
                  <a:pt x="2237439" y="162058"/>
                  <a:pt x="2278464" y="511301"/>
                </a:cubicBezTo>
                <a:close/>
              </a:path>
            </a:pathLst>
          </a:custGeom>
          <a:gradFill>
            <a:gsLst>
              <a:gs pos="0">
                <a:srgbClr val="AADBF2">
                  <a:alpha val="40000"/>
                </a:srgbClr>
              </a:gs>
              <a:gs pos="100000">
                <a:srgbClr val="AADBF2">
                  <a:alpha val="0"/>
                </a:srgbClr>
              </a:gs>
            </a:gsLst>
            <a:lin ang="5400012"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2" name="Google Shape;72;p14"/>
          <p:cNvSpPr/>
          <p:nvPr/>
        </p:nvSpPr>
        <p:spPr>
          <a:xfrm>
            <a:off x="5875810" y="357188"/>
            <a:ext cx="3270168" cy="552920"/>
          </a:xfrm>
          <a:custGeom>
            <a:rect b="b" l="l" r="r" t="t"/>
            <a:pathLst>
              <a:path extrusionOk="0" h="737226" w="4360224">
                <a:moveTo>
                  <a:pt x="2278464" y="511301"/>
                </a:moveTo>
                <a:cubicBezTo>
                  <a:pt x="2367440" y="319586"/>
                  <a:pt x="2512980" y="143410"/>
                  <a:pt x="2655945" y="78055"/>
                </a:cubicBezTo>
                <a:cubicBezTo>
                  <a:pt x="3006077" y="-81960"/>
                  <a:pt x="3442431" y="45643"/>
                  <a:pt x="3654748" y="429074"/>
                </a:cubicBezTo>
                <a:cubicBezTo>
                  <a:pt x="3730049" y="271546"/>
                  <a:pt x="3920433" y="240111"/>
                  <a:pt x="4038534" y="254230"/>
                </a:cubicBezTo>
                <a:cubicBezTo>
                  <a:pt x="4231227" y="277229"/>
                  <a:pt x="4371262" y="507039"/>
                  <a:pt x="4359540" y="700708"/>
                </a:cubicBezTo>
                <a:cubicBezTo>
                  <a:pt x="4354390" y="786221"/>
                  <a:pt x="137627" y="695291"/>
                  <a:pt x="90031" y="691206"/>
                </a:cubicBezTo>
                <a:cubicBezTo>
                  <a:pt x="-49738" y="679396"/>
                  <a:pt x="-4184" y="578610"/>
                  <a:pt x="74847" y="463439"/>
                </a:cubicBezTo>
                <a:cubicBezTo>
                  <a:pt x="511911" y="-173511"/>
                  <a:pt x="1023745" y="466547"/>
                  <a:pt x="1039195" y="422237"/>
                </a:cubicBezTo>
                <a:cubicBezTo>
                  <a:pt x="1148773" y="107269"/>
                  <a:pt x="1442695" y="10124"/>
                  <a:pt x="1642846" y="534"/>
                </a:cubicBezTo>
                <a:cubicBezTo>
                  <a:pt x="1881269" y="-10921"/>
                  <a:pt x="2237439" y="162058"/>
                  <a:pt x="2278464" y="511301"/>
                </a:cubicBezTo>
                <a:close/>
              </a:path>
            </a:pathLst>
          </a:custGeom>
          <a:gradFill>
            <a:gsLst>
              <a:gs pos="0">
                <a:srgbClr val="AADBF2">
                  <a:alpha val="40000"/>
                </a:srgbClr>
              </a:gs>
              <a:gs pos="100000">
                <a:srgbClr val="AADBF2">
                  <a:alpha val="0"/>
                </a:srgbClr>
              </a:gs>
            </a:gsLst>
            <a:lin ang="5400012"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3" name="Google Shape;73;p14"/>
          <p:cNvSpPr txBox="1"/>
          <p:nvPr/>
        </p:nvSpPr>
        <p:spPr>
          <a:xfrm>
            <a:off x="1080001" y="1269750"/>
            <a:ext cx="6734700" cy="9927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Clr>
                <a:srgbClr val="000000"/>
              </a:buClr>
              <a:buFont typeface="Arial"/>
              <a:buNone/>
            </a:pPr>
            <a:r>
              <a:rPr b="1" lang="en-GB" sz="6000">
                <a:solidFill>
                  <a:srgbClr val="185E89"/>
                </a:solidFill>
                <a:latin typeface="Neuton"/>
                <a:ea typeface="Neuton"/>
                <a:cs typeface="Neuton"/>
                <a:sym typeface="Neuton"/>
              </a:rPr>
              <a:t>Beyond the Bite</a:t>
            </a:r>
            <a:endParaRPr b="1" sz="1800">
              <a:solidFill>
                <a:srgbClr val="185E89"/>
              </a:solidFill>
              <a:latin typeface="Neuton"/>
              <a:ea typeface="Neuton"/>
              <a:cs typeface="Neuton"/>
              <a:sym typeface="Neuton"/>
            </a:endParaRPr>
          </a:p>
        </p:txBody>
      </p:sp>
      <p:sp>
        <p:nvSpPr>
          <p:cNvPr id="74" name="Google Shape;74;p14"/>
          <p:cNvSpPr txBox="1"/>
          <p:nvPr/>
        </p:nvSpPr>
        <p:spPr>
          <a:xfrm>
            <a:off x="1789650" y="2137400"/>
            <a:ext cx="53154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i="1" lang="en-GB" sz="3000">
                <a:solidFill>
                  <a:srgbClr val="185E89"/>
                </a:solidFill>
                <a:latin typeface="Neuton"/>
                <a:ea typeface="Neuton"/>
                <a:cs typeface="Neuton"/>
                <a:sym typeface="Neuton"/>
              </a:rPr>
              <a:t>What shark incident data really tells us</a:t>
            </a:r>
            <a:endParaRPr sz="3000">
              <a:solidFill>
                <a:srgbClr val="185E89"/>
              </a:solidFill>
              <a:latin typeface="Neuton"/>
              <a:ea typeface="Neuton"/>
              <a:cs typeface="Neuton"/>
              <a:sym typeface="Neuton"/>
            </a:endParaRPr>
          </a:p>
        </p:txBody>
      </p:sp>
      <p:pic>
        <p:nvPicPr>
          <p:cNvPr id="75" name="Google Shape;75;p14"/>
          <p:cNvPicPr preferRelativeResize="0"/>
          <p:nvPr/>
        </p:nvPicPr>
        <p:blipFill>
          <a:blip r:embed="rId3">
            <a:alphaModFix/>
          </a:blip>
          <a:stretch>
            <a:fillRect/>
          </a:stretch>
        </p:blipFill>
        <p:spPr>
          <a:xfrm>
            <a:off x="3598750" y="239475"/>
            <a:ext cx="1946498" cy="992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409075" y="239475"/>
            <a:ext cx="8520600" cy="71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sz="4800">
                <a:solidFill>
                  <a:srgbClr val="185E89"/>
                </a:solidFill>
                <a:latin typeface="Neuton"/>
                <a:ea typeface="Neuton"/>
                <a:cs typeface="Neuton"/>
                <a:sym typeface="Neuton"/>
              </a:rPr>
              <a:t>Challenging the myth</a:t>
            </a:r>
            <a:endParaRPr/>
          </a:p>
        </p:txBody>
      </p:sp>
      <p:sp>
        <p:nvSpPr>
          <p:cNvPr id="81" name="Google Shape;81;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GB">
                <a:solidFill>
                  <a:schemeClr val="dk1"/>
                </a:solidFill>
              </a:rPr>
              <a:t>We are </a:t>
            </a:r>
            <a:r>
              <a:rPr b="1" lang="en-GB">
                <a:solidFill>
                  <a:schemeClr val="dk1"/>
                </a:solidFill>
              </a:rPr>
              <a:t>Save Our Sharks</a:t>
            </a:r>
            <a:r>
              <a:rPr lang="en-GB">
                <a:solidFill>
                  <a:schemeClr val="dk1"/>
                </a:solidFill>
              </a:rPr>
              <a:t>, a U.S. shark conservation NGO running an </a:t>
            </a:r>
            <a:r>
              <a:rPr b="1" lang="en-GB">
                <a:solidFill>
                  <a:schemeClr val="dk1"/>
                </a:solidFill>
              </a:rPr>
              <a:t>awareness campaign</a:t>
            </a:r>
            <a:r>
              <a:rPr lang="en-GB">
                <a:solidFill>
                  <a:schemeClr val="dk1"/>
                </a:solidFill>
              </a:rPr>
              <a:t> to challenge the perception that sharks are bloodthirsty killers.</a:t>
            </a:r>
            <a:br>
              <a:rPr lang="en-GB">
                <a:solidFill>
                  <a:schemeClr val="dk1"/>
                </a:solidFill>
              </a:rPr>
            </a:br>
            <a:endParaRPr>
              <a:solidFill>
                <a:schemeClr val="dk1"/>
              </a:solidFill>
            </a:endParaRPr>
          </a:p>
          <a:p>
            <a:pPr indent="-298450" lvl="0" marL="457200" rtl="0" algn="l">
              <a:spcBef>
                <a:spcPts val="1200"/>
              </a:spcBef>
              <a:spcAft>
                <a:spcPts val="0"/>
              </a:spcAft>
              <a:buSzPts val="1100"/>
              <a:buChar char="●"/>
            </a:pPr>
            <a:r>
              <a:rPr b="1" lang="en-GB">
                <a:solidFill>
                  <a:schemeClr val="dk1"/>
                </a:solidFill>
                <a:highlight>
                  <a:schemeClr val="lt1"/>
                </a:highlight>
              </a:rPr>
              <a:t>Public fear of sharks</a:t>
            </a:r>
            <a:r>
              <a:rPr lang="en-GB">
                <a:solidFill>
                  <a:schemeClr val="dk1"/>
                </a:solidFill>
                <a:highlight>
                  <a:schemeClr val="lt1"/>
                </a:highlight>
              </a:rPr>
              <a:t> is greater than the actual danger they present. </a:t>
            </a:r>
            <a:r>
              <a:rPr lang="en-GB">
                <a:solidFill>
                  <a:schemeClr val="dk1"/>
                </a:solidFill>
              </a:rPr>
              <a:t>Since the release of </a:t>
            </a:r>
            <a:r>
              <a:rPr i="1" lang="en-GB">
                <a:solidFill>
                  <a:schemeClr val="dk1"/>
                </a:solidFill>
              </a:rPr>
              <a:t>Jaws</a:t>
            </a:r>
            <a:r>
              <a:rPr lang="en-GB">
                <a:solidFill>
                  <a:schemeClr val="dk1"/>
                </a:solidFill>
              </a:rPr>
              <a:t> in 1975, sharks have been widely feared and misunderstood. In reality, only a small fraction of shark species pose any risk to humans, while sharks play a vital role in maintaining healthy ocean ecosystems.</a:t>
            </a:r>
            <a:br>
              <a:rPr lang="en-GB">
                <a:solidFill>
                  <a:schemeClr val="dk1"/>
                </a:solidFill>
              </a:rPr>
            </a:br>
            <a:endParaRPr>
              <a:solidFill>
                <a:schemeClr val="dk1"/>
              </a:solidFill>
            </a:endParaRPr>
          </a:p>
          <a:p>
            <a:pPr indent="-298450" lvl="0" marL="457200" rtl="0" algn="l">
              <a:spcBef>
                <a:spcPts val="0"/>
              </a:spcBef>
              <a:spcAft>
                <a:spcPts val="0"/>
              </a:spcAft>
              <a:buSzPts val="1100"/>
              <a:buChar char="●"/>
            </a:pPr>
            <a:r>
              <a:rPr lang="en-GB">
                <a:solidFill>
                  <a:schemeClr val="dk1"/>
                </a:solidFill>
              </a:rPr>
              <a:t>Using the </a:t>
            </a:r>
            <a:r>
              <a:rPr b="1" lang="en-GB">
                <a:solidFill>
                  <a:schemeClr val="dk1"/>
                </a:solidFill>
              </a:rPr>
              <a:t>Global Shark Attack dataset</a:t>
            </a:r>
            <a:r>
              <a:rPr lang="en-GB">
                <a:solidFill>
                  <a:schemeClr val="dk1"/>
                </a:solidFill>
              </a:rPr>
              <a:t>, we will investigate the fatality rate and understand if these shark attacks have been provoked or unprovoked by humans. We will compare the shark incidents over the last 50 years to see if there has been an increase. We aim to understand if this shark aggression is caused by growing human populations, greater beach activity, and increased overlap between humans and shark habitats. </a:t>
            </a:r>
            <a:br>
              <a:rPr lang="en-GB">
                <a:solidFill>
                  <a:schemeClr val="dk1"/>
                </a:solidFill>
              </a:rPr>
            </a:br>
            <a:endParaRPr>
              <a:solidFill>
                <a:schemeClr val="dk1"/>
              </a:solidFill>
            </a:endParaRPr>
          </a:p>
          <a:p>
            <a:pPr indent="0" lvl="0" marL="0" rtl="0" algn="l">
              <a:spcBef>
                <a:spcPts val="1200"/>
              </a:spcBef>
              <a:spcAft>
                <a:spcPts val="0"/>
              </a:spcAft>
              <a:buNone/>
            </a:pPr>
            <a:r>
              <a:rPr lang="en-GB">
                <a:solidFill>
                  <a:schemeClr val="dk1"/>
                </a:solidFill>
              </a:rPr>
              <a:t>Our goal is to separate fear from fact and better understand the true nature of shark-human interactions.</a:t>
            </a:r>
            <a:endParaRPr>
              <a:solidFill>
                <a:schemeClr val="dk1"/>
              </a:solidFill>
            </a:endParaRPr>
          </a:p>
          <a:p>
            <a:pPr indent="0" lvl="0" marL="0" rtl="0" algn="l">
              <a:spcBef>
                <a:spcPts val="1200"/>
              </a:spcBef>
              <a:spcAft>
                <a:spcPts val="1200"/>
              </a:spcAft>
              <a:buNone/>
            </a:pPr>
            <a:r>
              <a:t/>
            </a:r>
            <a:endParaRPr/>
          </a:p>
        </p:txBody>
      </p:sp>
      <p:pic>
        <p:nvPicPr>
          <p:cNvPr id="82" name="Google Shape;82;p15"/>
          <p:cNvPicPr preferRelativeResize="0"/>
          <p:nvPr/>
        </p:nvPicPr>
        <p:blipFill>
          <a:blip r:embed="rId3">
            <a:alphaModFix/>
          </a:blip>
          <a:stretch>
            <a:fillRect/>
          </a:stretch>
        </p:blipFill>
        <p:spPr>
          <a:xfrm>
            <a:off x="7218049" y="114749"/>
            <a:ext cx="1562325" cy="7967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txBox="1"/>
          <p:nvPr>
            <p:ph type="title"/>
          </p:nvPr>
        </p:nvSpPr>
        <p:spPr>
          <a:xfrm>
            <a:off x="409075" y="239475"/>
            <a:ext cx="8520600" cy="71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sz="4800">
                <a:solidFill>
                  <a:srgbClr val="185E89"/>
                </a:solidFill>
                <a:latin typeface="Neuton"/>
                <a:ea typeface="Neuton"/>
                <a:cs typeface="Neuton"/>
                <a:sym typeface="Neuton"/>
              </a:rPr>
              <a:t>Understanding the data</a:t>
            </a:r>
            <a:endParaRPr/>
          </a:p>
        </p:txBody>
      </p:sp>
      <p:sp>
        <p:nvSpPr>
          <p:cNvPr id="88" name="Google Shape;88;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500"/>
              </a:spcBef>
              <a:spcAft>
                <a:spcPts val="0"/>
              </a:spcAft>
              <a:buSzPts val="1100"/>
              <a:buChar char="●"/>
            </a:pPr>
            <a:r>
              <a:rPr lang="en-GB">
                <a:solidFill>
                  <a:srgbClr val="1D1C1D"/>
                </a:solidFill>
              </a:rPr>
              <a:t>We looked at the </a:t>
            </a:r>
            <a:r>
              <a:rPr b="1" lang="en-GB" u="sng">
                <a:solidFill>
                  <a:schemeClr val="hlink"/>
                </a:solidFill>
                <a:hlinkClick r:id="rId3"/>
              </a:rPr>
              <a:t>Global incident log of shark attacks</a:t>
            </a:r>
            <a:r>
              <a:rPr b="1" lang="en-GB">
                <a:solidFill>
                  <a:srgbClr val="1D1C1D"/>
                </a:solidFill>
              </a:rPr>
              <a:t> </a:t>
            </a:r>
            <a:r>
              <a:rPr lang="en-GB">
                <a:solidFill>
                  <a:srgbClr val="1D1C1D"/>
                </a:solidFill>
              </a:rPr>
              <a:t>dataset of </a:t>
            </a:r>
            <a:r>
              <a:rPr lang="en-GB">
                <a:solidFill>
                  <a:schemeClr val="dk1"/>
                </a:solidFill>
                <a:highlight>
                  <a:schemeClr val="lt1"/>
                </a:highlight>
              </a:rPr>
              <a:t>7090 entries and discussed which columns to include and exclude in our analysis.</a:t>
            </a:r>
            <a:endParaRPr>
              <a:solidFill>
                <a:schemeClr val="dk1"/>
              </a:solidFill>
              <a:highlight>
                <a:schemeClr val="lt1"/>
              </a:highlight>
            </a:endParaRPr>
          </a:p>
          <a:p>
            <a:pPr indent="0" lvl="0" marL="0" rtl="0" algn="l">
              <a:spcBef>
                <a:spcPts val="500"/>
              </a:spcBef>
              <a:spcAft>
                <a:spcPts val="0"/>
              </a:spcAft>
              <a:buNone/>
            </a:pPr>
            <a:r>
              <a:t/>
            </a:r>
            <a:endParaRPr>
              <a:solidFill>
                <a:schemeClr val="dk1"/>
              </a:solidFill>
              <a:highlight>
                <a:schemeClr val="lt1"/>
              </a:highlight>
            </a:endParaRPr>
          </a:p>
          <a:p>
            <a:pPr indent="-298450" lvl="0" marL="457200" rtl="0" algn="l">
              <a:spcBef>
                <a:spcPts val="500"/>
              </a:spcBef>
              <a:spcAft>
                <a:spcPts val="0"/>
              </a:spcAft>
              <a:buClr>
                <a:schemeClr val="dk1"/>
              </a:buClr>
              <a:buSzPts val="1100"/>
              <a:buChar char="●"/>
            </a:pPr>
            <a:r>
              <a:rPr lang="en-GB">
                <a:solidFill>
                  <a:schemeClr val="dk1"/>
                </a:solidFill>
                <a:highlight>
                  <a:schemeClr val="lt1"/>
                </a:highlight>
              </a:rPr>
              <a:t>We identified the following columns based on the questions we wanted to answer:</a:t>
            </a:r>
            <a:endParaRPr>
              <a:solidFill>
                <a:schemeClr val="dk1"/>
              </a:solidFill>
              <a:highlight>
                <a:schemeClr val="lt1"/>
              </a:highlight>
            </a:endParaRPr>
          </a:p>
          <a:p>
            <a:pPr indent="-298450" lvl="1" marL="914400" rtl="0" algn="l">
              <a:spcBef>
                <a:spcPts val="0"/>
              </a:spcBef>
              <a:spcAft>
                <a:spcPts val="0"/>
              </a:spcAft>
              <a:buSzPts val="1100"/>
              <a:buChar char="○"/>
            </a:pPr>
            <a:r>
              <a:rPr lang="en-GB" sz="1100">
                <a:solidFill>
                  <a:schemeClr val="dk1"/>
                </a:solidFill>
                <a:highlight>
                  <a:srgbClr val="FFFFFF"/>
                </a:highlight>
              </a:rPr>
              <a:t>Type - What proportion of shark incidents are unprovoked vs. provoked?</a:t>
            </a:r>
            <a:endParaRPr sz="1100">
              <a:solidFill>
                <a:schemeClr val="dk1"/>
              </a:solidFill>
              <a:highlight>
                <a:srgbClr val="FFFFFF"/>
              </a:highlight>
            </a:endParaRPr>
          </a:p>
          <a:p>
            <a:pPr indent="-298450" lvl="1" marL="914400" rtl="0" algn="l">
              <a:spcBef>
                <a:spcPts val="0"/>
              </a:spcBef>
              <a:spcAft>
                <a:spcPts val="0"/>
              </a:spcAft>
              <a:buSzPts val="1100"/>
              <a:buChar char="○"/>
            </a:pPr>
            <a:r>
              <a:rPr lang="en-GB" sz="1100">
                <a:solidFill>
                  <a:schemeClr val="dk1"/>
                </a:solidFill>
                <a:highlight>
                  <a:srgbClr val="FFFFFF"/>
                </a:highlight>
              </a:rPr>
              <a:t>Fatal - How many incidents are actually fatal?</a:t>
            </a:r>
            <a:endParaRPr sz="1100">
              <a:solidFill>
                <a:schemeClr val="dk1"/>
              </a:solidFill>
              <a:highlight>
                <a:srgbClr val="FFFFFF"/>
              </a:highlight>
            </a:endParaRPr>
          </a:p>
          <a:p>
            <a:pPr indent="-298450" lvl="1" marL="914400" rtl="0" algn="l">
              <a:spcBef>
                <a:spcPts val="0"/>
              </a:spcBef>
              <a:spcAft>
                <a:spcPts val="0"/>
              </a:spcAft>
              <a:buSzPts val="1100"/>
              <a:buChar char="○"/>
            </a:pPr>
            <a:r>
              <a:rPr lang="en-GB" sz="1100">
                <a:solidFill>
                  <a:schemeClr val="dk1"/>
                </a:solidFill>
                <a:highlight>
                  <a:srgbClr val="FFFFFF"/>
                </a:highlight>
              </a:rPr>
              <a:t>Species - Which species are involved — and are they truly dangerous?</a:t>
            </a:r>
            <a:endParaRPr sz="1100">
              <a:solidFill>
                <a:schemeClr val="dk1"/>
              </a:solidFill>
              <a:highlight>
                <a:srgbClr val="FFFFFF"/>
              </a:highlight>
            </a:endParaRPr>
          </a:p>
          <a:p>
            <a:pPr indent="-298450" lvl="1" marL="914400" rtl="0" algn="l">
              <a:spcBef>
                <a:spcPts val="0"/>
              </a:spcBef>
              <a:spcAft>
                <a:spcPts val="0"/>
              </a:spcAft>
              <a:buSzPts val="1100"/>
              <a:buChar char="○"/>
            </a:pPr>
            <a:r>
              <a:rPr lang="en-GB" sz="1100">
                <a:solidFill>
                  <a:schemeClr val="dk1"/>
                </a:solidFill>
                <a:highlight>
                  <a:srgbClr val="FFFFFF"/>
                </a:highlight>
              </a:rPr>
              <a:t>Species - Which species appear in fatal vs. non-fatal cases?</a:t>
            </a:r>
            <a:endParaRPr sz="1100">
              <a:solidFill>
                <a:schemeClr val="dk1"/>
              </a:solidFill>
              <a:highlight>
                <a:srgbClr val="FFFFFF"/>
              </a:highlight>
            </a:endParaRPr>
          </a:p>
          <a:p>
            <a:pPr indent="-298450" lvl="1" marL="914400" rtl="0" algn="l">
              <a:spcBef>
                <a:spcPts val="0"/>
              </a:spcBef>
              <a:spcAft>
                <a:spcPts val="0"/>
              </a:spcAft>
              <a:buSzPts val="1100"/>
              <a:buChar char="○"/>
            </a:pPr>
            <a:r>
              <a:rPr lang="en-GB" sz="1100">
                <a:solidFill>
                  <a:schemeClr val="dk1"/>
                </a:solidFill>
                <a:highlight>
                  <a:srgbClr val="FFFFFF"/>
                </a:highlight>
              </a:rPr>
              <a:t>Year - Has the number of incidents increased over time — and if so, why?</a:t>
            </a:r>
            <a:endParaRPr sz="1100">
              <a:solidFill>
                <a:schemeClr val="dk1"/>
              </a:solidFill>
              <a:highlight>
                <a:srgbClr val="FFFFFF"/>
              </a:highlight>
            </a:endParaRPr>
          </a:p>
          <a:p>
            <a:pPr indent="-298450" lvl="1" marL="914400" rtl="0" algn="l">
              <a:spcBef>
                <a:spcPts val="0"/>
              </a:spcBef>
              <a:spcAft>
                <a:spcPts val="0"/>
              </a:spcAft>
              <a:buSzPts val="1100"/>
              <a:buChar char="○"/>
            </a:pPr>
            <a:r>
              <a:rPr lang="en-GB" sz="1100">
                <a:solidFill>
                  <a:schemeClr val="dk1"/>
                </a:solidFill>
                <a:highlight>
                  <a:srgbClr val="FFFFFF"/>
                </a:highlight>
              </a:rPr>
              <a:t>Gender - Does gender play a role in shark incident patterns?</a:t>
            </a:r>
            <a:endParaRPr sz="1100">
              <a:solidFill>
                <a:schemeClr val="dk1"/>
              </a:solidFill>
              <a:highlight>
                <a:srgbClr val="FFFFFF"/>
              </a:highlight>
            </a:endParaRPr>
          </a:p>
          <a:p>
            <a:pPr indent="-298450" lvl="1" marL="914400" rtl="0" algn="l">
              <a:spcBef>
                <a:spcPts val="0"/>
              </a:spcBef>
              <a:spcAft>
                <a:spcPts val="0"/>
              </a:spcAft>
              <a:buSzPts val="1100"/>
              <a:buChar char="○"/>
            </a:pPr>
            <a:r>
              <a:rPr lang="en-GB" sz="1100">
                <a:solidFill>
                  <a:schemeClr val="dk1"/>
                </a:solidFill>
                <a:highlight>
                  <a:srgbClr val="FFFFFF"/>
                </a:highlight>
              </a:rPr>
              <a:t>Activity - What are the types of the incidents?</a:t>
            </a:r>
            <a:endParaRPr sz="1100">
              <a:solidFill>
                <a:schemeClr val="dk1"/>
              </a:solidFill>
              <a:highlight>
                <a:srgbClr val="FFFFFF"/>
              </a:highlight>
            </a:endParaRPr>
          </a:p>
          <a:p>
            <a:pPr indent="-298450" lvl="1" marL="914400" rtl="0" algn="l">
              <a:spcBef>
                <a:spcPts val="0"/>
              </a:spcBef>
              <a:spcAft>
                <a:spcPts val="0"/>
              </a:spcAft>
              <a:buClr>
                <a:schemeClr val="dk1"/>
              </a:buClr>
              <a:buSzPts val="1100"/>
              <a:buChar char="○"/>
            </a:pPr>
            <a:r>
              <a:rPr lang="en-GB" sz="1100">
                <a:solidFill>
                  <a:schemeClr val="dk1"/>
                </a:solidFill>
                <a:highlight>
                  <a:srgbClr val="FFFFFF"/>
                </a:highlight>
              </a:rPr>
              <a:t>State - Is there a state with a much larger percentage of incidents?</a:t>
            </a:r>
            <a:endParaRPr sz="1100">
              <a:solidFill>
                <a:schemeClr val="dk1"/>
              </a:solidFill>
              <a:highlight>
                <a:srgbClr val="FFFFFF"/>
              </a:highlight>
            </a:endParaRPr>
          </a:p>
          <a:p>
            <a:pPr indent="0" lvl="0" marL="0" rtl="0" algn="l">
              <a:spcBef>
                <a:spcPts val="1100"/>
              </a:spcBef>
              <a:spcAft>
                <a:spcPts val="0"/>
              </a:spcAft>
              <a:buNone/>
            </a:pPr>
            <a:r>
              <a:t/>
            </a:r>
            <a:endParaRPr>
              <a:solidFill>
                <a:schemeClr val="dk1"/>
              </a:solidFill>
              <a:highlight>
                <a:schemeClr val="lt1"/>
              </a:highlight>
            </a:endParaRPr>
          </a:p>
          <a:p>
            <a:pPr indent="0" lvl="0" marL="0" rtl="0" algn="l">
              <a:spcBef>
                <a:spcPts val="500"/>
              </a:spcBef>
              <a:spcAft>
                <a:spcPts val="500"/>
              </a:spcAft>
              <a:buNone/>
            </a:pPr>
            <a:r>
              <a:t/>
            </a:r>
            <a:endParaRPr/>
          </a:p>
        </p:txBody>
      </p:sp>
      <p:pic>
        <p:nvPicPr>
          <p:cNvPr id="89" name="Google Shape;89;p16"/>
          <p:cNvPicPr preferRelativeResize="0"/>
          <p:nvPr/>
        </p:nvPicPr>
        <p:blipFill>
          <a:blip r:embed="rId4">
            <a:alphaModFix/>
          </a:blip>
          <a:stretch>
            <a:fillRect/>
          </a:stretch>
        </p:blipFill>
        <p:spPr>
          <a:xfrm>
            <a:off x="7218049" y="114749"/>
            <a:ext cx="1562325" cy="796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title"/>
          </p:nvPr>
        </p:nvSpPr>
        <p:spPr>
          <a:xfrm>
            <a:off x="409075" y="239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ts val="990"/>
              <a:buFont typeface="Arial"/>
              <a:buNone/>
            </a:pPr>
            <a:r>
              <a:rPr b="1" lang="en-GB" sz="4800">
                <a:solidFill>
                  <a:srgbClr val="185E89"/>
                </a:solidFill>
                <a:latin typeface="Neuton"/>
                <a:ea typeface="Neuton"/>
                <a:cs typeface="Neuton"/>
                <a:sym typeface="Neuton"/>
              </a:rPr>
              <a:t>Dataset problems</a:t>
            </a:r>
            <a:endParaRPr/>
          </a:p>
          <a:p>
            <a:pPr indent="0" lvl="0" marL="0" rtl="0" algn="l">
              <a:spcBef>
                <a:spcPts val="0"/>
              </a:spcBef>
              <a:spcAft>
                <a:spcPts val="0"/>
              </a:spcAft>
              <a:buNone/>
            </a:pPr>
            <a:r>
              <a:t/>
            </a:r>
            <a:endParaRPr/>
          </a:p>
        </p:txBody>
      </p:sp>
      <p:sp>
        <p:nvSpPr>
          <p:cNvPr id="95" name="Google Shape;95;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500"/>
              </a:spcBef>
              <a:spcAft>
                <a:spcPts val="0"/>
              </a:spcAft>
              <a:buClr>
                <a:srgbClr val="1D1C1D"/>
              </a:buClr>
              <a:buSzPts val="1200"/>
              <a:buChar char="●"/>
            </a:pPr>
            <a:r>
              <a:rPr lang="en-GB" sz="1200">
                <a:solidFill>
                  <a:srgbClr val="1D1C1D"/>
                </a:solidFill>
              </a:rPr>
              <a:t>On closer inspection we realised that there were some problems with the dataset, namely:</a:t>
            </a:r>
            <a:endParaRPr sz="1200">
              <a:solidFill>
                <a:srgbClr val="1D1C1D"/>
              </a:solidFill>
            </a:endParaRPr>
          </a:p>
          <a:p>
            <a:pPr indent="0" lvl="0" marL="0" rtl="0" algn="l">
              <a:spcBef>
                <a:spcPts val="500"/>
              </a:spcBef>
              <a:spcAft>
                <a:spcPts val="0"/>
              </a:spcAft>
              <a:buNone/>
            </a:pPr>
            <a:r>
              <a:t/>
            </a:r>
            <a:endParaRPr sz="1050">
              <a:solidFill>
                <a:srgbClr val="1D1C1D"/>
              </a:solidFill>
            </a:endParaRPr>
          </a:p>
          <a:p>
            <a:pPr indent="-304800" lvl="0" marL="914400" rtl="0" algn="l">
              <a:spcBef>
                <a:spcPts val="500"/>
              </a:spcBef>
              <a:spcAft>
                <a:spcPts val="0"/>
              </a:spcAft>
              <a:buClr>
                <a:srgbClr val="1D1C1D"/>
              </a:buClr>
              <a:buSzPts val="1200"/>
              <a:buChar char="●"/>
            </a:pPr>
            <a:r>
              <a:rPr lang="en-GB" sz="1200">
                <a:solidFill>
                  <a:srgbClr val="1D1C1D"/>
                </a:solidFill>
              </a:rPr>
              <a:t>Missing values </a:t>
            </a:r>
            <a:endParaRPr sz="1200">
              <a:solidFill>
                <a:srgbClr val="1D1C1D"/>
              </a:solidFill>
            </a:endParaRPr>
          </a:p>
          <a:p>
            <a:pPr indent="-304800" lvl="1" marL="1371600" rtl="0" algn="l">
              <a:spcBef>
                <a:spcPts val="0"/>
              </a:spcBef>
              <a:spcAft>
                <a:spcPts val="0"/>
              </a:spcAft>
              <a:buClr>
                <a:srgbClr val="1D1C1D"/>
              </a:buClr>
              <a:buSzPts val="1200"/>
              <a:buChar char="○"/>
            </a:pPr>
            <a:r>
              <a:rPr lang="en-GB" sz="1200">
                <a:solidFill>
                  <a:srgbClr val="1D1C1D"/>
                </a:solidFill>
              </a:rPr>
              <a:t>Understanding how to deal with the missing values in df.</a:t>
            </a:r>
            <a:endParaRPr sz="1200">
              <a:solidFill>
                <a:srgbClr val="1D1C1D"/>
              </a:solidFill>
            </a:endParaRPr>
          </a:p>
          <a:p>
            <a:pPr indent="-304800" lvl="0" marL="914400" rtl="0" algn="l">
              <a:spcBef>
                <a:spcPts val="0"/>
              </a:spcBef>
              <a:spcAft>
                <a:spcPts val="0"/>
              </a:spcAft>
              <a:buClr>
                <a:srgbClr val="1D1C1D"/>
              </a:buClr>
              <a:buSzPts val="1200"/>
              <a:buChar char="●"/>
            </a:pPr>
            <a:r>
              <a:rPr lang="en-GB" sz="1200">
                <a:solidFill>
                  <a:srgbClr val="1D1C1D"/>
                </a:solidFill>
              </a:rPr>
              <a:t>Formatting issues</a:t>
            </a:r>
            <a:endParaRPr sz="1200">
              <a:solidFill>
                <a:srgbClr val="1D1C1D"/>
              </a:solidFill>
            </a:endParaRPr>
          </a:p>
          <a:p>
            <a:pPr indent="-304800" lvl="1" marL="1371600" rtl="0" algn="l">
              <a:spcBef>
                <a:spcPts val="0"/>
              </a:spcBef>
              <a:spcAft>
                <a:spcPts val="0"/>
              </a:spcAft>
              <a:buClr>
                <a:srgbClr val="1D1C1D"/>
              </a:buClr>
              <a:buSzPts val="1200"/>
              <a:buChar char="○"/>
            </a:pPr>
            <a:r>
              <a:rPr lang="en-GB" sz="1200">
                <a:solidFill>
                  <a:srgbClr val="1D1C1D"/>
                </a:solidFill>
              </a:rPr>
              <a:t>Understanding if the data is </a:t>
            </a:r>
            <a:r>
              <a:rPr lang="en-GB" sz="1200">
                <a:solidFill>
                  <a:srgbClr val="1D1C1D"/>
                </a:solidFill>
              </a:rPr>
              <a:t>standardized</a:t>
            </a:r>
            <a:r>
              <a:rPr lang="en-GB" sz="1200">
                <a:solidFill>
                  <a:srgbClr val="1D1C1D"/>
                </a:solidFill>
              </a:rPr>
              <a:t> and </a:t>
            </a:r>
            <a:r>
              <a:rPr lang="en-GB" sz="1200">
                <a:solidFill>
                  <a:srgbClr val="1D1C1D"/>
                </a:solidFill>
              </a:rPr>
              <a:t>readable.</a:t>
            </a:r>
            <a:endParaRPr sz="1200">
              <a:solidFill>
                <a:srgbClr val="1D1C1D"/>
              </a:solidFill>
            </a:endParaRPr>
          </a:p>
          <a:p>
            <a:pPr indent="-304800" lvl="0" marL="914400" rtl="0" algn="l">
              <a:spcBef>
                <a:spcPts val="0"/>
              </a:spcBef>
              <a:spcAft>
                <a:spcPts val="0"/>
              </a:spcAft>
              <a:buClr>
                <a:srgbClr val="1D1C1D"/>
              </a:buClr>
              <a:buSzPts val="1200"/>
              <a:buChar char="●"/>
            </a:pPr>
            <a:r>
              <a:rPr lang="en-GB" sz="1200">
                <a:solidFill>
                  <a:srgbClr val="1D1C1D"/>
                </a:solidFill>
              </a:rPr>
              <a:t>Inconsistent data</a:t>
            </a:r>
            <a:endParaRPr sz="1200">
              <a:solidFill>
                <a:srgbClr val="1D1C1D"/>
              </a:solidFill>
            </a:endParaRPr>
          </a:p>
          <a:p>
            <a:pPr indent="-304800" lvl="1" marL="1371600" rtl="0" algn="l">
              <a:spcBef>
                <a:spcPts val="0"/>
              </a:spcBef>
              <a:spcAft>
                <a:spcPts val="0"/>
              </a:spcAft>
              <a:buClr>
                <a:srgbClr val="1D1C1D"/>
              </a:buClr>
              <a:buSzPts val="1200"/>
              <a:buChar char="○"/>
            </a:pPr>
            <a:r>
              <a:rPr lang="en-GB" sz="1200">
                <a:solidFill>
                  <a:srgbClr val="1D1C1D"/>
                </a:solidFill>
              </a:rPr>
              <a:t>Understanding if the data is accurate.</a:t>
            </a:r>
            <a:endParaRPr sz="1200">
              <a:solidFill>
                <a:srgbClr val="1D1C1D"/>
              </a:solidFill>
            </a:endParaRPr>
          </a:p>
          <a:p>
            <a:pPr indent="0" lvl="0" marL="457200" rtl="0" algn="l">
              <a:spcBef>
                <a:spcPts val="500"/>
              </a:spcBef>
              <a:spcAft>
                <a:spcPts val="500"/>
              </a:spcAft>
              <a:buNone/>
            </a:pPr>
            <a:r>
              <a:t/>
            </a:r>
            <a:endParaRPr sz="1100">
              <a:solidFill>
                <a:srgbClr val="1D1C1D"/>
              </a:solidFill>
            </a:endParaRPr>
          </a:p>
        </p:txBody>
      </p:sp>
      <p:pic>
        <p:nvPicPr>
          <p:cNvPr id="96" name="Google Shape;96;p17"/>
          <p:cNvPicPr preferRelativeResize="0"/>
          <p:nvPr/>
        </p:nvPicPr>
        <p:blipFill>
          <a:blip r:embed="rId3">
            <a:alphaModFix/>
          </a:blip>
          <a:stretch>
            <a:fillRect/>
          </a:stretch>
        </p:blipFill>
        <p:spPr>
          <a:xfrm>
            <a:off x="7218049" y="114749"/>
            <a:ext cx="1562325" cy="796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409075" y="239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ts val="990"/>
              <a:buFont typeface="Arial"/>
              <a:buNone/>
            </a:pPr>
            <a:r>
              <a:rPr b="1" lang="en-GB" sz="4800">
                <a:solidFill>
                  <a:srgbClr val="185E89"/>
                </a:solidFill>
                <a:latin typeface="Neuton"/>
                <a:ea typeface="Neuton"/>
                <a:cs typeface="Neuton"/>
                <a:sym typeface="Neuton"/>
              </a:rPr>
              <a:t>Cleaning process</a:t>
            </a:r>
            <a:endParaRPr/>
          </a:p>
          <a:p>
            <a:pPr indent="0" lvl="0" marL="0" rtl="0" algn="l">
              <a:spcBef>
                <a:spcPts val="0"/>
              </a:spcBef>
              <a:spcAft>
                <a:spcPts val="0"/>
              </a:spcAft>
              <a:buNone/>
            </a:pPr>
            <a:r>
              <a:t/>
            </a:r>
            <a:endParaRPr/>
          </a:p>
        </p:txBody>
      </p:sp>
      <p:sp>
        <p:nvSpPr>
          <p:cNvPr id="102" name="Google Shape;102;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500"/>
              </a:spcBef>
              <a:spcAft>
                <a:spcPts val="0"/>
              </a:spcAft>
              <a:buClr>
                <a:srgbClr val="1D1C1D"/>
              </a:buClr>
              <a:buSzPts val="1100"/>
              <a:buChar char="●"/>
            </a:pPr>
            <a:r>
              <a:rPr lang="en-GB">
                <a:solidFill>
                  <a:srgbClr val="1D1C1D"/>
                </a:solidFill>
              </a:rPr>
              <a:t>We identified the main columns we needed for analysis and applied the following </a:t>
            </a:r>
            <a:r>
              <a:rPr b="1" lang="en-GB">
                <a:solidFill>
                  <a:srgbClr val="1D1C1D"/>
                </a:solidFill>
              </a:rPr>
              <a:t>cleaning techniques</a:t>
            </a:r>
            <a:r>
              <a:rPr lang="en-GB">
                <a:solidFill>
                  <a:srgbClr val="1D1C1D"/>
                </a:solidFill>
              </a:rPr>
              <a:t>:</a:t>
            </a:r>
            <a:endParaRPr>
              <a:solidFill>
                <a:srgbClr val="1D1C1D"/>
              </a:solidFill>
            </a:endParaRPr>
          </a:p>
          <a:p>
            <a:pPr indent="-298450" lvl="1" marL="914400" rtl="0" algn="l">
              <a:spcBef>
                <a:spcPts val="0"/>
              </a:spcBef>
              <a:spcAft>
                <a:spcPts val="0"/>
              </a:spcAft>
              <a:buClr>
                <a:srgbClr val="1D1C1D"/>
              </a:buClr>
              <a:buSzPts val="1100"/>
              <a:buChar char="○"/>
            </a:pPr>
            <a:r>
              <a:rPr lang="en-GB" sz="1100">
                <a:solidFill>
                  <a:srgbClr val="1D1C1D"/>
                </a:solidFill>
              </a:rPr>
              <a:t>Removed white space</a:t>
            </a:r>
            <a:endParaRPr sz="1100">
              <a:solidFill>
                <a:srgbClr val="1D1C1D"/>
              </a:solidFill>
            </a:endParaRPr>
          </a:p>
          <a:p>
            <a:pPr indent="-298450" lvl="1" marL="914400" rtl="0" algn="l">
              <a:spcBef>
                <a:spcPts val="0"/>
              </a:spcBef>
              <a:spcAft>
                <a:spcPts val="0"/>
              </a:spcAft>
              <a:buClr>
                <a:srgbClr val="1D1C1D"/>
              </a:buClr>
              <a:buSzPts val="1100"/>
              <a:buChar char="○"/>
            </a:pPr>
            <a:r>
              <a:rPr lang="en-GB" sz="1100">
                <a:solidFill>
                  <a:srgbClr val="1D1C1D"/>
                </a:solidFill>
              </a:rPr>
              <a:t>Replaced missing values with Unknown</a:t>
            </a:r>
            <a:endParaRPr sz="1100">
              <a:solidFill>
                <a:srgbClr val="1D1C1D"/>
              </a:solidFill>
            </a:endParaRPr>
          </a:p>
          <a:p>
            <a:pPr indent="-298450" lvl="1" marL="914400" rtl="0" algn="l">
              <a:spcBef>
                <a:spcPts val="0"/>
              </a:spcBef>
              <a:spcAft>
                <a:spcPts val="0"/>
              </a:spcAft>
              <a:buClr>
                <a:srgbClr val="1D1C1D"/>
              </a:buClr>
              <a:buSzPts val="1100"/>
              <a:buChar char="○"/>
            </a:pPr>
            <a:r>
              <a:rPr lang="en-GB" sz="1100">
                <a:solidFill>
                  <a:srgbClr val="1D1C1D"/>
                </a:solidFill>
              </a:rPr>
              <a:t>Combined similar values together</a:t>
            </a:r>
            <a:endParaRPr sz="1100">
              <a:solidFill>
                <a:srgbClr val="1D1C1D"/>
              </a:solidFill>
            </a:endParaRPr>
          </a:p>
          <a:p>
            <a:pPr indent="-298450" lvl="1" marL="914400" rtl="0" algn="l">
              <a:spcBef>
                <a:spcPts val="0"/>
              </a:spcBef>
              <a:spcAft>
                <a:spcPts val="0"/>
              </a:spcAft>
              <a:buClr>
                <a:srgbClr val="1D1C1D"/>
              </a:buClr>
              <a:buSzPts val="1100"/>
              <a:buChar char="○"/>
            </a:pPr>
            <a:r>
              <a:rPr lang="en-GB" sz="1100">
                <a:solidFill>
                  <a:srgbClr val="1D1C1D"/>
                </a:solidFill>
              </a:rPr>
              <a:t>Standardized everything to lowercase</a:t>
            </a:r>
            <a:endParaRPr sz="1100">
              <a:solidFill>
                <a:srgbClr val="1D1C1D"/>
              </a:solidFill>
            </a:endParaRPr>
          </a:p>
          <a:p>
            <a:pPr indent="-298450" lvl="1" marL="914400" rtl="0" algn="l">
              <a:spcBef>
                <a:spcPts val="0"/>
              </a:spcBef>
              <a:spcAft>
                <a:spcPts val="0"/>
              </a:spcAft>
              <a:buClr>
                <a:srgbClr val="1D1C1D"/>
              </a:buClr>
              <a:buSzPts val="1100"/>
              <a:buChar char="○"/>
            </a:pPr>
            <a:r>
              <a:rPr lang="en-GB" sz="1100">
                <a:solidFill>
                  <a:srgbClr val="1D1C1D"/>
                </a:solidFill>
              </a:rPr>
              <a:t>Dropped columns we didn’t need</a:t>
            </a:r>
            <a:br>
              <a:rPr lang="en-GB" sz="1100">
                <a:solidFill>
                  <a:srgbClr val="1D1C1D"/>
                </a:solidFill>
              </a:rPr>
            </a:br>
            <a:endParaRPr sz="1100">
              <a:solidFill>
                <a:srgbClr val="1D1C1D"/>
              </a:solidFill>
            </a:endParaRPr>
          </a:p>
          <a:p>
            <a:pPr indent="-298450" lvl="0" marL="457200" rtl="0" algn="l">
              <a:spcBef>
                <a:spcPts val="0"/>
              </a:spcBef>
              <a:spcAft>
                <a:spcPts val="0"/>
              </a:spcAft>
              <a:buClr>
                <a:srgbClr val="1D1C1D"/>
              </a:buClr>
              <a:buSzPts val="1100"/>
              <a:buChar char="●"/>
            </a:pPr>
            <a:r>
              <a:rPr lang="en-GB">
                <a:solidFill>
                  <a:srgbClr val="1D1C1D"/>
                </a:solidFill>
              </a:rPr>
              <a:t>We made some important </a:t>
            </a:r>
            <a:r>
              <a:rPr b="1" lang="en-GB">
                <a:solidFill>
                  <a:srgbClr val="1D1C1D"/>
                </a:solidFill>
              </a:rPr>
              <a:t>transformations</a:t>
            </a:r>
            <a:r>
              <a:rPr lang="en-GB">
                <a:solidFill>
                  <a:srgbClr val="1D1C1D"/>
                </a:solidFill>
              </a:rPr>
              <a:t> for example:</a:t>
            </a:r>
            <a:endParaRPr>
              <a:solidFill>
                <a:srgbClr val="1D1C1D"/>
              </a:solidFill>
            </a:endParaRPr>
          </a:p>
          <a:p>
            <a:pPr indent="-298450" lvl="1" marL="914400" rtl="0" algn="l">
              <a:spcBef>
                <a:spcPts val="0"/>
              </a:spcBef>
              <a:spcAft>
                <a:spcPts val="0"/>
              </a:spcAft>
              <a:buClr>
                <a:srgbClr val="1D1C1D"/>
              </a:buClr>
              <a:buSzPts val="1100"/>
              <a:buChar char="○"/>
            </a:pPr>
            <a:r>
              <a:rPr lang="en-GB" sz="1100">
                <a:solidFill>
                  <a:srgbClr val="1D1C1D"/>
                </a:solidFill>
              </a:rPr>
              <a:t>Converted results into percentages to be able to better analyse the data</a:t>
            </a:r>
            <a:endParaRPr sz="1100">
              <a:solidFill>
                <a:srgbClr val="1D1C1D"/>
              </a:solidFill>
            </a:endParaRPr>
          </a:p>
          <a:p>
            <a:pPr indent="-298450" lvl="1" marL="914400" rtl="0" algn="l">
              <a:spcBef>
                <a:spcPts val="0"/>
              </a:spcBef>
              <a:spcAft>
                <a:spcPts val="0"/>
              </a:spcAft>
              <a:buClr>
                <a:srgbClr val="1D1C1D"/>
              </a:buClr>
              <a:buSzPts val="1100"/>
              <a:buChar char="○"/>
            </a:pPr>
            <a:r>
              <a:rPr lang="en-GB" sz="1100">
                <a:solidFill>
                  <a:srgbClr val="1D1C1D"/>
                </a:solidFill>
              </a:rPr>
              <a:t>Grouped Species into 4 main categories</a:t>
            </a:r>
            <a:endParaRPr sz="1100">
              <a:solidFill>
                <a:srgbClr val="1D1C1D"/>
              </a:solidFill>
            </a:endParaRPr>
          </a:p>
          <a:p>
            <a:pPr indent="-298450" lvl="1" marL="914400" rtl="0" algn="l">
              <a:spcBef>
                <a:spcPts val="0"/>
              </a:spcBef>
              <a:spcAft>
                <a:spcPts val="0"/>
              </a:spcAft>
              <a:buClr>
                <a:srgbClr val="1D1C1D"/>
              </a:buClr>
              <a:buSzPts val="1100"/>
              <a:buChar char="○"/>
            </a:pPr>
            <a:r>
              <a:rPr lang="en-GB" sz="1100">
                <a:solidFill>
                  <a:srgbClr val="1D1C1D"/>
                </a:solidFill>
              </a:rPr>
              <a:t>Using pivot tables to get a better view of the results</a:t>
            </a:r>
            <a:br>
              <a:rPr lang="en-GB" sz="1100">
                <a:solidFill>
                  <a:srgbClr val="1D1C1D"/>
                </a:solidFill>
              </a:rPr>
            </a:br>
            <a:endParaRPr sz="1100">
              <a:solidFill>
                <a:srgbClr val="1D1C1D"/>
              </a:solidFill>
            </a:endParaRPr>
          </a:p>
          <a:p>
            <a:pPr indent="-298450" lvl="0" marL="457200" rtl="0" algn="l">
              <a:spcBef>
                <a:spcPts val="0"/>
              </a:spcBef>
              <a:spcAft>
                <a:spcPts val="0"/>
              </a:spcAft>
              <a:buClr>
                <a:srgbClr val="1D1C1D"/>
              </a:buClr>
              <a:buSzPts val="1100"/>
              <a:buChar char="●"/>
            </a:pPr>
            <a:r>
              <a:rPr b="1" lang="en-GB">
                <a:solidFill>
                  <a:srgbClr val="1D1C1D"/>
                </a:solidFill>
              </a:rPr>
              <a:t>Structural</a:t>
            </a:r>
            <a:r>
              <a:rPr lang="en-GB">
                <a:solidFill>
                  <a:srgbClr val="1D1C1D"/>
                </a:solidFill>
              </a:rPr>
              <a:t> decisions</a:t>
            </a:r>
            <a:endParaRPr>
              <a:solidFill>
                <a:srgbClr val="1D1C1D"/>
              </a:solidFill>
            </a:endParaRPr>
          </a:p>
          <a:p>
            <a:pPr indent="-298450" lvl="1" marL="914400" rtl="0" algn="l">
              <a:spcBef>
                <a:spcPts val="0"/>
              </a:spcBef>
              <a:spcAft>
                <a:spcPts val="0"/>
              </a:spcAft>
              <a:buClr>
                <a:srgbClr val="1D1C1D"/>
              </a:buClr>
              <a:buSzPts val="1100"/>
              <a:buChar char="○"/>
            </a:pPr>
            <a:r>
              <a:rPr lang="en-GB" sz="1100">
                <a:solidFill>
                  <a:srgbClr val="1D1C1D"/>
                </a:solidFill>
              </a:rPr>
              <a:t>Filtering out only USA, excluding territories (for example Puerto Rico, virgin islands)</a:t>
            </a:r>
            <a:endParaRPr sz="1100">
              <a:solidFill>
                <a:srgbClr val="1D1C1D"/>
              </a:solidFill>
            </a:endParaRPr>
          </a:p>
          <a:p>
            <a:pPr indent="-298450" lvl="1" marL="914400" rtl="0" algn="l">
              <a:spcBef>
                <a:spcPts val="0"/>
              </a:spcBef>
              <a:spcAft>
                <a:spcPts val="0"/>
              </a:spcAft>
              <a:buClr>
                <a:srgbClr val="1D1C1D"/>
              </a:buClr>
              <a:buSzPts val="1100"/>
              <a:buChar char="○"/>
            </a:pPr>
            <a:r>
              <a:rPr lang="en-GB" sz="1100">
                <a:solidFill>
                  <a:srgbClr val="1D1C1D"/>
                </a:solidFill>
              </a:rPr>
              <a:t>Grouping the years to before and after 1975 </a:t>
            </a:r>
            <a:endParaRPr sz="1100">
              <a:solidFill>
                <a:srgbClr val="1D1C1D"/>
              </a:solidFill>
            </a:endParaRPr>
          </a:p>
        </p:txBody>
      </p:sp>
      <p:pic>
        <p:nvPicPr>
          <p:cNvPr id="103" name="Google Shape;103;p18"/>
          <p:cNvPicPr preferRelativeResize="0"/>
          <p:nvPr/>
        </p:nvPicPr>
        <p:blipFill>
          <a:blip r:embed="rId3">
            <a:alphaModFix/>
          </a:blip>
          <a:stretch>
            <a:fillRect/>
          </a:stretch>
        </p:blipFill>
        <p:spPr>
          <a:xfrm>
            <a:off x="7218049" y="114749"/>
            <a:ext cx="1562325" cy="796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409075" y="239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ts val="990"/>
              <a:buFont typeface="Arial"/>
              <a:buNone/>
            </a:pPr>
            <a:r>
              <a:rPr b="1" lang="en-GB" sz="4800">
                <a:solidFill>
                  <a:srgbClr val="185E89"/>
                </a:solidFill>
                <a:latin typeface="Neuton"/>
                <a:ea typeface="Neuton"/>
                <a:cs typeface="Neuton"/>
                <a:sym typeface="Neuton"/>
              </a:rPr>
              <a:t>Data structuring</a:t>
            </a:r>
            <a:endParaRPr/>
          </a:p>
          <a:p>
            <a:pPr indent="0" lvl="0" marL="0" rtl="0" algn="l">
              <a:spcBef>
                <a:spcPts val="0"/>
              </a:spcBef>
              <a:spcAft>
                <a:spcPts val="0"/>
              </a:spcAft>
              <a:buNone/>
            </a:pPr>
            <a:r>
              <a:t/>
            </a:r>
            <a:endParaRPr/>
          </a:p>
        </p:txBody>
      </p:sp>
      <p:sp>
        <p:nvSpPr>
          <p:cNvPr id="109" name="Google Shape;109;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500"/>
              </a:spcBef>
              <a:spcAft>
                <a:spcPts val="0"/>
              </a:spcAft>
              <a:buClr>
                <a:srgbClr val="1D1C1D"/>
              </a:buClr>
              <a:buSzPts val="1100"/>
              <a:buChar char="●"/>
            </a:pPr>
            <a:r>
              <a:rPr lang="en-GB">
                <a:solidFill>
                  <a:srgbClr val="1D1C1D"/>
                </a:solidFill>
              </a:rPr>
              <a:t>We created new variables in our data frame in order to support our analysis</a:t>
            </a:r>
            <a:br>
              <a:rPr lang="en-GB">
                <a:solidFill>
                  <a:srgbClr val="1D1C1D"/>
                </a:solidFill>
              </a:rPr>
            </a:br>
            <a:endParaRPr>
              <a:solidFill>
                <a:srgbClr val="1D1C1D"/>
              </a:solidFill>
            </a:endParaRPr>
          </a:p>
          <a:p>
            <a:pPr indent="-298450" lvl="0" marL="457200" rtl="0" algn="l">
              <a:spcBef>
                <a:spcPts val="0"/>
              </a:spcBef>
              <a:spcAft>
                <a:spcPts val="0"/>
              </a:spcAft>
              <a:buClr>
                <a:srgbClr val="1D1C1D"/>
              </a:buClr>
              <a:buSzPts val="1100"/>
              <a:buChar char="●"/>
            </a:pPr>
            <a:r>
              <a:rPr lang="en-GB">
                <a:solidFill>
                  <a:srgbClr val="1D1C1D"/>
                </a:solidFill>
              </a:rPr>
              <a:t>Changed data type where necessary, for example, from object to string</a:t>
            </a:r>
            <a:br>
              <a:rPr lang="en-GB">
                <a:solidFill>
                  <a:srgbClr val="1D1C1D"/>
                </a:solidFill>
              </a:rPr>
            </a:br>
            <a:endParaRPr>
              <a:solidFill>
                <a:srgbClr val="1D1C1D"/>
              </a:solidFill>
            </a:endParaRPr>
          </a:p>
          <a:p>
            <a:pPr indent="-298450" lvl="0" marL="457200" rtl="0" algn="l">
              <a:spcBef>
                <a:spcPts val="0"/>
              </a:spcBef>
              <a:spcAft>
                <a:spcPts val="0"/>
              </a:spcAft>
              <a:buClr>
                <a:srgbClr val="1D1C1D"/>
              </a:buClr>
              <a:buSzPts val="1100"/>
              <a:buChar char="●"/>
            </a:pPr>
            <a:r>
              <a:rPr lang="en-GB">
                <a:solidFill>
                  <a:srgbClr val="1D1C1D"/>
                </a:solidFill>
              </a:rPr>
              <a:t>Groupings and aggregations techniques to organize the data around the key questions we wanted to answer </a:t>
            </a:r>
            <a:br>
              <a:rPr lang="en-GB">
                <a:solidFill>
                  <a:srgbClr val="1D1C1D"/>
                </a:solidFill>
              </a:rPr>
            </a:br>
            <a:endParaRPr>
              <a:solidFill>
                <a:srgbClr val="1D1C1D"/>
              </a:solidFill>
            </a:endParaRPr>
          </a:p>
          <a:p>
            <a:pPr indent="-298450" lvl="0" marL="457200" rtl="0" algn="l">
              <a:spcBef>
                <a:spcPts val="0"/>
              </a:spcBef>
              <a:spcAft>
                <a:spcPts val="0"/>
              </a:spcAft>
              <a:buClr>
                <a:srgbClr val="1D1C1D"/>
              </a:buClr>
              <a:buSzPts val="1100"/>
              <a:buChar char="●"/>
            </a:pPr>
            <a:r>
              <a:rPr lang="en-GB">
                <a:solidFill>
                  <a:srgbClr val="1D1C1D"/>
                </a:solidFill>
              </a:rPr>
              <a:t>Final dataset organization: Clean, structured, and ready for analysis </a:t>
            </a:r>
            <a:endParaRPr>
              <a:solidFill>
                <a:srgbClr val="1D1C1D"/>
              </a:solidFill>
            </a:endParaRPr>
          </a:p>
          <a:p>
            <a:pPr indent="0" lvl="0" marL="0" rtl="0" algn="l">
              <a:spcBef>
                <a:spcPts val="500"/>
              </a:spcBef>
              <a:spcAft>
                <a:spcPts val="1200"/>
              </a:spcAft>
              <a:buNone/>
            </a:pPr>
            <a:r>
              <a:t/>
            </a:r>
            <a:endParaRPr/>
          </a:p>
        </p:txBody>
      </p:sp>
      <p:pic>
        <p:nvPicPr>
          <p:cNvPr id="110" name="Google Shape;110;p19"/>
          <p:cNvPicPr preferRelativeResize="0"/>
          <p:nvPr/>
        </p:nvPicPr>
        <p:blipFill>
          <a:blip r:embed="rId3">
            <a:alphaModFix/>
          </a:blip>
          <a:stretch>
            <a:fillRect/>
          </a:stretch>
        </p:blipFill>
        <p:spPr>
          <a:xfrm>
            <a:off x="7218049" y="114749"/>
            <a:ext cx="1562325" cy="796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ph type="title"/>
          </p:nvPr>
        </p:nvSpPr>
        <p:spPr>
          <a:xfrm>
            <a:off x="409075" y="239475"/>
            <a:ext cx="8520600" cy="796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ts val="990"/>
              <a:buFont typeface="Arial"/>
              <a:buNone/>
            </a:pPr>
            <a:r>
              <a:rPr b="1" lang="en-GB" sz="4800">
                <a:solidFill>
                  <a:srgbClr val="185E89"/>
                </a:solidFill>
                <a:latin typeface="Neuton"/>
                <a:ea typeface="Neuton"/>
                <a:cs typeface="Neuton"/>
                <a:sym typeface="Neuton"/>
              </a:rPr>
              <a:t>Major challenge</a:t>
            </a:r>
            <a:endParaRPr/>
          </a:p>
          <a:p>
            <a:pPr indent="0" lvl="0" marL="0" rtl="0" algn="l">
              <a:spcBef>
                <a:spcPts val="0"/>
              </a:spcBef>
              <a:spcAft>
                <a:spcPts val="0"/>
              </a:spcAft>
              <a:buNone/>
            </a:pPr>
            <a:r>
              <a:t/>
            </a:r>
            <a:endParaRPr/>
          </a:p>
        </p:txBody>
      </p:sp>
      <p:sp>
        <p:nvSpPr>
          <p:cNvPr id="116" name="Google Shape;11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500"/>
              </a:spcBef>
              <a:spcAft>
                <a:spcPts val="0"/>
              </a:spcAft>
              <a:buNone/>
            </a:pPr>
            <a:r>
              <a:t/>
            </a:r>
            <a:endParaRPr sz="1100">
              <a:solidFill>
                <a:srgbClr val="1D1C1D"/>
              </a:solidFill>
            </a:endParaRPr>
          </a:p>
          <a:p>
            <a:pPr indent="-298450" lvl="0" marL="457200" rtl="0" algn="l">
              <a:spcBef>
                <a:spcPts val="500"/>
              </a:spcBef>
              <a:spcAft>
                <a:spcPts val="0"/>
              </a:spcAft>
              <a:buClr>
                <a:srgbClr val="1D1C1D"/>
              </a:buClr>
              <a:buSzPts val="1100"/>
              <a:buChar char="●"/>
            </a:pPr>
            <a:r>
              <a:rPr lang="en-GB">
                <a:solidFill>
                  <a:srgbClr val="1D1C1D"/>
                </a:solidFill>
              </a:rPr>
              <a:t>Qualitative data in o</a:t>
            </a:r>
            <a:r>
              <a:rPr lang="en-GB" sz="1100">
                <a:solidFill>
                  <a:srgbClr val="1D1C1D"/>
                </a:solidFill>
              </a:rPr>
              <a:t>pen text fields makes analysing and reporting on data very difficult because of the large number of unique entries</a:t>
            </a:r>
            <a:r>
              <a:rPr lang="en-GB">
                <a:solidFill>
                  <a:srgbClr val="1D1C1D"/>
                </a:solidFill>
              </a:rPr>
              <a:t>, for example “injury” and “species”.</a:t>
            </a:r>
            <a:br>
              <a:rPr lang="en-GB">
                <a:solidFill>
                  <a:srgbClr val="1D1C1D"/>
                </a:solidFill>
              </a:rPr>
            </a:br>
            <a:endParaRPr>
              <a:solidFill>
                <a:srgbClr val="1D1C1D"/>
              </a:solidFill>
            </a:endParaRPr>
          </a:p>
          <a:p>
            <a:pPr indent="-298450" lvl="0" marL="457200" rtl="0" algn="l">
              <a:spcBef>
                <a:spcPts val="0"/>
              </a:spcBef>
              <a:spcAft>
                <a:spcPts val="0"/>
              </a:spcAft>
              <a:buClr>
                <a:srgbClr val="1D1C1D"/>
              </a:buClr>
              <a:buSzPts val="1100"/>
              <a:buChar char="●"/>
            </a:pPr>
            <a:r>
              <a:rPr lang="en-GB" sz="1100">
                <a:solidFill>
                  <a:srgbClr val="1D1C1D"/>
                </a:solidFill>
              </a:rPr>
              <a:t>Some of the values under "Type" column were not clear - provoked, unprovoked. So, we looked at "</a:t>
            </a:r>
            <a:r>
              <a:rPr lang="en-GB">
                <a:solidFill>
                  <a:srgbClr val="1D1C1D"/>
                </a:solidFill>
              </a:rPr>
              <a:t>injury</a:t>
            </a:r>
            <a:r>
              <a:rPr lang="en-GB" sz="1100">
                <a:solidFill>
                  <a:srgbClr val="1D1C1D"/>
                </a:solidFill>
              </a:rPr>
              <a:t>" and </a:t>
            </a:r>
            <a:r>
              <a:rPr lang="en-GB">
                <a:solidFill>
                  <a:srgbClr val="1D1C1D"/>
                </a:solidFill>
              </a:rPr>
              <a:t>"species"</a:t>
            </a:r>
            <a:r>
              <a:rPr lang="en-GB" sz="1100">
                <a:solidFill>
                  <a:srgbClr val="1D1C1D"/>
                </a:solidFill>
              </a:rPr>
              <a:t> </a:t>
            </a:r>
            <a:br>
              <a:rPr lang="en-GB" sz="1100">
                <a:solidFill>
                  <a:srgbClr val="1D1C1D"/>
                </a:solidFill>
              </a:rPr>
            </a:br>
            <a:r>
              <a:rPr lang="en-GB" sz="1100">
                <a:solidFill>
                  <a:srgbClr val="1D1C1D"/>
                </a:solidFill>
              </a:rPr>
              <a:t>column and there were some useful information</a:t>
            </a:r>
            <a:r>
              <a:rPr lang="en-GB">
                <a:solidFill>
                  <a:srgbClr val="1D1C1D"/>
                </a:solidFill>
              </a:rPr>
              <a:t> which lead us to drop some values completely from the data frame.</a:t>
            </a:r>
            <a:br>
              <a:rPr lang="en-GB">
                <a:solidFill>
                  <a:srgbClr val="1D1C1D"/>
                </a:solidFill>
              </a:rPr>
            </a:br>
            <a:endParaRPr b="1">
              <a:solidFill>
                <a:srgbClr val="1D1C1D"/>
              </a:solidFill>
            </a:endParaRPr>
          </a:p>
          <a:p>
            <a:pPr indent="-298450" lvl="0" marL="457200" rtl="0" algn="l">
              <a:spcBef>
                <a:spcPts val="0"/>
              </a:spcBef>
              <a:spcAft>
                <a:spcPts val="0"/>
              </a:spcAft>
              <a:buClr>
                <a:srgbClr val="1D1C1D"/>
              </a:buClr>
              <a:buSzPts val="1100"/>
              <a:buChar char="●"/>
            </a:pPr>
            <a:r>
              <a:rPr lang="en-GB">
                <a:solidFill>
                  <a:srgbClr val="1D1C1D"/>
                </a:solidFill>
              </a:rPr>
              <a:t>Some columns have messy values.</a:t>
            </a:r>
            <a:br>
              <a:rPr lang="en-GB">
                <a:solidFill>
                  <a:srgbClr val="1D1C1D"/>
                </a:solidFill>
              </a:rPr>
            </a:br>
            <a:endParaRPr>
              <a:solidFill>
                <a:srgbClr val="1D1C1D"/>
              </a:solidFill>
            </a:endParaRPr>
          </a:p>
          <a:p>
            <a:pPr indent="-298450" lvl="0" marL="457200" rtl="0" algn="l">
              <a:spcBef>
                <a:spcPts val="0"/>
              </a:spcBef>
              <a:spcAft>
                <a:spcPts val="0"/>
              </a:spcAft>
              <a:buClr>
                <a:srgbClr val="1D1C1D"/>
              </a:buClr>
              <a:buSzPts val="1100"/>
              <a:buChar char="●"/>
            </a:pPr>
            <a:r>
              <a:rPr lang="en-GB">
                <a:solidFill>
                  <a:srgbClr val="1D1C1D"/>
                </a:solidFill>
              </a:rPr>
              <a:t>Analysing data that has a correlation does not necessarily mean causation. For example, more incidents happened after the Jaws was released, does not mean that the movie is responsible for this. Understanding that we don’t know the answers to all the Why’s and that often further research is needed.</a:t>
            </a:r>
            <a:endParaRPr>
              <a:solidFill>
                <a:srgbClr val="1D1C1D"/>
              </a:solidFill>
            </a:endParaRPr>
          </a:p>
        </p:txBody>
      </p:sp>
      <p:pic>
        <p:nvPicPr>
          <p:cNvPr id="117" name="Google Shape;117;p20"/>
          <p:cNvPicPr preferRelativeResize="0"/>
          <p:nvPr/>
        </p:nvPicPr>
        <p:blipFill>
          <a:blip r:embed="rId3">
            <a:alphaModFix/>
          </a:blip>
          <a:stretch>
            <a:fillRect/>
          </a:stretch>
        </p:blipFill>
        <p:spPr>
          <a:xfrm>
            <a:off x="7218049" y="114749"/>
            <a:ext cx="1562325" cy="796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type="title"/>
          </p:nvPr>
        </p:nvSpPr>
        <p:spPr>
          <a:xfrm>
            <a:off x="409075" y="11473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ts val="990"/>
              <a:buFont typeface="Arial"/>
              <a:buNone/>
            </a:pPr>
            <a:r>
              <a:rPr b="1" lang="en-GB" sz="4800">
                <a:solidFill>
                  <a:srgbClr val="185E89"/>
                </a:solidFill>
                <a:latin typeface="Neuton"/>
                <a:ea typeface="Neuton"/>
                <a:cs typeface="Neuton"/>
                <a:sym typeface="Neuton"/>
              </a:rPr>
              <a:t>Final insights</a:t>
            </a:r>
            <a:endParaRPr/>
          </a:p>
          <a:p>
            <a:pPr indent="0" lvl="0" marL="0" rtl="0" algn="l">
              <a:spcBef>
                <a:spcPts val="0"/>
              </a:spcBef>
              <a:spcAft>
                <a:spcPts val="0"/>
              </a:spcAft>
              <a:buNone/>
            </a:pPr>
            <a:r>
              <a:t/>
            </a:r>
            <a:endParaRPr/>
          </a:p>
        </p:txBody>
      </p:sp>
      <p:sp>
        <p:nvSpPr>
          <p:cNvPr id="123" name="Google Shape;123;p21"/>
          <p:cNvSpPr txBox="1"/>
          <p:nvPr>
            <p:ph idx="1" type="body"/>
          </p:nvPr>
        </p:nvSpPr>
        <p:spPr>
          <a:xfrm>
            <a:off x="109425" y="3215373"/>
            <a:ext cx="5552400" cy="1782300"/>
          </a:xfrm>
          <a:prstGeom prst="rect">
            <a:avLst/>
          </a:prstGeom>
        </p:spPr>
        <p:txBody>
          <a:bodyPr anchorCtr="0" anchor="t" bIns="91425" lIns="91425" spcFirstLastPara="1" rIns="91425" wrap="square" tIns="91425">
            <a:normAutofit/>
          </a:bodyPr>
          <a:lstStyle/>
          <a:p>
            <a:pPr indent="0" lvl="0" marL="0" rtl="0" algn="l">
              <a:lnSpc>
                <a:spcPct val="105000"/>
              </a:lnSpc>
              <a:spcBef>
                <a:spcPts val="500"/>
              </a:spcBef>
              <a:spcAft>
                <a:spcPts val="0"/>
              </a:spcAft>
              <a:buNone/>
            </a:pPr>
            <a:r>
              <a:rPr b="1" lang="en-GB" sz="1150">
                <a:solidFill>
                  <a:srgbClr val="1D1C1D"/>
                </a:solidFill>
              </a:rPr>
              <a:t>Potential applications</a:t>
            </a:r>
            <a:endParaRPr b="1" sz="1150">
              <a:solidFill>
                <a:srgbClr val="1D1C1D"/>
              </a:solidFill>
            </a:endParaRPr>
          </a:p>
          <a:p>
            <a:pPr indent="-301625" lvl="0" marL="457200" rtl="0" algn="l">
              <a:lnSpc>
                <a:spcPct val="105000"/>
              </a:lnSpc>
              <a:spcBef>
                <a:spcPts val="500"/>
              </a:spcBef>
              <a:spcAft>
                <a:spcPts val="0"/>
              </a:spcAft>
              <a:buSzPts val="1150"/>
              <a:buChar char="●"/>
            </a:pPr>
            <a:r>
              <a:rPr lang="en-GB" sz="1150">
                <a:solidFill>
                  <a:srgbClr val="1F1F1F"/>
                </a:solidFill>
                <a:highlight>
                  <a:schemeClr val="lt1"/>
                </a:highlight>
              </a:rPr>
              <a:t>Launch the awareness campaign in Florida, since they have the highest percentage of shark incidents</a:t>
            </a:r>
            <a:endParaRPr sz="1150">
              <a:solidFill>
                <a:srgbClr val="1F1F1F"/>
              </a:solidFill>
              <a:highlight>
                <a:schemeClr val="lt1"/>
              </a:highlight>
            </a:endParaRPr>
          </a:p>
          <a:p>
            <a:pPr indent="-301625" lvl="0" marL="457200" rtl="0" algn="l">
              <a:lnSpc>
                <a:spcPct val="105000"/>
              </a:lnSpc>
              <a:spcBef>
                <a:spcPts val="0"/>
              </a:spcBef>
              <a:spcAft>
                <a:spcPts val="0"/>
              </a:spcAft>
              <a:buSzPts val="1150"/>
              <a:buChar char="●"/>
            </a:pPr>
            <a:r>
              <a:rPr lang="en-GB" sz="1150">
                <a:solidFill>
                  <a:schemeClr val="dk1"/>
                </a:solidFill>
              </a:rPr>
              <a:t>Conduct further research on shark migration patterns for the bull shark, tiger shark and white shark to better understand these species that are involved in many incidents</a:t>
            </a:r>
            <a:endParaRPr sz="1150">
              <a:solidFill>
                <a:schemeClr val="dk1"/>
              </a:solidFill>
            </a:endParaRPr>
          </a:p>
          <a:p>
            <a:pPr indent="-301625" lvl="0" marL="457200" rtl="0" algn="l">
              <a:lnSpc>
                <a:spcPct val="105000"/>
              </a:lnSpc>
              <a:spcBef>
                <a:spcPts val="0"/>
              </a:spcBef>
              <a:spcAft>
                <a:spcPts val="0"/>
              </a:spcAft>
              <a:buSzPts val="1150"/>
              <a:buChar char="●"/>
            </a:pPr>
            <a:r>
              <a:rPr lang="en-GB" sz="1150">
                <a:solidFill>
                  <a:schemeClr val="dk1"/>
                </a:solidFill>
              </a:rPr>
              <a:t>Use verified statistics to debunk the myth of "increasingly aggressive" shark behavior. </a:t>
            </a:r>
            <a:endParaRPr sz="1150"/>
          </a:p>
        </p:txBody>
      </p:sp>
      <p:pic>
        <p:nvPicPr>
          <p:cNvPr id="124" name="Google Shape;124;p21"/>
          <p:cNvPicPr preferRelativeResize="0"/>
          <p:nvPr/>
        </p:nvPicPr>
        <p:blipFill>
          <a:blip r:embed="rId3">
            <a:alphaModFix/>
          </a:blip>
          <a:stretch>
            <a:fillRect/>
          </a:stretch>
        </p:blipFill>
        <p:spPr>
          <a:xfrm>
            <a:off x="7218049" y="114749"/>
            <a:ext cx="1562325" cy="796775"/>
          </a:xfrm>
          <a:prstGeom prst="rect">
            <a:avLst/>
          </a:prstGeom>
          <a:noFill/>
          <a:ln>
            <a:noFill/>
          </a:ln>
        </p:spPr>
      </p:pic>
      <p:sp>
        <p:nvSpPr>
          <p:cNvPr id="125" name="Google Shape;125;p21"/>
          <p:cNvSpPr txBox="1"/>
          <p:nvPr/>
        </p:nvSpPr>
        <p:spPr>
          <a:xfrm>
            <a:off x="6127825" y="1261650"/>
            <a:ext cx="2940300" cy="262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500"/>
              </a:spcBef>
              <a:spcAft>
                <a:spcPts val="0"/>
              </a:spcAft>
              <a:buClr>
                <a:schemeClr val="dk1"/>
              </a:buClr>
              <a:buSzPts val="1100"/>
              <a:buFont typeface="Arial"/>
              <a:buNone/>
            </a:pPr>
            <a:r>
              <a:rPr b="1" lang="en-GB" sz="1250">
                <a:solidFill>
                  <a:srgbClr val="1D1C1D"/>
                </a:solidFill>
              </a:rPr>
              <a:t>Conclusions</a:t>
            </a:r>
            <a:endParaRPr b="1" sz="1250">
              <a:solidFill>
                <a:srgbClr val="1D1C1D"/>
              </a:solidFill>
            </a:endParaRPr>
          </a:p>
          <a:p>
            <a:pPr indent="457200" lvl="0" marL="0" rtl="0" algn="l">
              <a:lnSpc>
                <a:spcPct val="115000"/>
              </a:lnSpc>
              <a:spcBef>
                <a:spcPts val="500"/>
              </a:spcBef>
              <a:spcAft>
                <a:spcPts val="500"/>
              </a:spcAft>
              <a:buClr>
                <a:schemeClr val="dk1"/>
              </a:buClr>
              <a:buSzPts val="1100"/>
              <a:buFont typeface="Arial"/>
              <a:buNone/>
            </a:pPr>
            <a:r>
              <a:rPr lang="en-GB" sz="1150">
                <a:solidFill>
                  <a:schemeClr val="dk1"/>
                </a:solidFill>
                <a:highlight>
                  <a:schemeClr val="lt1"/>
                </a:highlight>
              </a:rPr>
              <a:t>Our data shows that most of the encounters are </a:t>
            </a:r>
            <a:r>
              <a:rPr b="1" lang="en-GB" sz="1150">
                <a:solidFill>
                  <a:schemeClr val="dk1"/>
                </a:solidFill>
                <a:highlight>
                  <a:schemeClr val="lt1"/>
                </a:highlight>
              </a:rPr>
              <a:t>not fatal</a:t>
            </a:r>
            <a:r>
              <a:rPr lang="en-GB" sz="1150">
                <a:solidFill>
                  <a:schemeClr val="dk1"/>
                </a:solidFill>
                <a:highlight>
                  <a:schemeClr val="lt1"/>
                </a:highlight>
              </a:rPr>
              <a:t>. Unprovoked incidents carry a fatality rate of 8.45%, Although, it is 6 times higher than provoked incidents at 1.29%, it's only fatal at this level. If sharks were bloodthirsty killers, they wouldn't leave almost 92% of their unprovoked encounters alive. Even the most feared encounters are rarely fatal. </a:t>
            </a:r>
            <a:br>
              <a:rPr lang="en-GB" sz="1150">
                <a:solidFill>
                  <a:schemeClr val="dk1"/>
                </a:solidFill>
                <a:highlight>
                  <a:schemeClr val="lt1"/>
                </a:highlight>
              </a:rPr>
            </a:br>
            <a:endParaRPr sz="1700">
              <a:solidFill>
                <a:schemeClr val="dk2"/>
              </a:solidFill>
            </a:endParaRPr>
          </a:p>
        </p:txBody>
      </p:sp>
      <p:pic>
        <p:nvPicPr>
          <p:cNvPr id="126" name="Google Shape;126;p21" title="Key board3.png"/>
          <p:cNvPicPr preferRelativeResize="0"/>
          <p:nvPr/>
        </p:nvPicPr>
        <p:blipFill>
          <a:blip r:embed="rId4">
            <a:alphaModFix/>
          </a:blip>
          <a:stretch>
            <a:fillRect/>
          </a:stretch>
        </p:blipFill>
        <p:spPr>
          <a:xfrm>
            <a:off x="152400" y="933073"/>
            <a:ext cx="5808192" cy="222313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409075" y="239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ts val="990"/>
              <a:buFont typeface="Arial"/>
              <a:buNone/>
            </a:pPr>
            <a:r>
              <a:rPr b="1" lang="en-GB" sz="4800">
                <a:solidFill>
                  <a:srgbClr val="185E89"/>
                </a:solidFill>
                <a:latin typeface="Neuton"/>
                <a:ea typeface="Neuton"/>
                <a:cs typeface="Neuton"/>
                <a:sym typeface="Neuton"/>
              </a:rPr>
              <a:t>Final insights</a:t>
            </a:r>
            <a:endParaRPr/>
          </a:p>
          <a:p>
            <a:pPr indent="0" lvl="0" marL="0" rtl="0" algn="l">
              <a:spcBef>
                <a:spcPts val="0"/>
              </a:spcBef>
              <a:spcAft>
                <a:spcPts val="0"/>
              </a:spcAft>
              <a:buNone/>
            </a:pPr>
            <a:r>
              <a:t/>
            </a:r>
            <a:endParaRPr/>
          </a:p>
        </p:txBody>
      </p:sp>
      <p:sp>
        <p:nvSpPr>
          <p:cNvPr id="132" name="Google Shape;132;p22"/>
          <p:cNvSpPr txBox="1"/>
          <p:nvPr>
            <p:ph idx="1" type="body"/>
          </p:nvPr>
        </p:nvSpPr>
        <p:spPr>
          <a:xfrm>
            <a:off x="311700" y="1155225"/>
            <a:ext cx="8520600" cy="3642300"/>
          </a:xfrm>
          <a:prstGeom prst="rect">
            <a:avLst/>
          </a:prstGeom>
        </p:spPr>
        <p:txBody>
          <a:bodyPr anchorCtr="0" anchor="t" bIns="91425" lIns="91425" spcFirstLastPara="1" rIns="91425" wrap="square" tIns="91425">
            <a:normAutofit/>
          </a:bodyPr>
          <a:lstStyle/>
          <a:p>
            <a:pPr indent="0" lvl="0" marL="0" rtl="0" algn="l">
              <a:spcBef>
                <a:spcPts val="500"/>
              </a:spcBef>
              <a:spcAft>
                <a:spcPts val="0"/>
              </a:spcAft>
              <a:buNone/>
            </a:pPr>
            <a:r>
              <a:rPr lang="en-GB">
                <a:solidFill>
                  <a:srgbClr val="1D1C1D"/>
                </a:solidFill>
              </a:rPr>
              <a:t>Type: </a:t>
            </a:r>
            <a:r>
              <a:rPr lang="en-GB">
                <a:solidFill>
                  <a:schemeClr val="dk1"/>
                </a:solidFill>
                <a:highlight>
                  <a:srgbClr val="FFFFFF"/>
                </a:highlight>
              </a:rPr>
              <a:t>What proportion of shark incidents are unprovoked vs. provoked? And what is the fatality rate?</a:t>
            </a:r>
            <a:endParaRPr>
              <a:solidFill>
                <a:srgbClr val="1D1C1D"/>
              </a:solidFill>
            </a:endParaRPr>
          </a:p>
          <a:p>
            <a:pPr indent="0" lvl="0" marL="0" rtl="0" algn="l">
              <a:spcBef>
                <a:spcPts val="500"/>
              </a:spcBef>
              <a:spcAft>
                <a:spcPts val="0"/>
              </a:spcAft>
              <a:buNone/>
            </a:pPr>
            <a:r>
              <a:t/>
            </a:r>
            <a:endParaRPr>
              <a:solidFill>
                <a:srgbClr val="1D1C1D"/>
              </a:solidFill>
            </a:endParaRPr>
          </a:p>
          <a:p>
            <a:pPr indent="0" lvl="0" marL="0" rtl="0" algn="l">
              <a:spcBef>
                <a:spcPts val="500"/>
              </a:spcBef>
              <a:spcAft>
                <a:spcPts val="0"/>
              </a:spcAft>
              <a:buNone/>
            </a:pPr>
            <a:r>
              <a:t/>
            </a:r>
            <a:endParaRPr>
              <a:solidFill>
                <a:srgbClr val="1D1C1D"/>
              </a:solidFill>
            </a:endParaRPr>
          </a:p>
          <a:p>
            <a:pPr indent="0" lvl="0" marL="0" rtl="0" algn="l">
              <a:spcBef>
                <a:spcPts val="500"/>
              </a:spcBef>
              <a:spcAft>
                <a:spcPts val="0"/>
              </a:spcAft>
              <a:buNone/>
            </a:pPr>
            <a:r>
              <a:t/>
            </a:r>
            <a:endParaRPr>
              <a:solidFill>
                <a:srgbClr val="1D1C1D"/>
              </a:solidFill>
            </a:endParaRPr>
          </a:p>
          <a:p>
            <a:pPr indent="0" lvl="0" marL="0" rtl="0" algn="l">
              <a:spcBef>
                <a:spcPts val="500"/>
              </a:spcBef>
              <a:spcAft>
                <a:spcPts val="0"/>
              </a:spcAft>
              <a:buNone/>
            </a:pPr>
            <a:r>
              <a:t/>
            </a:r>
            <a:endParaRPr>
              <a:solidFill>
                <a:srgbClr val="1D1C1D"/>
              </a:solidFill>
            </a:endParaRPr>
          </a:p>
          <a:p>
            <a:pPr indent="0" lvl="0" marL="0" rtl="0" algn="l">
              <a:spcBef>
                <a:spcPts val="500"/>
              </a:spcBef>
              <a:spcAft>
                <a:spcPts val="0"/>
              </a:spcAft>
              <a:buNone/>
            </a:pPr>
            <a:r>
              <a:t/>
            </a:r>
            <a:endParaRPr>
              <a:solidFill>
                <a:srgbClr val="1D1C1D"/>
              </a:solidFill>
            </a:endParaRPr>
          </a:p>
          <a:p>
            <a:pPr indent="0" lvl="0" marL="0" rtl="0" algn="l">
              <a:spcBef>
                <a:spcPts val="500"/>
              </a:spcBef>
              <a:spcAft>
                <a:spcPts val="0"/>
              </a:spcAft>
              <a:buNone/>
            </a:pPr>
            <a:r>
              <a:t/>
            </a:r>
            <a:endParaRPr>
              <a:solidFill>
                <a:srgbClr val="1D1C1D"/>
              </a:solidFill>
            </a:endParaRPr>
          </a:p>
          <a:p>
            <a:pPr indent="0" lvl="0" marL="0" rtl="0" algn="l">
              <a:spcBef>
                <a:spcPts val="500"/>
              </a:spcBef>
              <a:spcAft>
                <a:spcPts val="0"/>
              </a:spcAft>
              <a:buNone/>
            </a:pPr>
            <a:r>
              <a:rPr lang="en-GB">
                <a:solidFill>
                  <a:srgbClr val="1D1C1D"/>
                </a:solidFill>
              </a:rPr>
              <a:t>Species:</a:t>
            </a:r>
            <a:r>
              <a:rPr lang="en-GB">
                <a:solidFill>
                  <a:schemeClr val="dk1"/>
                </a:solidFill>
                <a:highlight>
                  <a:srgbClr val="FFFFFF"/>
                </a:highlight>
              </a:rPr>
              <a:t>Which species are involved — and are they truly dangerous?</a:t>
            </a:r>
            <a:endParaRPr>
              <a:solidFill>
                <a:srgbClr val="1D1C1D"/>
              </a:solidFill>
            </a:endParaRPr>
          </a:p>
          <a:p>
            <a:pPr indent="0" lvl="0" marL="457200" rtl="0" algn="l">
              <a:spcBef>
                <a:spcPts val="500"/>
              </a:spcBef>
              <a:spcAft>
                <a:spcPts val="0"/>
              </a:spcAft>
              <a:buNone/>
            </a:pPr>
            <a:r>
              <a:t/>
            </a:r>
            <a:endParaRPr sz="1100">
              <a:solidFill>
                <a:srgbClr val="1D1C1D"/>
              </a:solidFill>
            </a:endParaRPr>
          </a:p>
          <a:p>
            <a:pPr indent="0" lvl="0" marL="0" rtl="0" algn="l">
              <a:spcBef>
                <a:spcPts val="500"/>
              </a:spcBef>
              <a:spcAft>
                <a:spcPts val="1200"/>
              </a:spcAft>
              <a:buNone/>
            </a:pPr>
            <a:r>
              <a:t/>
            </a:r>
            <a:endParaRPr/>
          </a:p>
        </p:txBody>
      </p:sp>
      <p:pic>
        <p:nvPicPr>
          <p:cNvPr id="133" name="Google Shape;133;p22"/>
          <p:cNvPicPr preferRelativeResize="0"/>
          <p:nvPr/>
        </p:nvPicPr>
        <p:blipFill>
          <a:blip r:embed="rId3">
            <a:alphaModFix/>
          </a:blip>
          <a:stretch>
            <a:fillRect/>
          </a:stretch>
        </p:blipFill>
        <p:spPr>
          <a:xfrm>
            <a:off x="7218049" y="114749"/>
            <a:ext cx="1562325" cy="796775"/>
          </a:xfrm>
          <a:prstGeom prst="rect">
            <a:avLst/>
          </a:prstGeom>
          <a:noFill/>
          <a:ln>
            <a:noFill/>
          </a:ln>
        </p:spPr>
      </p:pic>
      <p:pic>
        <p:nvPicPr>
          <p:cNvPr id="134" name="Google Shape;134;p22" title="得分"/>
          <p:cNvPicPr preferRelativeResize="0"/>
          <p:nvPr/>
        </p:nvPicPr>
        <p:blipFill>
          <a:blip r:embed="rId4">
            <a:alphaModFix/>
          </a:blip>
          <a:stretch>
            <a:fillRect/>
          </a:stretch>
        </p:blipFill>
        <p:spPr>
          <a:xfrm>
            <a:off x="4349691" y="3304725"/>
            <a:ext cx="4283385" cy="1559675"/>
          </a:xfrm>
          <a:prstGeom prst="rect">
            <a:avLst/>
          </a:prstGeom>
          <a:noFill/>
          <a:ln>
            <a:noFill/>
          </a:ln>
        </p:spPr>
      </p:pic>
      <p:pic>
        <p:nvPicPr>
          <p:cNvPr id="135" name="Google Shape;135;p22" title="得分"/>
          <p:cNvPicPr preferRelativeResize="0"/>
          <p:nvPr/>
        </p:nvPicPr>
        <p:blipFill>
          <a:blip r:embed="rId5">
            <a:alphaModFix/>
          </a:blip>
          <a:stretch>
            <a:fillRect/>
          </a:stretch>
        </p:blipFill>
        <p:spPr>
          <a:xfrm>
            <a:off x="4771900" y="1453700"/>
            <a:ext cx="3703899" cy="1597801"/>
          </a:xfrm>
          <a:prstGeom prst="rect">
            <a:avLst/>
          </a:prstGeom>
          <a:noFill/>
          <a:ln>
            <a:noFill/>
          </a:ln>
        </p:spPr>
      </p:pic>
      <p:pic>
        <p:nvPicPr>
          <p:cNvPr id="136" name="Google Shape;136;p22"/>
          <p:cNvPicPr preferRelativeResize="0"/>
          <p:nvPr/>
        </p:nvPicPr>
        <p:blipFill>
          <a:blip r:embed="rId6">
            <a:alphaModFix/>
          </a:blip>
          <a:stretch>
            <a:fillRect/>
          </a:stretch>
        </p:blipFill>
        <p:spPr>
          <a:xfrm>
            <a:off x="409075" y="1649072"/>
            <a:ext cx="3422800" cy="1110625"/>
          </a:xfrm>
          <a:prstGeom prst="rect">
            <a:avLst/>
          </a:prstGeom>
          <a:noFill/>
          <a:ln>
            <a:noFill/>
          </a:ln>
        </p:spPr>
      </p:pic>
      <p:pic>
        <p:nvPicPr>
          <p:cNvPr id="137" name="Google Shape;137;p22"/>
          <p:cNvPicPr preferRelativeResize="0"/>
          <p:nvPr/>
        </p:nvPicPr>
        <p:blipFill>
          <a:blip r:embed="rId7">
            <a:alphaModFix/>
          </a:blip>
          <a:stretch>
            <a:fillRect/>
          </a:stretch>
        </p:blipFill>
        <p:spPr>
          <a:xfrm>
            <a:off x="409075" y="3454138"/>
            <a:ext cx="3624674" cy="1378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type="title"/>
          </p:nvPr>
        </p:nvSpPr>
        <p:spPr>
          <a:xfrm>
            <a:off x="409075" y="239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ts val="990"/>
              <a:buFont typeface="Arial"/>
              <a:buNone/>
            </a:pPr>
            <a:r>
              <a:rPr b="1" lang="en-GB" sz="4800">
                <a:solidFill>
                  <a:srgbClr val="185E89"/>
                </a:solidFill>
                <a:latin typeface="Neuton"/>
                <a:ea typeface="Neuton"/>
                <a:cs typeface="Neuton"/>
                <a:sym typeface="Neuton"/>
              </a:rPr>
              <a:t>Final insights</a:t>
            </a:r>
            <a:endParaRPr/>
          </a:p>
          <a:p>
            <a:pPr indent="0" lvl="0" marL="0" rtl="0" algn="l">
              <a:spcBef>
                <a:spcPts val="0"/>
              </a:spcBef>
              <a:spcAft>
                <a:spcPts val="0"/>
              </a:spcAft>
              <a:buNone/>
            </a:pPr>
            <a:r>
              <a:t/>
            </a:r>
            <a:endParaRPr/>
          </a:p>
        </p:txBody>
      </p:sp>
      <p:sp>
        <p:nvSpPr>
          <p:cNvPr id="143" name="Google Shape;143;p23"/>
          <p:cNvSpPr txBox="1"/>
          <p:nvPr>
            <p:ph idx="1" type="body"/>
          </p:nvPr>
        </p:nvSpPr>
        <p:spPr>
          <a:xfrm>
            <a:off x="311700" y="1155225"/>
            <a:ext cx="8520600" cy="3642300"/>
          </a:xfrm>
          <a:prstGeom prst="rect">
            <a:avLst/>
          </a:prstGeom>
        </p:spPr>
        <p:txBody>
          <a:bodyPr anchorCtr="0" anchor="t" bIns="91425" lIns="91425" spcFirstLastPara="1" rIns="91425" wrap="square" tIns="91425">
            <a:normAutofit/>
          </a:bodyPr>
          <a:lstStyle/>
          <a:p>
            <a:pPr indent="0" lvl="0" marL="0" rtl="0" algn="l">
              <a:spcBef>
                <a:spcPts val="1100"/>
              </a:spcBef>
              <a:spcAft>
                <a:spcPts val="0"/>
              </a:spcAft>
              <a:buNone/>
            </a:pPr>
            <a:r>
              <a:rPr lang="en-GB" sz="1400">
                <a:solidFill>
                  <a:schemeClr val="dk1"/>
                </a:solidFill>
                <a:highlight>
                  <a:srgbClr val="FFFFFF"/>
                </a:highlight>
              </a:rPr>
              <a:t>Gender - Does gender play a role in shark incident patterns?</a:t>
            </a:r>
            <a:endParaRPr sz="1400">
              <a:solidFill>
                <a:schemeClr val="dk1"/>
              </a:solidFill>
              <a:highlight>
                <a:srgbClr val="FFFFFF"/>
              </a:highlight>
            </a:endParaRPr>
          </a:p>
          <a:p>
            <a:pPr indent="0" lvl="0" marL="0" rtl="0" algn="l">
              <a:spcBef>
                <a:spcPts val="1100"/>
              </a:spcBef>
              <a:spcAft>
                <a:spcPts val="0"/>
              </a:spcAft>
              <a:buNone/>
            </a:pPr>
            <a:r>
              <a:t/>
            </a:r>
            <a:endParaRPr sz="1900">
              <a:solidFill>
                <a:schemeClr val="dk1"/>
              </a:solidFill>
              <a:highlight>
                <a:srgbClr val="FFFFFF"/>
              </a:highlight>
            </a:endParaRPr>
          </a:p>
          <a:p>
            <a:pPr indent="0" lvl="0" marL="0" rtl="0" algn="l">
              <a:spcBef>
                <a:spcPts val="1100"/>
              </a:spcBef>
              <a:spcAft>
                <a:spcPts val="0"/>
              </a:spcAft>
              <a:buNone/>
            </a:pPr>
            <a:r>
              <a:t/>
            </a:r>
            <a:endParaRPr sz="1900">
              <a:solidFill>
                <a:schemeClr val="dk1"/>
              </a:solidFill>
              <a:highlight>
                <a:srgbClr val="FFFFFF"/>
              </a:highlight>
            </a:endParaRPr>
          </a:p>
          <a:p>
            <a:pPr indent="0" lvl="0" marL="0" rtl="0" algn="l">
              <a:spcBef>
                <a:spcPts val="500"/>
              </a:spcBef>
              <a:spcAft>
                <a:spcPts val="0"/>
              </a:spcAft>
              <a:buNone/>
            </a:pPr>
            <a:r>
              <a:t/>
            </a:r>
            <a:endParaRPr sz="1900">
              <a:solidFill>
                <a:schemeClr val="dk1"/>
              </a:solidFill>
              <a:highlight>
                <a:srgbClr val="FFFFFF"/>
              </a:highlight>
            </a:endParaRPr>
          </a:p>
          <a:p>
            <a:pPr indent="0" lvl="0" marL="0" rtl="0" algn="l">
              <a:spcBef>
                <a:spcPts val="1100"/>
              </a:spcBef>
              <a:spcAft>
                <a:spcPts val="0"/>
              </a:spcAft>
              <a:buClr>
                <a:schemeClr val="dk1"/>
              </a:buClr>
              <a:buSzPts val="1100"/>
              <a:buFont typeface="Arial"/>
              <a:buNone/>
            </a:pPr>
            <a:r>
              <a:rPr lang="en-GB" sz="1400">
                <a:solidFill>
                  <a:schemeClr val="dk1"/>
                </a:solidFill>
                <a:highlight>
                  <a:srgbClr val="FFFFFF"/>
                </a:highlight>
              </a:rPr>
              <a:t>Year - Has the number of incidents increased over time — and if so, why?</a:t>
            </a:r>
            <a:endParaRPr sz="1400">
              <a:solidFill>
                <a:srgbClr val="1D1C1D"/>
              </a:solidFill>
            </a:endParaRPr>
          </a:p>
          <a:p>
            <a:pPr indent="0" lvl="0" marL="0" rtl="0" algn="l">
              <a:spcBef>
                <a:spcPts val="1100"/>
              </a:spcBef>
              <a:spcAft>
                <a:spcPts val="0"/>
              </a:spcAft>
              <a:buNone/>
            </a:pPr>
            <a:r>
              <a:t/>
            </a:r>
            <a:endParaRPr>
              <a:solidFill>
                <a:srgbClr val="1D1C1D"/>
              </a:solidFill>
            </a:endParaRPr>
          </a:p>
          <a:p>
            <a:pPr indent="0" lvl="0" marL="457200" rtl="0" algn="l">
              <a:spcBef>
                <a:spcPts val="500"/>
              </a:spcBef>
              <a:spcAft>
                <a:spcPts val="0"/>
              </a:spcAft>
              <a:buNone/>
            </a:pPr>
            <a:r>
              <a:t/>
            </a:r>
            <a:endParaRPr sz="1100">
              <a:solidFill>
                <a:srgbClr val="1D1C1D"/>
              </a:solidFill>
            </a:endParaRPr>
          </a:p>
          <a:p>
            <a:pPr indent="0" lvl="0" marL="0" rtl="0" algn="l">
              <a:spcBef>
                <a:spcPts val="500"/>
              </a:spcBef>
              <a:spcAft>
                <a:spcPts val="1200"/>
              </a:spcAft>
              <a:buNone/>
            </a:pPr>
            <a:r>
              <a:t/>
            </a:r>
            <a:endParaRPr/>
          </a:p>
        </p:txBody>
      </p:sp>
      <p:pic>
        <p:nvPicPr>
          <p:cNvPr id="144" name="Google Shape;144;p23"/>
          <p:cNvPicPr preferRelativeResize="0"/>
          <p:nvPr/>
        </p:nvPicPr>
        <p:blipFill>
          <a:blip r:embed="rId3">
            <a:alphaModFix/>
          </a:blip>
          <a:stretch>
            <a:fillRect/>
          </a:stretch>
        </p:blipFill>
        <p:spPr>
          <a:xfrm>
            <a:off x="7218049" y="114749"/>
            <a:ext cx="1562325" cy="796775"/>
          </a:xfrm>
          <a:prstGeom prst="rect">
            <a:avLst/>
          </a:prstGeom>
          <a:noFill/>
          <a:ln>
            <a:noFill/>
          </a:ln>
        </p:spPr>
      </p:pic>
      <p:pic>
        <p:nvPicPr>
          <p:cNvPr id="145" name="Google Shape;145;p23"/>
          <p:cNvPicPr preferRelativeResize="0"/>
          <p:nvPr/>
        </p:nvPicPr>
        <p:blipFill>
          <a:blip r:embed="rId4">
            <a:alphaModFix/>
          </a:blip>
          <a:stretch>
            <a:fillRect/>
          </a:stretch>
        </p:blipFill>
        <p:spPr>
          <a:xfrm>
            <a:off x="474500" y="1788700"/>
            <a:ext cx="2974325" cy="929975"/>
          </a:xfrm>
          <a:prstGeom prst="rect">
            <a:avLst/>
          </a:prstGeom>
          <a:noFill/>
          <a:ln>
            <a:noFill/>
          </a:ln>
        </p:spPr>
      </p:pic>
      <p:pic>
        <p:nvPicPr>
          <p:cNvPr id="146" name="Google Shape;146;p23"/>
          <p:cNvPicPr preferRelativeResize="0"/>
          <p:nvPr/>
        </p:nvPicPr>
        <p:blipFill>
          <a:blip r:embed="rId4">
            <a:alphaModFix/>
          </a:blip>
          <a:stretch>
            <a:fillRect/>
          </a:stretch>
        </p:blipFill>
        <p:spPr>
          <a:xfrm>
            <a:off x="3774876" y="1788700"/>
            <a:ext cx="2974321" cy="929975"/>
          </a:xfrm>
          <a:prstGeom prst="rect">
            <a:avLst/>
          </a:prstGeom>
          <a:noFill/>
          <a:ln>
            <a:noFill/>
          </a:ln>
        </p:spPr>
      </p:pic>
      <p:pic>
        <p:nvPicPr>
          <p:cNvPr id="147" name="Google Shape;147;p23"/>
          <p:cNvPicPr preferRelativeResize="0"/>
          <p:nvPr/>
        </p:nvPicPr>
        <p:blipFill>
          <a:blip r:embed="rId5">
            <a:alphaModFix/>
          </a:blip>
          <a:stretch>
            <a:fillRect/>
          </a:stretch>
        </p:blipFill>
        <p:spPr>
          <a:xfrm>
            <a:off x="409075" y="3526125"/>
            <a:ext cx="5269575" cy="893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409075" y="239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ts val="990"/>
              <a:buFont typeface="Arial"/>
              <a:buNone/>
            </a:pPr>
            <a:r>
              <a:rPr b="1" lang="en-GB" sz="4800">
                <a:solidFill>
                  <a:srgbClr val="185E89"/>
                </a:solidFill>
                <a:latin typeface="Neuton"/>
                <a:ea typeface="Neuton"/>
                <a:cs typeface="Neuton"/>
                <a:sym typeface="Neuton"/>
              </a:rPr>
              <a:t>Final insights</a:t>
            </a:r>
            <a:endParaRPr/>
          </a:p>
          <a:p>
            <a:pPr indent="0" lvl="0" marL="0" rtl="0" algn="l">
              <a:spcBef>
                <a:spcPts val="0"/>
              </a:spcBef>
              <a:spcAft>
                <a:spcPts val="0"/>
              </a:spcAft>
              <a:buNone/>
            </a:pPr>
            <a:r>
              <a:t/>
            </a:r>
            <a:endParaRPr/>
          </a:p>
        </p:txBody>
      </p:sp>
      <p:sp>
        <p:nvSpPr>
          <p:cNvPr id="153" name="Google Shape;153;p24"/>
          <p:cNvSpPr txBox="1"/>
          <p:nvPr>
            <p:ph idx="1" type="body"/>
          </p:nvPr>
        </p:nvSpPr>
        <p:spPr>
          <a:xfrm>
            <a:off x="311700" y="1155225"/>
            <a:ext cx="8520600" cy="3642300"/>
          </a:xfrm>
          <a:prstGeom prst="rect">
            <a:avLst/>
          </a:prstGeom>
        </p:spPr>
        <p:txBody>
          <a:bodyPr anchorCtr="0" anchor="t" bIns="91425" lIns="91425" spcFirstLastPara="1" rIns="91425" wrap="square" tIns="91425">
            <a:normAutofit/>
          </a:bodyPr>
          <a:lstStyle/>
          <a:p>
            <a:pPr indent="0" lvl="0" marL="0" rtl="0" algn="l">
              <a:spcBef>
                <a:spcPts val="1100"/>
              </a:spcBef>
              <a:spcAft>
                <a:spcPts val="0"/>
              </a:spcAft>
              <a:buNone/>
            </a:pPr>
            <a:r>
              <a:rPr lang="en-GB" sz="1900">
                <a:solidFill>
                  <a:schemeClr val="dk1"/>
                </a:solidFill>
                <a:highlight>
                  <a:srgbClr val="FFFFFF"/>
                </a:highlight>
              </a:rPr>
              <a:t>Activity - What are the types of the incidents? Surfing and swimming</a:t>
            </a:r>
            <a:endParaRPr sz="1900">
              <a:solidFill>
                <a:schemeClr val="dk1"/>
              </a:solidFill>
              <a:highlight>
                <a:srgbClr val="FFFFFF"/>
              </a:highlight>
            </a:endParaRPr>
          </a:p>
          <a:p>
            <a:pPr indent="0" lvl="0" marL="0" rtl="0" algn="l">
              <a:spcBef>
                <a:spcPts val="1100"/>
              </a:spcBef>
              <a:spcAft>
                <a:spcPts val="0"/>
              </a:spcAft>
              <a:buNone/>
            </a:pPr>
            <a:r>
              <a:t/>
            </a:r>
            <a:endParaRPr sz="1900">
              <a:solidFill>
                <a:srgbClr val="1D1C1D"/>
              </a:solidFill>
            </a:endParaRPr>
          </a:p>
          <a:p>
            <a:pPr indent="0" lvl="0" marL="0" rtl="0" algn="l">
              <a:spcBef>
                <a:spcPts val="1200"/>
              </a:spcBef>
              <a:spcAft>
                <a:spcPts val="0"/>
              </a:spcAft>
              <a:buNone/>
            </a:pPr>
            <a:r>
              <a:t/>
            </a:r>
            <a:endParaRPr sz="1900">
              <a:solidFill>
                <a:srgbClr val="1D1C1D"/>
              </a:solidFill>
            </a:endParaRPr>
          </a:p>
          <a:p>
            <a:pPr indent="0" lvl="0" marL="0" rtl="0" algn="l">
              <a:spcBef>
                <a:spcPts val="500"/>
              </a:spcBef>
              <a:spcAft>
                <a:spcPts val="0"/>
              </a:spcAft>
              <a:buNone/>
            </a:pPr>
            <a:r>
              <a:t/>
            </a:r>
            <a:endParaRPr sz="1900">
              <a:solidFill>
                <a:srgbClr val="1D1C1D"/>
              </a:solidFill>
            </a:endParaRPr>
          </a:p>
          <a:p>
            <a:pPr indent="0" lvl="0" marL="0" rtl="0" algn="l">
              <a:spcBef>
                <a:spcPts val="500"/>
              </a:spcBef>
              <a:spcAft>
                <a:spcPts val="0"/>
              </a:spcAft>
              <a:buNone/>
            </a:pPr>
            <a:r>
              <a:t/>
            </a:r>
            <a:endParaRPr>
              <a:solidFill>
                <a:srgbClr val="1D1C1D"/>
              </a:solidFill>
            </a:endParaRPr>
          </a:p>
          <a:p>
            <a:pPr indent="0" lvl="0" marL="457200" rtl="0" algn="l">
              <a:spcBef>
                <a:spcPts val="500"/>
              </a:spcBef>
              <a:spcAft>
                <a:spcPts val="0"/>
              </a:spcAft>
              <a:buNone/>
            </a:pPr>
            <a:r>
              <a:t/>
            </a:r>
            <a:endParaRPr sz="1100">
              <a:solidFill>
                <a:srgbClr val="1D1C1D"/>
              </a:solidFill>
            </a:endParaRPr>
          </a:p>
          <a:p>
            <a:pPr indent="0" lvl="0" marL="0" rtl="0" algn="l">
              <a:spcBef>
                <a:spcPts val="500"/>
              </a:spcBef>
              <a:spcAft>
                <a:spcPts val="1200"/>
              </a:spcAft>
              <a:buNone/>
            </a:pPr>
            <a:r>
              <a:t/>
            </a:r>
            <a:endParaRPr/>
          </a:p>
        </p:txBody>
      </p:sp>
      <p:pic>
        <p:nvPicPr>
          <p:cNvPr id="154" name="Google Shape;154;p24"/>
          <p:cNvPicPr preferRelativeResize="0"/>
          <p:nvPr/>
        </p:nvPicPr>
        <p:blipFill>
          <a:blip r:embed="rId3">
            <a:alphaModFix/>
          </a:blip>
          <a:stretch>
            <a:fillRect/>
          </a:stretch>
        </p:blipFill>
        <p:spPr>
          <a:xfrm>
            <a:off x="7218049" y="114749"/>
            <a:ext cx="1562325" cy="796775"/>
          </a:xfrm>
          <a:prstGeom prst="rect">
            <a:avLst/>
          </a:prstGeom>
          <a:noFill/>
          <a:ln>
            <a:noFill/>
          </a:ln>
        </p:spPr>
      </p:pic>
      <p:pic>
        <p:nvPicPr>
          <p:cNvPr id="155" name="Google Shape;155;p24"/>
          <p:cNvPicPr preferRelativeResize="0"/>
          <p:nvPr/>
        </p:nvPicPr>
        <p:blipFill>
          <a:blip r:embed="rId4">
            <a:alphaModFix/>
          </a:blip>
          <a:stretch>
            <a:fillRect/>
          </a:stretch>
        </p:blipFill>
        <p:spPr>
          <a:xfrm>
            <a:off x="409075" y="1962250"/>
            <a:ext cx="3708350" cy="2189750"/>
          </a:xfrm>
          <a:prstGeom prst="rect">
            <a:avLst/>
          </a:prstGeom>
          <a:noFill/>
          <a:ln>
            <a:noFill/>
          </a:ln>
        </p:spPr>
      </p:pic>
      <p:pic>
        <p:nvPicPr>
          <p:cNvPr id="156" name="Google Shape;156;p24"/>
          <p:cNvPicPr preferRelativeResize="0"/>
          <p:nvPr/>
        </p:nvPicPr>
        <p:blipFill>
          <a:blip r:embed="rId5">
            <a:alphaModFix/>
          </a:blip>
          <a:stretch>
            <a:fillRect/>
          </a:stretch>
        </p:blipFill>
        <p:spPr>
          <a:xfrm>
            <a:off x="4260375" y="1962250"/>
            <a:ext cx="3893964" cy="21897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5"/>
          <p:cNvSpPr txBox="1"/>
          <p:nvPr>
            <p:ph type="title"/>
          </p:nvPr>
        </p:nvSpPr>
        <p:spPr>
          <a:xfrm>
            <a:off x="409075" y="239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ts val="990"/>
              <a:buFont typeface="Arial"/>
              <a:buNone/>
            </a:pPr>
            <a:r>
              <a:rPr b="1" lang="en-GB" sz="4800">
                <a:solidFill>
                  <a:srgbClr val="185E89"/>
                </a:solidFill>
                <a:latin typeface="Neuton"/>
                <a:ea typeface="Neuton"/>
                <a:cs typeface="Neuton"/>
                <a:sym typeface="Neuton"/>
              </a:rPr>
              <a:t>Changing the narrative</a:t>
            </a:r>
            <a:endParaRPr/>
          </a:p>
          <a:p>
            <a:pPr indent="0" lvl="0" marL="0" rtl="0" algn="l">
              <a:spcBef>
                <a:spcPts val="0"/>
              </a:spcBef>
              <a:spcAft>
                <a:spcPts val="0"/>
              </a:spcAft>
              <a:buNone/>
            </a:pPr>
            <a:r>
              <a:t/>
            </a:r>
            <a:endParaRPr/>
          </a:p>
        </p:txBody>
      </p:sp>
      <p:sp>
        <p:nvSpPr>
          <p:cNvPr id="162" name="Google Shape;162;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1200"/>
              </a:spcBef>
              <a:spcAft>
                <a:spcPts val="0"/>
              </a:spcAft>
              <a:buClr>
                <a:schemeClr val="dk1"/>
              </a:buClr>
              <a:buSzPct val="88000"/>
              <a:buFont typeface="Arial"/>
              <a:buNone/>
            </a:pPr>
            <a:r>
              <a:rPr b="1" lang="en-GB">
                <a:solidFill>
                  <a:schemeClr val="dk1"/>
                </a:solidFill>
              </a:rPr>
              <a:t>B</a:t>
            </a:r>
            <a:r>
              <a:rPr b="1" lang="en-GB" sz="1250">
                <a:solidFill>
                  <a:schemeClr val="dk1"/>
                </a:solidFill>
              </a:rPr>
              <a:t>efore the data:</a:t>
            </a:r>
            <a:endParaRPr b="1" sz="1250">
              <a:solidFill>
                <a:schemeClr val="dk1"/>
              </a:solidFill>
            </a:endParaRPr>
          </a:p>
          <a:p>
            <a:pPr indent="0" lvl="0" marL="381000" marR="381000" rtl="0" algn="l">
              <a:spcBef>
                <a:spcPts val="1200"/>
              </a:spcBef>
              <a:spcAft>
                <a:spcPts val="0"/>
              </a:spcAft>
              <a:buClr>
                <a:schemeClr val="dk1"/>
              </a:buClr>
              <a:buSzPct val="88000"/>
              <a:buFont typeface="Arial"/>
              <a:buNone/>
            </a:pPr>
            <a:r>
              <a:rPr lang="en-GB" sz="1250">
                <a:solidFill>
                  <a:schemeClr val="dk1"/>
                </a:solidFill>
              </a:rPr>
              <a:t>"</a:t>
            </a:r>
            <a:r>
              <a:rPr i="1" lang="en-GB" sz="1250">
                <a:solidFill>
                  <a:schemeClr val="dk1"/>
                </a:solidFill>
              </a:rPr>
              <a:t>Sharks are bloodthirsty killers</a:t>
            </a:r>
            <a:r>
              <a:rPr lang="en-GB" sz="1250">
                <a:solidFill>
                  <a:schemeClr val="dk1"/>
                </a:solidFill>
              </a:rPr>
              <a:t>."</a:t>
            </a:r>
            <a:endParaRPr sz="1250">
              <a:solidFill>
                <a:schemeClr val="dk1"/>
              </a:solidFill>
            </a:endParaRPr>
          </a:p>
          <a:p>
            <a:pPr indent="0" lvl="0" marL="0" rtl="0" algn="l">
              <a:spcBef>
                <a:spcPts val="1200"/>
              </a:spcBef>
              <a:spcAft>
                <a:spcPts val="0"/>
              </a:spcAft>
              <a:buClr>
                <a:schemeClr val="dk1"/>
              </a:buClr>
              <a:buSzPct val="88000"/>
              <a:buFont typeface="Arial"/>
              <a:buNone/>
            </a:pPr>
            <a:r>
              <a:rPr b="1" lang="en-GB" sz="1250">
                <a:solidFill>
                  <a:schemeClr val="dk1"/>
                </a:solidFill>
              </a:rPr>
              <a:t>After the data:</a:t>
            </a:r>
            <a:endParaRPr b="1" sz="1250">
              <a:solidFill>
                <a:schemeClr val="dk1"/>
              </a:solidFill>
            </a:endParaRPr>
          </a:p>
          <a:p>
            <a:pPr indent="0" lvl="0" marL="381000" marR="381000" rtl="0" algn="l">
              <a:spcBef>
                <a:spcPts val="1200"/>
              </a:spcBef>
              <a:spcAft>
                <a:spcPts val="0"/>
              </a:spcAft>
              <a:buClr>
                <a:schemeClr val="dk1"/>
              </a:buClr>
              <a:buSzPct val="88000"/>
              <a:buFont typeface="Arial"/>
              <a:buNone/>
            </a:pPr>
            <a:r>
              <a:rPr lang="en-GB" sz="1250">
                <a:solidFill>
                  <a:schemeClr val="dk1"/>
                </a:solidFill>
              </a:rPr>
              <a:t>"</a:t>
            </a:r>
            <a:r>
              <a:rPr i="1" lang="en-GB" sz="1250">
                <a:solidFill>
                  <a:schemeClr val="dk1"/>
                </a:solidFill>
              </a:rPr>
              <a:t>Sharks are wild animals sharing an ocean with </a:t>
            </a:r>
            <a:r>
              <a:rPr i="1" lang="en-GB" sz="1250">
                <a:solidFill>
                  <a:schemeClr val="dk1"/>
                </a:solidFill>
              </a:rPr>
              <a:t>an increasing number of </a:t>
            </a:r>
            <a:r>
              <a:rPr i="1" lang="en-GB" sz="1250">
                <a:solidFill>
                  <a:schemeClr val="dk1"/>
                </a:solidFill>
              </a:rPr>
              <a:t>humans</a:t>
            </a:r>
            <a:r>
              <a:rPr lang="en-GB" sz="1250">
                <a:solidFill>
                  <a:schemeClr val="dk1"/>
                </a:solidFill>
              </a:rPr>
              <a:t>."</a:t>
            </a:r>
            <a:endParaRPr sz="1250">
              <a:solidFill>
                <a:schemeClr val="dk1"/>
              </a:solidFill>
            </a:endParaRPr>
          </a:p>
          <a:p>
            <a:pPr indent="0" lvl="0" marL="0" rtl="0" algn="l">
              <a:spcBef>
                <a:spcPts val="1200"/>
              </a:spcBef>
              <a:spcAft>
                <a:spcPts val="0"/>
              </a:spcAft>
              <a:buClr>
                <a:schemeClr val="dk1"/>
              </a:buClr>
              <a:buSzPct val="88000"/>
              <a:buFont typeface="Arial"/>
              <a:buNone/>
            </a:pPr>
            <a:r>
              <a:rPr lang="en-GB" sz="1250">
                <a:solidFill>
                  <a:schemeClr val="dk1"/>
                </a:solidFill>
              </a:rPr>
              <a:t>By replacing fear with facts, we can help build public support for shark conservation and protect a species that plays a vital role in marine ecosystems.</a:t>
            </a:r>
            <a:endParaRPr sz="1250">
              <a:solidFill>
                <a:schemeClr val="dk1"/>
              </a:solidFill>
            </a:endParaRPr>
          </a:p>
          <a:p>
            <a:pPr indent="0" lvl="0" marL="0" rtl="0" algn="l">
              <a:spcBef>
                <a:spcPts val="1400"/>
              </a:spcBef>
              <a:spcAft>
                <a:spcPts val="0"/>
              </a:spcAft>
              <a:buClr>
                <a:schemeClr val="dk1"/>
              </a:buClr>
              <a:buSzPct val="88000"/>
              <a:buFont typeface="Arial"/>
              <a:buNone/>
            </a:pPr>
            <a:r>
              <a:rPr b="1" lang="en-GB" sz="1250">
                <a:solidFill>
                  <a:schemeClr val="dk1"/>
                </a:solidFill>
              </a:rPr>
              <a:t>Save Our Sharks</a:t>
            </a:r>
            <a:endParaRPr b="1" sz="1250">
              <a:solidFill>
                <a:schemeClr val="dk1"/>
              </a:solidFill>
            </a:endParaRPr>
          </a:p>
          <a:p>
            <a:pPr indent="0" lvl="0" marL="0" rtl="0" algn="l">
              <a:spcBef>
                <a:spcPts val="1200"/>
              </a:spcBef>
              <a:spcAft>
                <a:spcPts val="0"/>
              </a:spcAft>
              <a:buClr>
                <a:schemeClr val="dk1"/>
              </a:buClr>
              <a:buSzPct val="88000"/>
              <a:buFont typeface="Arial"/>
              <a:buNone/>
            </a:pPr>
            <a:r>
              <a:rPr b="1" lang="en-GB" sz="1250">
                <a:solidFill>
                  <a:schemeClr val="dk1"/>
                </a:solidFill>
              </a:rPr>
              <a:t>Protecting sharks starts with understanding them.</a:t>
            </a:r>
            <a:endParaRPr b="1" sz="1250">
              <a:solidFill>
                <a:schemeClr val="dk1"/>
              </a:solidFill>
            </a:endParaRPr>
          </a:p>
          <a:p>
            <a:pPr indent="0" lvl="0" marL="0" rtl="0" algn="l">
              <a:spcBef>
                <a:spcPts val="1200"/>
              </a:spcBef>
              <a:spcAft>
                <a:spcPts val="0"/>
              </a:spcAft>
              <a:buNone/>
            </a:pPr>
            <a:r>
              <a:rPr i="1" lang="en-GB" sz="1250">
                <a:solidFill>
                  <a:schemeClr val="dk1"/>
                </a:solidFill>
              </a:rPr>
              <a:t>Thank You</a:t>
            </a:r>
            <a:r>
              <a:rPr lang="en-GB" sz="1250">
                <a:solidFill>
                  <a:schemeClr val="dk1"/>
                </a:solidFill>
              </a:rPr>
              <a:t> 🦈</a:t>
            </a:r>
            <a:endParaRPr sz="1250">
              <a:solidFill>
                <a:schemeClr val="dk1"/>
              </a:solidFill>
            </a:endParaRPr>
          </a:p>
          <a:p>
            <a:pPr indent="0" lvl="0" marL="0" rtl="0" algn="ctr">
              <a:lnSpc>
                <a:spcPct val="100000"/>
              </a:lnSpc>
              <a:spcBef>
                <a:spcPts val="1200"/>
              </a:spcBef>
              <a:spcAft>
                <a:spcPts val="0"/>
              </a:spcAft>
              <a:buNone/>
            </a:pPr>
            <a:r>
              <a:rPr lang="en-GB" sz="2400">
                <a:solidFill>
                  <a:srgbClr val="185E89"/>
                </a:solidFill>
                <a:latin typeface="Neuton"/>
                <a:ea typeface="Neuton"/>
                <a:cs typeface="Neuton"/>
                <a:sym typeface="Neuton"/>
              </a:rPr>
              <a:t>Ailixier, Amanda, Berker &amp; Tina</a:t>
            </a:r>
            <a:endParaRPr sz="2400">
              <a:solidFill>
                <a:srgbClr val="185E89"/>
              </a:solidFill>
              <a:latin typeface="Neuton"/>
              <a:ea typeface="Neuton"/>
              <a:cs typeface="Neuton"/>
              <a:sym typeface="Neuton"/>
            </a:endParaRPr>
          </a:p>
          <a:p>
            <a:pPr indent="0" lvl="0" marL="0" rtl="0" algn="l">
              <a:spcBef>
                <a:spcPts val="1200"/>
              </a:spcBef>
              <a:spcAft>
                <a:spcPts val="1200"/>
              </a:spcAft>
              <a:buClr>
                <a:schemeClr val="dk1"/>
              </a:buClr>
              <a:buSzPct val="100000"/>
              <a:buFont typeface="Arial"/>
              <a:buNone/>
            </a:pPr>
            <a:r>
              <a:t/>
            </a:r>
            <a:endParaRPr>
              <a:solidFill>
                <a:schemeClr val="dk1"/>
              </a:solidFill>
            </a:endParaRPr>
          </a:p>
        </p:txBody>
      </p:sp>
      <p:pic>
        <p:nvPicPr>
          <p:cNvPr id="163" name="Google Shape;163;p25"/>
          <p:cNvPicPr preferRelativeResize="0"/>
          <p:nvPr/>
        </p:nvPicPr>
        <p:blipFill>
          <a:blip r:embed="rId3">
            <a:alphaModFix/>
          </a:blip>
          <a:stretch>
            <a:fillRect/>
          </a:stretch>
        </p:blipFill>
        <p:spPr>
          <a:xfrm>
            <a:off x="7218049" y="114749"/>
            <a:ext cx="1562325" cy="7967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
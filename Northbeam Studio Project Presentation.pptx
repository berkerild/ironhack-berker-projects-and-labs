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92000"/>
  <p:notesSz cx="6858000" cy="12192000"/>
  <p:embeddedFontLst>
    <p:embeddedFont>
      <p:font typeface="Inter"/>
      <p:regular r:id="rId16"/>
      <p:bold r:id="rId17"/>
      <p:italic r:id="rId18"/>
      <p:boldItalic r:id="rId19"/>
    </p:embeddedFont>
    <p:embeddedFont>
      <p:font typeface="Montserrat"/>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iyHdPFoxbmZ6ji7yYN32iXbMvS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Montserrat-regular.fntdata"/><Relationship Id="rId22" Type="http://schemas.openxmlformats.org/officeDocument/2006/relationships/font" Target="fonts/Montserrat-italic.fntdata"/><Relationship Id="rId21" Type="http://schemas.openxmlformats.org/officeDocument/2006/relationships/font" Target="fonts/Montserrat-bold.fntdata"/><Relationship Id="rId24" Type="http://customschemas.google.com/relationships/presentationmetadata" Target="metadata"/><Relationship Id="rId23" Type="http://schemas.openxmlformats.org/officeDocument/2006/relationships/font" Target="fonts/Montserrat-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Inter-bold.fntdata"/><Relationship Id="rId16" Type="http://schemas.openxmlformats.org/officeDocument/2006/relationships/font" Target="fonts/Inter-regular.fntdata"/><Relationship Id="rId19" Type="http://schemas.openxmlformats.org/officeDocument/2006/relationships/font" Target="fonts/Inter-boldItalic.fntdata"/><Relationship Id="rId18" Type="http://schemas.openxmlformats.org/officeDocument/2006/relationships/font" Target="fonts/Inter-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381000" rtl="0" algn="l">
              <a:lnSpc>
                <a:spcPct val="115000"/>
              </a:lnSpc>
              <a:spcBef>
                <a:spcPts val="1200"/>
              </a:spcBef>
              <a:spcAft>
                <a:spcPts val="0"/>
              </a:spcAft>
              <a:buSzPts val="1100"/>
              <a:buNone/>
            </a:pPr>
            <a:r>
              <a:rPr lang="en-US"/>
              <a:t>Hi everyone, we're Berker and Matteo from Northbeam Studio. Today we're walking you through the market analysis behind our next app launch.</a:t>
            </a:r>
            <a:endParaRPr/>
          </a:p>
          <a:p>
            <a:pPr indent="0" lvl="0" marL="0" marR="381000" rtl="0" algn="l">
              <a:lnSpc>
                <a:spcPct val="115000"/>
              </a:lnSpc>
              <a:spcBef>
                <a:spcPts val="1200"/>
              </a:spcBef>
              <a:spcAft>
                <a:spcPts val="1200"/>
              </a:spcAft>
              <a:buSzPts val="1100"/>
              <a:buNone/>
            </a:pPr>
            <a:r>
              <a:rPr lang="en-US"/>
              <a:t>We're about to launch our next app, and before we commit budget and developing time, we wanted a real, data-backed answer to two questions: should this app be free or paid, and which category gives us the best shot at succeeding? So, we pulled Play Store market data from Kaggle and ran a full SQL analysis to build our launch strategy.</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a:t>We are</a:t>
            </a:r>
            <a:r>
              <a:rPr lang="en-US"/>
              <a:t> in the pre-launch phase, and we need this pricing and positioning decision backed by data, not a gut call. </a:t>
            </a:r>
            <a:endParaRPr/>
          </a:p>
          <a:p>
            <a:pPr indent="0" lvl="0" marL="0" rtl="0" algn="l">
              <a:lnSpc>
                <a:spcPct val="115000"/>
              </a:lnSpc>
              <a:spcBef>
                <a:spcPts val="1200"/>
              </a:spcBef>
              <a:spcAft>
                <a:spcPts val="0"/>
              </a:spcAft>
              <a:buClr>
                <a:schemeClr val="dk1"/>
              </a:buClr>
              <a:buSzPts val="1100"/>
              <a:buFont typeface="Arial"/>
              <a:buNone/>
            </a:pPr>
            <a:r>
              <a:rPr lang="en-US"/>
              <a:t>We set four objectives: quantify what actually drives higher app ratings, analyze sentiment across free versus paid apps, benchmark pricing tiers by category, and identify which categories give us the most reach through install volume.</a:t>
            </a:r>
            <a:endParaRPr/>
          </a:p>
          <a:p>
            <a:pPr indent="0" lvl="0" marL="0" rtl="0" algn="l">
              <a:lnSpc>
                <a:spcPct val="115000"/>
              </a:lnSpc>
              <a:spcBef>
                <a:spcPts val="1200"/>
              </a:spcBef>
              <a:spcAft>
                <a:spcPts val="0"/>
              </a:spcAft>
              <a:buClr>
                <a:schemeClr val="dk1"/>
              </a:buClr>
              <a:buSzPts val="1100"/>
              <a:buFont typeface="Arial"/>
              <a:buNone/>
            </a:pPr>
            <a:r>
              <a:rPr lang="en-US"/>
              <a:t>That comes down to three core questions we needed to answer: should our app be free or paid, which category gives us the best combination of strong ratings and high installs, and does review volume actually tell us anything about how good an app is? Those three questions are exactly what our analysis answers next.</a:t>
            </a:r>
            <a:endParaRPr/>
          </a:p>
          <a:p>
            <a:pPr indent="0" lvl="0" marL="0" rtl="0" algn="l">
              <a:lnSpc>
                <a:spcPct val="100000"/>
              </a:lnSpc>
              <a:spcBef>
                <a:spcPts val="1200"/>
              </a:spcBef>
              <a:spcAft>
                <a:spcPts val="0"/>
              </a:spcAft>
              <a:buSzPts val="1400"/>
              <a:buNone/>
            </a:pPr>
            <a:r>
              <a:t/>
            </a:r>
            <a:endParaRPr/>
          </a:p>
        </p:txBody>
      </p:sp>
      <p:sp>
        <p:nvSpPr>
          <p:cNvPr id="36" name="Google Shape;3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f49129ec1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g3f49129ec13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a:t>We built this on two datasets. </a:t>
            </a:r>
            <a:endParaRPr/>
          </a:p>
          <a:p>
            <a:pPr indent="0" lvl="0" marL="0" rtl="0" algn="l">
              <a:lnSpc>
                <a:spcPct val="115000"/>
              </a:lnSpc>
              <a:spcBef>
                <a:spcPts val="1200"/>
              </a:spcBef>
              <a:spcAft>
                <a:spcPts val="0"/>
              </a:spcAft>
              <a:buSzPts val="1100"/>
              <a:buNone/>
            </a:pPr>
            <a:r>
              <a:rPr lang="en-US"/>
              <a:t>Our primary source has app-level metrics — category, rating, installs, price, type. </a:t>
            </a:r>
            <a:endParaRPr/>
          </a:p>
          <a:p>
            <a:pPr indent="0" lvl="0" marL="0" rtl="0" algn="l">
              <a:lnSpc>
                <a:spcPct val="115000"/>
              </a:lnSpc>
              <a:spcBef>
                <a:spcPts val="1200"/>
              </a:spcBef>
              <a:spcAft>
                <a:spcPts val="0"/>
              </a:spcAft>
              <a:buClr>
                <a:schemeClr val="dk1"/>
              </a:buClr>
              <a:buSzPts val="1100"/>
              <a:buFont typeface="Arial"/>
              <a:buNone/>
            </a:pPr>
            <a:r>
              <a:rPr lang="en-US"/>
              <a:t>Our secondary source gives us user reviews with sentiment scores already calculated.</a:t>
            </a:r>
            <a:endParaRPr/>
          </a:p>
          <a:p>
            <a:pPr indent="0" lvl="0" marL="0" rtl="0" algn="l">
              <a:lnSpc>
                <a:spcPct val="115000"/>
              </a:lnSpc>
              <a:spcBef>
                <a:spcPts val="1200"/>
              </a:spcBef>
              <a:spcAft>
                <a:spcPts val="1200"/>
              </a:spcAft>
              <a:buSzPts val="1100"/>
              <a:buNone/>
            </a:pPr>
            <a:r>
              <a:rPr lang="en-US"/>
              <a:t>The two didn't line up cleanly by app name, so during cleaning we linked reviews to apps using a numeric app ID instead. From there we built a 3-table relational database — categories, apps, and reviews — so we could actually query this properly in MySQL.</a:t>
            </a:r>
            <a:endParaRPr/>
          </a:p>
        </p:txBody>
      </p:sp>
      <p:sp>
        <p:nvSpPr>
          <p:cNvPr id="76" name="Google Shape;76;g3f49129ec13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381000" rtl="0" algn="l">
              <a:lnSpc>
                <a:spcPct val="115000"/>
              </a:lnSpc>
              <a:spcBef>
                <a:spcPts val="1200"/>
              </a:spcBef>
              <a:spcAft>
                <a:spcPts val="0"/>
              </a:spcAft>
              <a:buSzPts val="1100"/>
              <a:buNone/>
            </a:pPr>
            <a:r>
              <a:rPr lang="en-US"/>
              <a:t>Before we could trust any of this, we had to get the data into shape. </a:t>
            </a:r>
            <a:endParaRPr/>
          </a:p>
          <a:p>
            <a:pPr indent="0" lvl="0" marL="0" marR="381000" rtl="0" algn="l">
              <a:lnSpc>
                <a:spcPct val="115000"/>
              </a:lnSpc>
              <a:spcBef>
                <a:spcPts val="1200"/>
              </a:spcBef>
              <a:spcAft>
                <a:spcPts val="0"/>
              </a:spcAft>
              <a:buSzPts val="1100"/>
              <a:buNone/>
            </a:pPr>
            <a:r>
              <a:rPr lang="en-US"/>
              <a:t>We started with removing the duplicates, and dropped a couple more rows with missing critical fields.</a:t>
            </a:r>
            <a:endParaRPr/>
          </a:p>
          <a:p>
            <a:pPr indent="0" lvl="0" marL="0" marR="381000" rtl="0" algn="l">
              <a:lnSpc>
                <a:spcPct val="115000"/>
              </a:lnSpc>
              <a:spcBef>
                <a:spcPts val="1200"/>
              </a:spcBef>
              <a:spcAft>
                <a:spcPts val="0"/>
              </a:spcAft>
              <a:buSzPts val="1100"/>
              <a:buNone/>
            </a:pPr>
            <a:r>
              <a:rPr lang="en-US"/>
              <a:t>There were a few things we had to fix: </a:t>
            </a:r>
            <a:endParaRPr/>
          </a:p>
          <a:p>
            <a:pPr indent="-317500" lvl="0" marL="457200" marR="381000" rtl="0" algn="l">
              <a:lnSpc>
                <a:spcPct val="115000"/>
              </a:lnSpc>
              <a:spcBef>
                <a:spcPts val="1200"/>
              </a:spcBef>
              <a:spcAft>
                <a:spcPts val="0"/>
              </a:spcAft>
              <a:buSzPts val="1400"/>
              <a:buChar char="-"/>
            </a:pPr>
            <a:r>
              <a:rPr lang="en-US"/>
              <a:t>Some columns came in as text such as </a:t>
            </a:r>
            <a:r>
              <a:rPr lang="en-US"/>
              <a:t>Installs and Price</a:t>
            </a:r>
            <a:r>
              <a:rPr lang="en-US"/>
              <a:t>, so we converted those to real numbers. </a:t>
            </a:r>
            <a:endParaRPr/>
          </a:p>
          <a:p>
            <a:pPr indent="-317500" lvl="0" marL="457200" marR="381000" rtl="0" algn="l">
              <a:lnSpc>
                <a:spcPct val="115000"/>
              </a:lnSpc>
              <a:spcBef>
                <a:spcPts val="0"/>
              </a:spcBef>
              <a:spcAft>
                <a:spcPts val="0"/>
              </a:spcAft>
              <a:buSzPts val="1400"/>
              <a:buChar char="-"/>
            </a:pPr>
            <a:r>
              <a:rPr lang="en-US"/>
              <a:t>Around 15% of the rows were missing Ratings value got filled with the column mean so we didn't lose those rows from our joins. </a:t>
            </a:r>
            <a:endParaRPr/>
          </a:p>
          <a:p>
            <a:pPr indent="-317500" lvl="0" marL="457200" marR="381000" rtl="0" algn="l">
              <a:lnSpc>
                <a:spcPct val="115000"/>
              </a:lnSpc>
              <a:spcBef>
                <a:spcPts val="0"/>
              </a:spcBef>
              <a:spcAft>
                <a:spcPts val="0"/>
              </a:spcAft>
              <a:buSzPts val="1400"/>
              <a:buChar char="-"/>
            </a:pPr>
            <a:r>
              <a:rPr lang="en-US"/>
              <a:t>And we built a clean categories table with all 33 categories ready to use.</a:t>
            </a:r>
            <a:endParaRPr/>
          </a:p>
          <a:p>
            <a:pPr indent="0" lvl="0" marL="0" marR="381000" rtl="0" algn="l">
              <a:lnSpc>
                <a:spcPct val="115000"/>
              </a:lnSpc>
              <a:spcBef>
                <a:spcPts val="1200"/>
              </a:spcBef>
              <a:spcAft>
                <a:spcPts val="0"/>
              </a:spcAft>
              <a:buSzPts val="1100"/>
              <a:buNone/>
            </a:pPr>
            <a:r>
              <a:rPr lang="en-US"/>
              <a:t>However, overall, the biggest challenges were to handling special characters and emojis in review text, and correctly matching reviews back to the right apps </a:t>
            </a:r>
            <a:endParaRPr/>
          </a:p>
          <a:p>
            <a:pPr indent="0" lvl="0" marL="0" marR="381000" rtl="0" algn="l">
              <a:lnSpc>
                <a:spcPct val="115000"/>
              </a:lnSpc>
              <a:spcBef>
                <a:spcPts val="1200"/>
              </a:spcBef>
              <a:spcAft>
                <a:spcPts val="0"/>
              </a:spcAft>
              <a:buSzPts val="1100"/>
              <a:buNone/>
            </a:pPr>
            <a:r>
              <a:t/>
            </a:r>
            <a:endParaRPr/>
          </a:p>
          <a:p>
            <a:pPr indent="0" lvl="0" marL="0" marR="381000" rtl="0" algn="l">
              <a:lnSpc>
                <a:spcPct val="115000"/>
              </a:lnSpc>
              <a:spcBef>
                <a:spcPts val="1200"/>
              </a:spcBef>
              <a:spcAft>
                <a:spcPts val="0"/>
              </a:spcAft>
              <a:buClr>
                <a:schemeClr val="dk1"/>
              </a:buClr>
              <a:buSzPts val="1100"/>
              <a:buFont typeface="Arial"/>
              <a:buNone/>
            </a:pPr>
            <a:r>
              <a:rPr lang="en-US"/>
              <a:t>I'll pass it to Matteo to walk you through what this data tells us — and what we're recommending for our launch.</a:t>
            </a:r>
            <a:endParaRPr/>
          </a:p>
          <a:p>
            <a:pPr indent="0" lvl="0" marL="0" rtl="0" algn="l">
              <a:lnSpc>
                <a:spcPct val="100000"/>
              </a:lnSpc>
              <a:spcBef>
                <a:spcPts val="1200"/>
              </a:spcBef>
              <a:spcAft>
                <a:spcPts val="0"/>
              </a:spcAft>
              <a:buSzPts val="1400"/>
              <a:buNone/>
            </a:pPr>
            <a:r>
              <a:t/>
            </a:r>
            <a:endParaRPr/>
          </a:p>
        </p:txBody>
      </p:sp>
      <p:sp>
        <p:nvSpPr>
          <p:cNvPr id="106" name="Google Shape;10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2" name="Google Shape;22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0" name="Google Shape;28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4" name="Google Shape;34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5" name="Google Shape;37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7" name="Google Shape;40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f4b3e0a787_4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f4b3e0a787_4_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1" name="Google Shape;441;g3f4b3e0a787_4_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3.png"/><Relationship Id="rId9" Type="http://schemas.openxmlformats.org/officeDocument/2006/relationships/image" Target="../media/image21.png"/><Relationship Id="rId5" Type="http://schemas.openxmlformats.org/officeDocument/2006/relationships/image" Target="../media/image27.png"/><Relationship Id="rId6" Type="http://schemas.openxmlformats.org/officeDocument/2006/relationships/image" Target="../media/image9.png"/><Relationship Id="rId7" Type="http://schemas.openxmlformats.org/officeDocument/2006/relationships/image" Target="../media/image11.png"/><Relationship Id="rId8" Type="http://schemas.openxmlformats.org/officeDocument/2006/relationships/image" Target="../media/image2.png"/></Relationships>
</file>

<file path=ppt/slides/_rels/slide2.xml.rels><?xml version="1.0" encoding="UTF-8" standalone="yes"?><Relationships xmlns="http://schemas.openxmlformats.org/package/2006/relationships"><Relationship Id="rId20" Type="http://schemas.openxmlformats.org/officeDocument/2006/relationships/image" Target="../media/image25.png"/><Relationship Id="rId11" Type="http://schemas.openxmlformats.org/officeDocument/2006/relationships/image" Target="../media/image5.png"/><Relationship Id="rId10" Type="http://schemas.openxmlformats.org/officeDocument/2006/relationships/image" Target="../media/image6.png"/><Relationship Id="rId21" Type="http://schemas.openxmlformats.org/officeDocument/2006/relationships/image" Target="../media/image19.png"/><Relationship Id="rId13" Type="http://schemas.openxmlformats.org/officeDocument/2006/relationships/image" Target="../media/image4.png"/><Relationship Id="rId12" Type="http://schemas.openxmlformats.org/officeDocument/2006/relationships/image" Target="../media/image87.pn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4.png"/><Relationship Id="rId4" Type="http://schemas.openxmlformats.org/officeDocument/2006/relationships/image" Target="../media/image13.png"/><Relationship Id="rId9" Type="http://schemas.openxmlformats.org/officeDocument/2006/relationships/image" Target="../media/image10.png"/><Relationship Id="rId15" Type="http://schemas.openxmlformats.org/officeDocument/2006/relationships/image" Target="../media/image60.png"/><Relationship Id="rId14" Type="http://schemas.openxmlformats.org/officeDocument/2006/relationships/image" Target="../media/image14.png"/><Relationship Id="rId17" Type="http://schemas.openxmlformats.org/officeDocument/2006/relationships/image" Target="../media/image18.png"/><Relationship Id="rId16" Type="http://schemas.openxmlformats.org/officeDocument/2006/relationships/image" Target="../media/image15.png"/><Relationship Id="rId5" Type="http://schemas.openxmlformats.org/officeDocument/2006/relationships/image" Target="../media/image3.png"/><Relationship Id="rId19" Type="http://schemas.openxmlformats.org/officeDocument/2006/relationships/image" Target="../media/image34.png"/><Relationship Id="rId6" Type="http://schemas.openxmlformats.org/officeDocument/2006/relationships/image" Target="../media/image8.png"/><Relationship Id="rId18" Type="http://schemas.openxmlformats.org/officeDocument/2006/relationships/image" Target="../media/image16.png"/><Relationship Id="rId7" Type="http://schemas.openxmlformats.org/officeDocument/2006/relationships/image" Target="../media/image7.png"/><Relationship Id="rId8" Type="http://schemas.openxmlformats.org/officeDocument/2006/relationships/image" Target="../media/image12.png"/></Relationships>
</file>

<file path=ppt/slides/_rels/slide3.xml.rels><?xml version="1.0" encoding="UTF-8" standalone="yes"?><Relationships xmlns="http://schemas.openxmlformats.org/package/2006/relationships"><Relationship Id="rId11" Type="http://schemas.openxmlformats.org/officeDocument/2006/relationships/image" Target="../media/image31.png"/><Relationship Id="rId10" Type="http://schemas.openxmlformats.org/officeDocument/2006/relationships/image" Target="../media/image32.png"/><Relationship Id="rId13" Type="http://schemas.openxmlformats.org/officeDocument/2006/relationships/image" Target="../media/image28.png"/><Relationship Id="rId12" Type="http://schemas.openxmlformats.org/officeDocument/2006/relationships/image" Target="../media/image37.png"/><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7.png"/><Relationship Id="rId4" Type="http://schemas.openxmlformats.org/officeDocument/2006/relationships/image" Target="../media/image20.png"/><Relationship Id="rId9" Type="http://schemas.openxmlformats.org/officeDocument/2006/relationships/image" Target="../media/image29.png"/><Relationship Id="rId14" Type="http://schemas.openxmlformats.org/officeDocument/2006/relationships/image" Target="../media/image33.png"/><Relationship Id="rId5" Type="http://schemas.openxmlformats.org/officeDocument/2006/relationships/image" Target="../media/image26.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30.png"/></Relationships>
</file>

<file path=ppt/slides/_rels/slide4.xml.rels><?xml version="1.0" encoding="UTF-8" standalone="yes"?><Relationships xmlns="http://schemas.openxmlformats.org/package/2006/relationships"><Relationship Id="rId40" Type="http://schemas.openxmlformats.org/officeDocument/2006/relationships/image" Target="../media/image67.png"/><Relationship Id="rId20" Type="http://schemas.openxmlformats.org/officeDocument/2006/relationships/image" Target="../media/image65.png"/><Relationship Id="rId42" Type="http://schemas.openxmlformats.org/officeDocument/2006/relationships/image" Target="../media/image8.png"/><Relationship Id="rId41" Type="http://schemas.openxmlformats.org/officeDocument/2006/relationships/image" Target="../media/image68.png"/><Relationship Id="rId22" Type="http://schemas.openxmlformats.org/officeDocument/2006/relationships/image" Target="../media/image50.png"/><Relationship Id="rId44" Type="http://schemas.openxmlformats.org/officeDocument/2006/relationships/image" Target="../media/image12.png"/><Relationship Id="rId21" Type="http://schemas.openxmlformats.org/officeDocument/2006/relationships/image" Target="../media/image48.png"/><Relationship Id="rId43" Type="http://schemas.openxmlformats.org/officeDocument/2006/relationships/image" Target="../media/image7.png"/><Relationship Id="rId24" Type="http://schemas.openxmlformats.org/officeDocument/2006/relationships/image" Target="../media/image70.png"/><Relationship Id="rId23" Type="http://schemas.openxmlformats.org/officeDocument/2006/relationships/image" Target="../media/image56.png"/><Relationship Id="rId45" Type="http://schemas.openxmlformats.org/officeDocument/2006/relationships/image" Target="../media/image86.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5.png"/><Relationship Id="rId4" Type="http://schemas.openxmlformats.org/officeDocument/2006/relationships/image" Target="../media/image36.png"/><Relationship Id="rId9" Type="http://schemas.openxmlformats.org/officeDocument/2006/relationships/image" Target="../media/image41.png"/><Relationship Id="rId26" Type="http://schemas.openxmlformats.org/officeDocument/2006/relationships/image" Target="../media/image53.png"/><Relationship Id="rId25" Type="http://schemas.openxmlformats.org/officeDocument/2006/relationships/image" Target="../media/image52.png"/><Relationship Id="rId28" Type="http://schemas.openxmlformats.org/officeDocument/2006/relationships/image" Target="../media/image57.png"/><Relationship Id="rId27" Type="http://schemas.openxmlformats.org/officeDocument/2006/relationships/image" Target="../media/image58.png"/><Relationship Id="rId5" Type="http://schemas.openxmlformats.org/officeDocument/2006/relationships/image" Target="../media/image3.png"/><Relationship Id="rId6" Type="http://schemas.openxmlformats.org/officeDocument/2006/relationships/image" Target="../media/image47.png"/><Relationship Id="rId29" Type="http://schemas.openxmlformats.org/officeDocument/2006/relationships/image" Target="../media/image73.png"/><Relationship Id="rId7" Type="http://schemas.openxmlformats.org/officeDocument/2006/relationships/image" Target="../media/image39.png"/><Relationship Id="rId8" Type="http://schemas.openxmlformats.org/officeDocument/2006/relationships/image" Target="../media/image55.png"/><Relationship Id="rId31" Type="http://schemas.openxmlformats.org/officeDocument/2006/relationships/image" Target="../media/image59.png"/><Relationship Id="rId30" Type="http://schemas.openxmlformats.org/officeDocument/2006/relationships/image" Target="../media/image61.png"/><Relationship Id="rId11" Type="http://schemas.openxmlformats.org/officeDocument/2006/relationships/image" Target="../media/image51.png"/><Relationship Id="rId33" Type="http://schemas.openxmlformats.org/officeDocument/2006/relationships/image" Target="../media/image62.png"/><Relationship Id="rId10" Type="http://schemas.openxmlformats.org/officeDocument/2006/relationships/image" Target="../media/image42.png"/><Relationship Id="rId32" Type="http://schemas.openxmlformats.org/officeDocument/2006/relationships/image" Target="../media/image66.png"/><Relationship Id="rId13" Type="http://schemas.openxmlformats.org/officeDocument/2006/relationships/image" Target="../media/image46.png"/><Relationship Id="rId35" Type="http://schemas.openxmlformats.org/officeDocument/2006/relationships/image" Target="../media/image72.png"/><Relationship Id="rId12" Type="http://schemas.openxmlformats.org/officeDocument/2006/relationships/image" Target="../media/image44.png"/><Relationship Id="rId34" Type="http://schemas.openxmlformats.org/officeDocument/2006/relationships/image" Target="../media/image69.png"/><Relationship Id="rId15" Type="http://schemas.openxmlformats.org/officeDocument/2006/relationships/image" Target="../media/image45.png"/><Relationship Id="rId37" Type="http://schemas.openxmlformats.org/officeDocument/2006/relationships/image" Target="../media/image63.png"/><Relationship Id="rId14" Type="http://schemas.openxmlformats.org/officeDocument/2006/relationships/image" Target="../media/image40.png"/><Relationship Id="rId36" Type="http://schemas.openxmlformats.org/officeDocument/2006/relationships/image" Target="../media/image64.png"/><Relationship Id="rId17" Type="http://schemas.openxmlformats.org/officeDocument/2006/relationships/image" Target="../media/image43.png"/><Relationship Id="rId39" Type="http://schemas.openxmlformats.org/officeDocument/2006/relationships/image" Target="../media/image71.png"/><Relationship Id="rId16" Type="http://schemas.openxmlformats.org/officeDocument/2006/relationships/image" Target="../media/image38.png"/><Relationship Id="rId38" Type="http://schemas.openxmlformats.org/officeDocument/2006/relationships/image" Target="../media/image74.png"/><Relationship Id="rId19" Type="http://schemas.openxmlformats.org/officeDocument/2006/relationships/image" Target="../media/image49.png"/><Relationship Id="rId18" Type="http://schemas.openxmlformats.org/officeDocument/2006/relationships/image" Target="../media/image54.png"/></Relationships>
</file>

<file path=ppt/slides/_rels/slide5.xml.rels><?xml version="1.0" encoding="UTF-8" standalone="yes"?><Relationships xmlns="http://schemas.openxmlformats.org/package/2006/relationships"><Relationship Id="rId20" Type="http://schemas.openxmlformats.org/officeDocument/2006/relationships/image" Target="../media/image90.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6.png"/><Relationship Id="rId4" Type="http://schemas.openxmlformats.org/officeDocument/2006/relationships/image" Target="../media/image13.png"/><Relationship Id="rId9" Type="http://schemas.openxmlformats.org/officeDocument/2006/relationships/image" Target="../media/image77.png"/><Relationship Id="rId5" Type="http://schemas.openxmlformats.org/officeDocument/2006/relationships/image" Target="../media/image3.png"/><Relationship Id="rId6" Type="http://schemas.openxmlformats.org/officeDocument/2006/relationships/image" Target="../media/image75.png"/><Relationship Id="rId7" Type="http://schemas.openxmlformats.org/officeDocument/2006/relationships/image" Target="../media/image79.png"/><Relationship Id="rId8" Type="http://schemas.openxmlformats.org/officeDocument/2006/relationships/image" Target="../media/image95.png"/><Relationship Id="rId11" Type="http://schemas.openxmlformats.org/officeDocument/2006/relationships/image" Target="../media/image81.png"/><Relationship Id="rId10" Type="http://schemas.openxmlformats.org/officeDocument/2006/relationships/image" Target="../media/image80.png"/><Relationship Id="rId13" Type="http://schemas.openxmlformats.org/officeDocument/2006/relationships/image" Target="../media/image84.png"/><Relationship Id="rId12" Type="http://schemas.openxmlformats.org/officeDocument/2006/relationships/image" Target="../media/image78.png"/><Relationship Id="rId15" Type="http://schemas.openxmlformats.org/officeDocument/2006/relationships/image" Target="../media/image118.png"/><Relationship Id="rId14" Type="http://schemas.openxmlformats.org/officeDocument/2006/relationships/image" Target="../media/image85.png"/><Relationship Id="rId17" Type="http://schemas.openxmlformats.org/officeDocument/2006/relationships/image" Target="../media/image82.png"/><Relationship Id="rId16" Type="http://schemas.openxmlformats.org/officeDocument/2006/relationships/image" Target="../media/image83.png"/><Relationship Id="rId19" Type="http://schemas.openxmlformats.org/officeDocument/2006/relationships/image" Target="../media/image88.png"/><Relationship Id="rId18" Type="http://schemas.openxmlformats.org/officeDocument/2006/relationships/image" Target="../media/image1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3.png"/><Relationship Id="rId4" Type="http://schemas.openxmlformats.org/officeDocument/2006/relationships/image" Target="../media/image13.png"/><Relationship Id="rId9" Type="http://schemas.openxmlformats.org/officeDocument/2006/relationships/image" Target="../media/image96.png"/><Relationship Id="rId5" Type="http://schemas.openxmlformats.org/officeDocument/2006/relationships/image" Target="../media/image3.png"/><Relationship Id="rId6" Type="http://schemas.openxmlformats.org/officeDocument/2006/relationships/image" Target="../media/image91.png"/><Relationship Id="rId7" Type="http://schemas.openxmlformats.org/officeDocument/2006/relationships/image" Target="../media/image89.png"/><Relationship Id="rId8" Type="http://schemas.openxmlformats.org/officeDocument/2006/relationships/image" Target="../media/image94.png"/><Relationship Id="rId11" Type="http://schemas.openxmlformats.org/officeDocument/2006/relationships/image" Target="../media/image98.png"/><Relationship Id="rId10" Type="http://schemas.openxmlformats.org/officeDocument/2006/relationships/image" Target="../media/image110.png"/><Relationship Id="rId13" Type="http://schemas.openxmlformats.org/officeDocument/2006/relationships/image" Target="../media/image92.png"/><Relationship Id="rId12" Type="http://schemas.openxmlformats.org/officeDocument/2006/relationships/image" Target="../media/image102.png"/><Relationship Id="rId15" Type="http://schemas.openxmlformats.org/officeDocument/2006/relationships/image" Target="../media/image97.png"/><Relationship Id="rId14" Type="http://schemas.openxmlformats.org/officeDocument/2006/relationships/image" Target="../media/image115.png"/><Relationship Id="rId16" Type="http://schemas.openxmlformats.org/officeDocument/2006/relationships/image" Target="../media/image9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4.png"/><Relationship Id="rId4" Type="http://schemas.openxmlformats.org/officeDocument/2006/relationships/image" Target="../media/image13.png"/><Relationship Id="rId9" Type="http://schemas.openxmlformats.org/officeDocument/2006/relationships/image" Target="../media/image101.png"/><Relationship Id="rId5" Type="http://schemas.openxmlformats.org/officeDocument/2006/relationships/image" Target="../media/image3.png"/><Relationship Id="rId6" Type="http://schemas.openxmlformats.org/officeDocument/2006/relationships/image" Target="../media/image100.png"/><Relationship Id="rId7" Type="http://schemas.openxmlformats.org/officeDocument/2006/relationships/image" Target="../media/image103.png"/><Relationship Id="rId8" Type="http://schemas.openxmlformats.org/officeDocument/2006/relationships/image" Target="../media/image10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1.png"/><Relationship Id="rId4" Type="http://schemas.openxmlformats.org/officeDocument/2006/relationships/image" Target="../media/image13.png"/><Relationship Id="rId9" Type="http://schemas.openxmlformats.org/officeDocument/2006/relationships/image" Target="../media/image108.png"/><Relationship Id="rId5" Type="http://schemas.openxmlformats.org/officeDocument/2006/relationships/image" Target="../media/image3.png"/><Relationship Id="rId6" Type="http://schemas.openxmlformats.org/officeDocument/2006/relationships/image" Target="../media/image112.png"/><Relationship Id="rId7" Type="http://schemas.openxmlformats.org/officeDocument/2006/relationships/image" Target="../media/image104.png"/><Relationship Id="rId8" Type="http://schemas.openxmlformats.org/officeDocument/2006/relationships/image" Target="../media/image107.png"/><Relationship Id="rId11" Type="http://schemas.openxmlformats.org/officeDocument/2006/relationships/image" Target="../media/image109.png"/><Relationship Id="rId10" Type="http://schemas.openxmlformats.org/officeDocument/2006/relationships/image" Target="../media/image106.png"/><Relationship Id="rId13" Type="http://schemas.openxmlformats.org/officeDocument/2006/relationships/image" Target="../media/image120.png"/><Relationship Id="rId12" Type="http://schemas.openxmlformats.org/officeDocument/2006/relationships/image" Target="../media/image113.png"/><Relationship Id="rId14" Type="http://schemas.openxmlformats.org/officeDocument/2006/relationships/image" Target="../media/image1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6.png"/><Relationship Id="rId4" Type="http://schemas.openxmlformats.org/officeDocument/2006/relationships/image" Target="../media/image13.png"/><Relationship Id="rId9" Type="http://schemas.openxmlformats.org/officeDocument/2006/relationships/image" Target="../media/image130.png"/><Relationship Id="rId5" Type="http://schemas.openxmlformats.org/officeDocument/2006/relationships/image" Target="../media/image3.png"/><Relationship Id="rId6" Type="http://schemas.openxmlformats.org/officeDocument/2006/relationships/image" Target="../media/image114.png"/><Relationship Id="rId7" Type="http://schemas.openxmlformats.org/officeDocument/2006/relationships/image" Target="../media/image129.png"/><Relationship Id="rId8" Type="http://schemas.openxmlformats.org/officeDocument/2006/relationships/image" Target="../media/image117.png"/><Relationship Id="rId10" Type="http://schemas.openxmlformats.org/officeDocument/2006/relationships/image" Target="../media/image1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1.png"/><Relationship Id="rId4" Type="http://schemas.openxmlformats.org/officeDocument/2006/relationships/image" Target="../media/image13.png"/><Relationship Id="rId9" Type="http://schemas.openxmlformats.org/officeDocument/2006/relationships/image" Target="../media/image128.png"/><Relationship Id="rId5" Type="http://schemas.openxmlformats.org/officeDocument/2006/relationships/image" Target="../media/image3.png"/><Relationship Id="rId6" Type="http://schemas.openxmlformats.org/officeDocument/2006/relationships/image" Target="../media/image122.png"/><Relationship Id="rId7" Type="http://schemas.openxmlformats.org/officeDocument/2006/relationships/image" Target="../media/image123.png"/><Relationship Id="rId8" Type="http://schemas.openxmlformats.org/officeDocument/2006/relationships/image" Target="../media/image124.png"/><Relationship Id="rId10" Type="http://schemas.openxmlformats.org/officeDocument/2006/relationships/image" Target="../media/image1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 name="Shape 15"/>
        <p:cNvGrpSpPr/>
        <p:nvPr/>
      </p:nvGrpSpPr>
      <p:grpSpPr>
        <a:xfrm>
          <a:off x="0" y="0"/>
          <a:ext cx="0" cy="0"/>
          <a:chOff x="0" y="0"/>
          <a:chExt cx="0" cy="0"/>
        </a:xfrm>
      </p:grpSpPr>
      <p:pic>
        <p:nvPicPr>
          <p:cNvPr descr="preencoded.png" id="16" name="Google Shape;16;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17" name="Google Shape;17;p1"/>
          <p:cNvPicPr preferRelativeResize="0"/>
          <p:nvPr/>
        </p:nvPicPr>
        <p:blipFill rotWithShape="1">
          <a:blip r:embed="rId4">
            <a:alphaModFix/>
          </a:blip>
          <a:srcRect b="0" l="0" r="0" t="0"/>
          <a:stretch/>
        </p:blipFill>
        <p:spPr>
          <a:xfrm>
            <a:off x="0" y="0"/>
            <a:ext cx="12192000" cy="6858000"/>
          </a:xfrm>
          <a:prstGeom prst="rect">
            <a:avLst/>
          </a:prstGeom>
          <a:noFill/>
          <a:ln>
            <a:noFill/>
          </a:ln>
        </p:spPr>
      </p:pic>
      <p:pic>
        <p:nvPicPr>
          <p:cNvPr descr="preencoded.png" id="18" name="Google Shape;18;p1"/>
          <p:cNvPicPr preferRelativeResize="0"/>
          <p:nvPr/>
        </p:nvPicPr>
        <p:blipFill rotWithShape="1">
          <a:blip r:embed="rId5">
            <a:alphaModFix/>
          </a:blip>
          <a:srcRect b="0" l="0" r="0" t="0"/>
          <a:stretch/>
        </p:blipFill>
        <p:spPr>
          <a:xfrm>
            <a:off x="0" y="0"/>
            <a:ext cx="12192000" cy="6858000"/>
          </a:xfrm>
          <a:prstGeom prst="rect">
            <a:avLst/>
          </a:prstGeom>
          <a:noFill/>
          <a:ln>
            <a:noFill/>
          </a:ln>
        </p:spPr>
      </p:pic>
      <p:pic>
        <p:nvPicPr>
          <p:cNvPr descr="preencoded.png" id="19" name="Google Shape;19;p1"/>
          <p:cNvPicPr preferRelativeResize="0"/>
          <p:nvPr/>
        </p:nvPicPr>
        <p:blipFill rotWithShape="1">
          <a:blip r:embed="rId6">
            <a:alphaModFix/>
          </a:blip>
          <a:srcRect b="0" l="0" r="0" t="0"/>
          <a:stretch/>
        </p:blipFill>
        <p:spPr>
          <a:xfrm>
            <a:off x="571500" y="1182142"/>
            <a:ext cx="1905000" cy="314325"/>
          </a:xfrm>
          <a:prstGeom prst="rect">
            <a:avLst/>
          </a:prstGeom>
          <a:noFill/>
          <a:ln>
            <a:noFill/>
          </a:ln>
        </p:spPr>
      </p:pic>
      <p:pic>
        <p:nvPicPr>
          <p:cNvPr descr="preencoded.png" id="20" name="Google Shape;20;p1"/>
          <p:cNvPicPr preferRelativeResize="0"/>
          <p:nvPr/>
        </p:nvPicPr>
        <p:blipFill rotWithShape="1">
          <a:blip r:embed="rId7">
            <a:alphaModFix/>
          </a:blip>
          <a:srcRect b="0" l="0" r="0" t="0"/>
          <a:stretch/>
        </p:blipFill>
        <p:spPr>
          <a:xfrm>
            <a:off x="571500" y="1725067"/>
            <a:ext cx="6400800" cy="2369641"/>
          </a:xfrm>
          <a:prstGeom prst="rect">
            <a:avLst/>
          </a:prstGeom>
          <a:noFill/>
          <a:ln>
            <a:noFill/>
          </a:ln>
        </p:spPr>
      </p:pic>
      <p:pic>
        <p:nvPicPr>
          <p:cNvPr descr="preencoded.png" id="21" name="Google Shape;21;p1"/>
          <p:cNvPicPr preferRelativeResize="0"/>
          <p:nvPr/>
        </p:nvPicPr>
        <p:blipFill rotWithShape="1">
          <a:blip r:embed="rId8">
            <a:alphaModFix/>
          </a:blip>
          <a:srcRect b="0" l="0" r="0" t="0"/>
          <a:stretch/>
        </p:blipFill>
        <p:spPr>
          <a:xfrm>
            <a:off x="7353300" y="762000"/>
            <a:ext cx="4267200" cy="5334000"/>
          </a:xfrm>
          <a:prstGeom prst="rect">
            <a:avLst/>
          </a:prstGeom>
          <a:noFill/>
          <a:ln>
            <a:noFill/>
          </a:ln>
        </p:spPr>
      </p:pic>
      <p:pic>
        <p:nvPicPr>
          <p:cNvPr descr="preencoded.png" id="22" name="Google Shape;22;p1"/>
          <p:cNvPicPr preferRelativeResize="0"/>
          <p:nvPr/>
        </p:nvPicPr>
        <p:blipFill rotWithShape="1">
          <a:blip r:embed="rId9">
            <a:alphaModFix/>
          </a:blip>
          <a:srcRect b="0" l="0" r="0" t="0"/>
          <a:stretch/>
        </p:blipFill>
        <p:spPr>
          <a:xfrm>
            <a:off x="7353300" y="762000"/>
            <a:ext cx="4267200" cy="5334000"/>
          </a:xfrm>
          <a:prstGeom prst="rect">
            <a:avLst/>
          </a:prstGeom>
          <a:noFill/>
          <a:ln>
            <a:noFill/>
          </a:ln>
        </p:spPr>
      </p:pic>
      <p:sp>
        <p:nvSpPr>
          <p:cNvPr id="23" name="Google Shape;23;p1"/>
          <p:cNvSpPr/>
          <p:nvPr/>
        </p:nvSpPr>
        <p:spPr>
          <a:xfrm>
            <a:off x="381000" y="3905250"/>
            <a:ext cx="8686800" cy="34290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94A3B8"/>
              </a:buClr>
              <a:buSzPts val="18000"/>
              <a:buFont typeface="Calibri"/>
              <a:buNone/>
            </a:pPr>
            <a:r>
              <a:t/>
            </a:r>
            <a:endParaRPr b="0" i="0" sz="18000" u="none" cap="none" strike="noStrike">
              <a:solidFill>
                <a:schemeClr val="dk1"/>
              </a:solidFill>
              <a:latin typeface="Calibri"/>
              <a:ea typeface="Calibri"/>
              <a:cs typeface="Calibri"/>
              <a:sym typeface="Calibri"/>
            </a:endParaRPr>
          </a:p>
        </p:txBody>
      </p:sp>
      <p:sp>
        <p:nvSpPr>
          <p:cNvPr id="24" name="Google Shape;24;p1"/>
          <p:cNvSpPr/>
          <p:nvPr/>
        </p:nvSpPr>
        <p:spPr>
          <a:xfrm>
            <a:off x="685800" y="1182142"/>
            <a:ext cx="3174187" cy="314325"/>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FFFFFF"/>
              </a:buClr>
              <a:buSzPts val="1050"/>
              <a:buFont typeface="Calibri"/>
              <a:buNone/>
            </a:pPr>
            <a:r>
              <a:rPr b="0" i="0" lang="en-US" sz="1050" u="none" cap="none" strike="noStrike">
                <a:solidFill>
                  <a:srgbClr val="FFFFFF"/>
                </a:solidFill>
                <a:latin typeface="Calibri"/>
                <a:ea typeface="Calibri"/>
                <a:cs typeface="Calibri"/>
                <a:sym typeface="Calibri"/>
              </a:rPr>
              <a:t>SQL MINI PROJECT</a:t>
            </a:r>
            <a:endParaRPr b="0" i="0" sz="1050" u="none" cap="none" strike="noStrike">
              <a:solidFill>
                <a:schemeClr val="dk1"/>
              </a:solidFill>
              <a:latin typeface="Calibri"/>
              <a:ea typeface="Calibri"/>
              <a:cs typeface="Calibri"/>
              <a:sym typeface="Calibri"/>
            </a:endParaRPr>
          </a:p>
        </p:txBody>
      </p:sp>
      <p:sp>
        <p:nvSpPr>
          <p:cNvPr id="25" name="Google Shape;25;p1"/>
          <p:cNvSpPr/>
          <p:nvPr/>
        </p:nvSpPr>
        <p:spPr>
          <a:xfrm>
            <a:off x="876300" y="1725067"/>
            <a:ext cx="6096000" cy="2150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F172A"/>
              </a:buClr>
              <a:buSzPts val="4500"/>
              <a:buFont typeface="Inter"/>
              <a:buNone/>
            </a:pPr>
            <a:r>
              <a:rPr b="1" i="0" lang="en-US" sz="4000" u="none" cap="none" strike="noStrike">
                <a:solidFill>
                  <a:srgbClr val="0F172A"/>
                </a:solidFill>
                <a:latin typeface="Inter"/>
                <a:ea typeface="Inter"/>
                <a:cs typeface="Inter"/>
                <a:sym typeface="Inter"/>
              </a:rPr>
              <a:t>Google Play Store:</a:t>
            </a:r>
            <a:endParaRPr b="0" i="0" sz="40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0F172A"/>
              </a:buClr>
              <a:buSzPts val="4500"/>
              <a:buFont typeface="Inter"/>
              <a:buNone/>
            </a:pPr>
            <a:r>
              <a:rPr b="1" i="0" lang="en-US" sz="4000" u="none" cap="none" strike="noStrike">
                <a:solidFill>
                  <a:srgbClr val="0F172A"/>
                </a:solidFill>
                <a:latin typeface="Inter"/>
                <a:ea typeface="Inter"/>
                <a:cs typeface="Inter"/>
                <a:sym typeface="Inter"/>
              </a:rPr>
              <a:t>App Market Analysis</a:t>
            </a:r>
            <a:endParaRPr b="0" i="0" sz="4000" u="none" cap="none" strike="noStrike">
              <a:solidFill>
                <a:schemeClr val="dk1"/>
              </a:solidFill>
              <a:latin typeface="Calibri"/>
              <a:ea typeface="Calibri"/>
              <a:cs typeface="Calibri"/>
              <a:sym typeface="Calibri"/>
            </a:endParaRPr>
          </a:p>
        </p:txBody>
      </p:sp>
      <p:sp>
        <p:nvSpPr>
          <p:cNvPr id="26" name="Google Shape;26;p1"/>
          <p:cNvSpPr/>
          <p:nvPr/>
        </p:nvSpPr>
        <p:spPr>
          <a:xfrm>
            <a:off x="876300" y="4025067"/>
            <a:ext cx="5486400" cy="959941"/>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475569"/>
              </a:buClr>
              <a:buSzPts val="1800"/>
              <a:buFont typeface="Inter"/>
              <a:buNone/>
            </a:pPr>
            <a:r>
              <a:rPr b="0" i="0" lang="en-US" sz="1700" u="none" cap="none" strike="noStrike">
                <a:solidFill>
                  <a:srgbClr val="475569"/>
                </a:solidFill>
                <a:latin typeface="Inter"/>
                <a:ea typeface="Inter"/>
                <a:cs typeface="Inter"/>
                <a:sym typeface="Inter"/>
              </a:rPr>
              <a:t>A data-driven SQL showcase analyzing user sentiment, pricing strategy, and category trends for strategic app launches.</a:t>
            </a:r>
            <a:endParaRPr b="0" i="0" sz="1700" u="none" cap="none" strike="noStrike">
              <a:solidFill>
                <a:schemeClr val="dk1"/>
              </a:solidFill>
              <a:latin typeface="Calibri"/>
              <a:ea typeface="Calibri"/>
              <a:cs typeface="Calibri"/>
              <a:sym typeface="Calibri"/>
            </a:endParaRPr>
          </a:p>
        </p:txBody>
      </p:sp>
      <p:sp>
        <p:nvSpPr>
          <p:cNvPr id="27" name="Google Shape;27;p1"/>
          <p:cNvSpPr/>
          <p:nvPr/>
        </p:nvSpPr>
        <p:spPr>
          <a:xfrm>
            <a:off x="571500" y="5537708"/>
            <a:ext cx="2270760" cy="17145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94A3B8"/>
              </a:buClr>
              <a:buSzPts val="900"/>
              <a:buFont typeface="Calibri"/>
              <a:buNone/>
            </a:pPr>
            <a:r>
              <a:rPr b="0" i="0" lang="en-US" sz="900" u="none" cap="none" strike="noStrike">
                <a:solidFill>
                  <a:srgbClr val="94A3B8"/>
                </a:solidFill>
                <a:latin typeface="Calibri"/>
                <a:ea typeface="Calibri"/>
                <a:cs typeface="Calibri"/>
                <a:sym typeface="Calibri"/>
              </a:rPr>
              <a:t>TECHNOLOGY STACK</a:t>
            </a:r>
            <a:endParaRPr b="0" i="0" sz="900" u="none" cap="none" strike="noStrike">
              <a:solidFill>
                <a:schemeClr val="dk1"/>
              </a:solidFill>
              <a:latin typeface="Calibri"/>
              <a:ea typeface="Calibri"/>
              <a:cs typeface="Calibri"/>
              <a:sym typeface="Calibri"/>
            </a:endParaRPr>
          </a:p>
        </p:txBody>
      </p:sp>
      <p:sp>
        <p:nvSpPr>
          <p:cNvPr id="28" name="Google Shape;28;p1"/>
          <p:cNvSpPr/>
          <p:nvPr/>
        </p:nvSpPr>
        <p:spPr>
          <a:xfrm>
            <a:off x="571500" y="5747250"/>
            <a:ext cx="1584900" cy="2286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475569"/>
              </a:buClr>
              <a:buSzPts val="1200"/>
              <a:buFont typeface="Inter"/>
              <a:buNone/>
            </a:pPr>
            <a:r>
              <a:rPr b="1" i="0" lang="en-US" sz="1200" u="none" cap="none" strike="noStrike">
                <a:solidFill>
                  <a:srgbClr val="475569"/>
                </a:solidFill>
                <a:latin typeface="Inter"/>
                <a:ea typeface="Inter"/>
                <a:cs typeface="Inter"/>
                <a:sym typeface="Inter"/>
              </a:rPr>
              <a:t>MySQL • Python </a:t>
            </a:r>
            <a:endParaRPr b="0" i="0" sz="1200" u="none" cap="none" strike="noStrike">
              <a:solidFill>
                <a:schemeClr val="dk1"/>
              </a:solidFill>
              <a:latin typeface="Calibri"/>
              <a:ea typeface="Calibri"/>
              <a:cs typeface="Calibri"/>
              <a:sym typeface="Calibri"/>
            </a:endParaRPr>
          </a:p>
        </p:txBody>
      </p:sp>
      <p:sp>
        <p:nvSpPr>
          <p:cNvPr id="29" name="Google Shape;29;p1"/>
          <p:cNvSpPr/>
          <p:nvPr/>
        </p:nvSpPr>
        <p:spPr>
          <a:xfrm>
            <a:off x="2790825" y="5537708"/>
            <a:ext cx="2133600" cy="17145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94A3B8"/>
              </a:buClr>
              <a:buSzPts val="900"/>
              <a:buFont typeface="Calibri"/>
              <a:buNone/>
            </a:pPr>
            <a:r>
              <a:rPr b="0" i="0" lang="en-US" sz="900" u="none" cap="none" strike="noStrike">
                <a:solidFill>
                  <a:srgbClr val="94A3B8"/>
                </a:solidFill>
                <a:latin typeface="Calibri"/>
                <a:ea typeface="Calibri"/>
                <a:cs typeface="Calibri"/>
                <a:sym typeface="Calibri"/>
              </a:rPr>
              <a:t>PRIMARY DATASET</a:t>
            </a:r>
            <a:endParaRPr b="0" i="0" sz="900" u="none" cap="none" strike="noStrike">
              <a:solidFill>
                <a:schemeClr val="dk1"/>
              </a:solidFill>
              <a:latin typeface="Calibri"/>
              <a:ea typeface="Calibri"/>
              <a:cs typeface="Calibri"/>
              <a:sym typeface="Calibri"/>
            </a:endParaRPr>
          </a:p>
        </p:txBody>
      </p:sp>
      <p:sp>
        <p:nvSpPr>
          <p:cNvPr id="30" name="Google Shape;30;p1"/>
          <p:cNvSpPr/>
          <p:nvPr/>
        </p:nvSpPr>
        <p:spPr>
          <a:xfrm>
            <a:off x="2790825" y="5747250"/>
            <a:ext cx="1905000" cy="2286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475569"/>
              </a:buClr>
              <a:buSzPts val="1200"/>
              <a:buFont typeface="Inter"/>
              <a:buNone/>
            </a:pPr>
            <a:r>
              <a:rPr b="1" i="0" lang="en-US" sz="1200" u="none" cap="none" strike="noStrike">
                <a:solidFill>
                  <a:srgbClr val="475569"/>
                </a:solidFill>
                <a:latin typeface="Inter"/>
                <a:ea typeface="Inter"/>
                <a:cs typeface="Inter"/>
                <a:sym typeface="Inter"/>
              </a:rPr>
              <a:t>Kaggle Play Store CSVs</a:t>
            </a:r>
            <a:endParaRPr b="0" i="0" sz="1200" u="none" cap="none" strike="noStrike">
              <a:solidFill>
                <a:schemeClr val="dk1"/>
              </a:solidFill>
              <a:latin typeface="Calibri"/>
              <a:ea typeface="Calibri"/>
              <a:cs typeface="Calibri"/>
              <a:sym typeface="Calibri"/>
            </a:endParaRPr>
          </a:p>
        </p:txBody>
      </p:sp>
      <p:sp>
        <p:nvSpPr>
          <p:cNvPr id="31" name="Google Shape;31;p1"/>
          <p:cNvSpPr/>
          <p:nvPr/>
        </p:nvSpPr>
        <p:spPr>
          <a:xfrm>
            <a:off x="5800000" y="5537708"/>
            <a:ext cx="1584960" cy="17145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94A3B8"/>
              </a:buClr>
              <a:buSzPts val="900"/>
              <a:buFont typeface="Calibri"/>
              <a:buNone/>
            </a:pPr>
            <a:r>
              <a:rPr b="0" i="0" lang="en-US" sz="900" u="none" cap="none" strike="noStrike">
                <a:solidFill>
                  <a:srgbClr val="94A3B8"/>
                </a:solidFill>
                <a:latin typeface="Calibri"/>
                <a:ea typeface="Calibri"/>
                <a:cs typeface="Calibri"/>
                <a:sym typeface="Calibri"/>
              </a:rPr>
              <a:t>REPORT DATE</a:t>
            </a:r>
            <a:endParaRPr b="0" i="0" sz="900" u="none" cap="none" strike="noStrike">
              <a:solidFill>
                <a:schemeClr val="dk1"/>
              </a:solidFill>
              <a:latin typeface="Calibri"/>
              <a:ea typeface="Calibri"/>
              <a:cs typeface="Calibri"/>
              <a:sym typeface="Calibri"/>
            </a:endParaRPr>
          </a:p>
        </p:txBody>
      </p:sp>
      <p:sp>
        <p:nvSpPr>
          <p:cNvPr id="32" name="Google Shape;32;p1"/>
          <p:cNvSpPr/>
          <p:nvPr/>
        </p:nvSpPr>
        <p:spPr>
          <a:xfrm>
            <a:off x="5800000" y="5747258"/>
            <a:ext cx="3185160" cy="2286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475569"/>
              </a:buClr>
              <a:buSzPts val="1200"/>
              <a:buFont typeface="Inter"/>
              <a:buNone/>
            </a:pPr>
            <a:r>
              <a:rPr b="1" i="0" lang="en-US" sz="1200" u="none" cap="none" strike="noStrike">
                <a:solidFill>
                  <a:srgbClr val="475569"/>
                </a:solidFill>
                <a:latin typeface="Inter"/>
                <a:ea typeface="Inter"/>
                <a:cs typeface="Inter"/>
                <a:sym typeface="Inter"/>
              </a:rPr>
              <a:t>July 11,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 name="Shape 37"/>
        <p:cNvGrpSpPr/>
        <p:nvPr/>
      </p:nvGrpSpPr>
      <p:grpSpPr>
        <a:xfrm>
          <a:off x="0" y="0"/>
          <a:ext cx="0" cy="0"/>
          <a:chOff x="0" y="0"/>
          <a:chExt cx="0" cy="0"/>
        </a:xfrm>
      </p:grpSpPr>
      <p:pic>
        <p:nvPicPr>
          <p:cNvPr descr="preencoded.png" id="38" name="Google Shape;38;p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39" name="Google Shape;39;p2"/>
          <p:cNvPicPr preferRelativeResize="0"/>
          <p:nvPr/>
        </p:nvPicPr>
        <p:blipFill rotWithShape="1">
          <a:blip r:embed="rId4">
            <a:alphaModFix/>
          </a:blip>
          <a:srcRect b="0" l="0" r="0" t="0"/>
          <a:stretch/>
        </p:blipFill>
        <p:spPr>
          <a:xfrm>
            <a:off x="0" y="0"/>
            <a:ext cx="12192000" cy="6858000"/>
          </a:xfrm>
          <a:prstGeom prst="rect">
            <a:avLst/>
          </a:prstGeom>
          <a:noFill/>
          <a:ln>
            <a:noFill/>
          </a:ln>
        </p:spPr>
      </p:pic>
      <p:pic>
        <p:nvPicPr>
          <p:cNvPr descr="preencoded.png" id="40" name="Google Shape;40;p2"/>
          <p:cNvPicPr preferRelativeResize="0"/>
          <p:nvPr/>
        </p:nvPicPr>
        <p:blipFill rotWithShape="1">
          <a:blip r:embed="rId5">
            <a:alphaModFix/>
          </a:blip>
          <a:srcRect b="0" l="0" r="0" t="0"/>
          <a:stretch/>
        </p:blipFill>
        <p:spPr>
          <a:xfrm>
            <a:off x="571500" y="304800"/>
            <a:ext cx="11049000" cy="670471"/>
          </a:xfrm>
          <a:prstGeom prst="rect">
            <a:avLst/>
          </a:prstGeom>
          <a:noFill/>
          <a:ln>
            <a:noFill/>
          </a:ln>
        </p:spPr>
      </p:pic>
      <p:pic>
        <p:nvPicPr>
          <p:cNvPr descr="preencoded.png" id="41" name="Google Shape;41;p2"/>
          <p:cNvPicPr preferRelativeResize="0"/>
          <p:nvPr/>
        </p:nvPicPr>
        <p:blipFill rotWithShape="1">
          <a:blip r:embed="rId6">
            <a:alphaModFix/>
          </a:blip>
          <a:srcRect b="0" l="0" r="0" t="0"/>
          <a:stretch/>
        </p:blipFill>
        <p:spPr>
          <a:xfrm>
            <a:off x="571500" y="1156246"/>
            <a:ext cx="6492180" cy="2833688"/>
          </a:xfrm>
          <a:prstGeom prst="rect">
            <a:avLst/>
          </a:prstGeom>
          <a:noFill/>
          <a:ln>
            <a:noFill/>
          </a:ln>
        </p:spPr>
      </p:pic>
      <p:pic>
        <p:nvPicPr>
          <p:cNvPr descr="preencoded.png" id="42" name="Google Shape;42;p2"/>
          <p:cNvPicPr preferRelativeResize="0"/>
          <p:nvPr/>
        </p:nvPicPr>
        <p:blipFill rotWithShape="1">
          <a:blip r:embed="rId7">
            <a:alphaModFix/>
          </a:blip>
          <a:srcRect b="0" l="0" r="0" t="0"/>
          <a:stretch/>
        </p:blipFill>
        <p:spPr>
          <a:xfrm>
            <a:off x="800100" y="1384846"/>
            <a:ext cx="381000" cy="381000"/>
          </a:xfrm>
          <a:prstGeom prst="rect">
            <a:avLst/>
          </a:prstGeom>
          <a:noFill/>
          <a:ln>
            <a:noFill/>
          </a:ln>
        </p:spPr>
      </p:pic>
      <p:pic>
        <p:nvPicPr>
          <p:cNvPr descr="preencoded.png" id="43" name="Google Shape;43;p2"/>
          <p:cNvPicPr preferRelativeResize="0"/>
          <p:nvPr/>
        </p:nvPicPr>
        <p:blipFill rotWithShape="1">
          <a:blip r:embed="rId8">
            <a:alphaModFix/>
          </a:blip>
          <a:srcRect b="0" l="0" r="0" t="0"/>
          <a:stretch/>
        </p:blipFill>
        <p:spPr>
          <a:xfrm>
            <a:off x="871538" y="1480096"/>
            <a:ext cx="238125" cy="190500"/>
          </a:xfrm>
          <a:prstGeom prst="rect">
            <a:avLst/>
          </a:prstGeom>
          <a:noFill/>
          <a:ln>
            <a:noFill/>
          </a:ln>
        </p:spPr>
      </p:pic>
      <p:pic>
        <p:nvPicPr>
          <p:cNvPr descr="preencoded.png" id="44" name="Google Shape;44;p2"/>
          <p:cNvPicPr preferRelativeResize="0"/>
          <p:nvPr/>
        </p:nvPicPr>
        <p:blipFill rotWithShape="1">
          <a:blip r:embed="rId9">
            <a:alphaModFix/>
          </a:blip>
          <a:srcRect b="0" l="0" r="0" t="0"/>
          <a:stretch/>
        </p:blipFill>
        <p:spPr>
          <a:xfrm>
            <a:off x="800100" y="2856458"/>
            <a:ext cx="6034980" cy="904875"/>
          </a:xfrm>
          <a:prstGeom prst="rect">
            <a:avLst/>
          </a:prstGeom>
          <a:noFill/>
          <a:ln>
            <a:noFill/>
          </a:ln>
        </p:spPr>
      </p:pic>
      <p:pic>
        <p:nvPicPr>
          <p:cNvPr descr="preencoded.png" id="45" name="Google Shape;45;p2"/>
          <p:cNvPicPr preferRelativeResize="0"/>
          <p:nvPr/>
        </p:nvPicPr>
        <p:blipFill rotWithShape="1">
          <a:blip r:embed="rId10">
            <a:alphaModFix/>
          </a:blip>
          <a:srcRect b="0" l="0" r="0" t="0"/>
          <a:stretch/>
        </p:blipFill>
        <p:spPr>
          <a:xfrm>
            <a:off x="571500" y="4142333"/>
            <a:ext cx="6492181" cy="2676525"/>
          </a:xfrm>
          <a:prstGeom prst="rect">
            <a:avLst/>
          </a:prstGeom>
          <a:noFill/>
          <a:ln>
            <a:noFill/>
          </a:ln>
        </p:spPr>
      </p:pic>
      <p:pic>
        <p:nvPicPr>
          <p:cNvPr descr="preencoded.png" id="46" name="Google Shape;46;p2"/>
          <p:cNvPicPr preferRelativeResize="0"/>
          <p:nvPr/>
        </p:nvPicPr>
        <p:blipFill rotWithShape="1">
          <a:blip r:embed="rId11">
            <a:alphaModFix/>
          </a:blip>
          <a:srcRect b="0" l="0" r="0" t="0"/>
          <a:stretch/>
        </p:blipFill>
        <p:spPr>
          <a:xfrm>
            <a:off x="800100" y="4370933"/>
            <a:ext cx="381000" cy="381000"/>
          </a:xfrm>
          <a:prstGeom prst="rect">
            <a:avLst/>
          </a:prstGeom>
          <a:noFill/>
          <a:ln>
            <a:noFill/>
          </a:ln>
        </p:spPr>
      </p:pic>
      <p:pic>
        <p:nvPicPr>
          <p:cNvPr descr="preencoded.png" id="47" name="Google Shape;47;p2"/>
          <p:cNvPicPr preferRelativeResize="0"/>
          <p:nvPr/>
        </p:nvPicPr>
        <p:blipFill rotWithShape="1">
          <a:blip r:embed="rId12">
            <a:alphaModFix/>
          </a:blip>
          <a:srcRect b="0" l="0" r="0" t="0"/>
          <a:stretch/>
        </p:blipFill>
        <p:spPr>
          <a:xfrm>
            <a:off x="871538" y="4466183"/>
            <a:ext cx="238125" cy="190500"/>
          </a:xfrm>
          <a:prstGeom prst="rect">
            <a:avLst/>
          </a:prstGeom>
          <a:noFill/>
          <a:ln>
            <a:noFill/>
          </a:ln>
        </p:spPr>
      </p:pic>
      <p:pic>
        <p:nvPicPr>
          <p:cNvPr descr="preencoded.png" id="48" name="Google Shape;48;p2"/>
          <p:cNvPicPr preferRelativeResize="0"/>
          <p:nvPr/>
        </p:nvPicPr>
        <p:blipFill rotWithShape="1">
          <a:blip r:embed="rId13">
            <a:alphaModFix/>
          </a:blip>
          <a:srcRect b="0" l="0" r="0" t="0"/>
          <a:stretch/>
        </p:blipFill>
        <p:spPr>
          <a:xfrm>
            <a:off x="800100" y="4961483"/>
            <a:ext cx="57150" cy="57150"/>
          </a:xfrm>
          <a:prstGeom prst="rect">
            <a:avLst/>
          </a:prstGeom>
          <a:noFill/>
          <a:ln>
            <a:noFill/>
          </a:ln>
        </p:spPr>
      </p:pic>
      <p:pic>
        <p:nvPicPr>
          <p:cNvPr descr="preencoded.png" id="49" name="Google Shape;49;p2"/>
          <p:cNvPicPr preferRelativeResize="0"/>
          <p:nvPr/>
        </p:nvPicPr>
        <p:blipFill rotWithShape="1">
          <a:blip r:embed="rId13">
            <a:alphaModFix/>
          </a:blip>
          <a:srcRect b="0" l="0" r="0" t="0"/>
          <a:stretch/>
        </p:blipFill>
        <p:spPr>
          <a:xfrm>
            <a:off x="800100" y="5561558"/>
            <a:ext cx="57150" cy="57150"/>
          </a:xfrm>
          <a:prstGeom prst="rect">
            <a:avLst/>
          </a:prstGeom>
          <a:noFill/>
          <a:ln>
            <a:noFill/>
          </a:ln>
        </p:spPr>
      </p:pic>
      <p:pic>
        <p:nvPicPr>
          <p:cNvPr descr="preencoded.png" id="50" name="Google Shape;50;p2"/>
          <p:cNvPicPr preferRelativeResize="0"/>
          <p:nvPr/>
        </p:nvPicPr>
        <p:blipFill rotWithShape="1">
          <a:blip r:embed="rId13">
            <a:alphaModFix/>
          </a:blip>
          <a:srcRect b="0" l="0" r="0" t="0"/>
          <a:stretch/>
        </p:blipFill>
        <p:spPr>
          <a:xfrm>
            <a:off x="800100" y="6161633"/>
            <a:ext cx="57150" cy="57150"/>
          </a:xfrm>
          <a:prstGeom prst="rect">
            <a:avLst/>
          </a:prstGeom>
          <a:noFill/>
          <a:ln>
            <a:noFill/>
          </a:ln>
        </p:spPr>
      </p:pic>
      <p:pic>
        <p:nvPicPr>
          <p:cNvPr descr="preencoded.png" id="51" name="Google Shape;51;p2"/>
          <p:cNvPicPr preferRelativeResize="0"/>
          <p:nvPr/>
        </p:nvPicPr>
        <p:blipFill rotWithShape="1">
          <a:blip r:embed="rId14">
            <a:alphaModFix/>
          </a:blip>
          <a:srcRect b="0" l="0" r="0" t="0"/>
          <a:stretch/>
        </p:blipFill>
        <p:spPr>
          <a:xfrm>
            <a:off x="7292280" y="2192920"/>
            <a:ext cx="4328220" cy="3471862"/>
          </a:xfrm>
          <a:prstGeom prst="rect">
            <a:avLst/>
          </a:prstGeom>
          <a:noFill/>
          <a:ln>
            <a:noFill/>
          </a:ln>
        </p:spPr>
      </p:pic>
      <p:pic>
        <p:nvPicPr>
          <p:cNvPr descr="preencoded.png" id="52" name="Google Shape;52;p2"/>
          <p:cNvPicPr preferRelativeResize="0"/>
          <p:nvPr/>
        </p:nvPicPr>
        <p:blipFill rotWithShape="1">
          <a:blip r:embed="rId15">
            <a:alphaModFix/>
          </a:blip>
          <a:srcRect b="0" l="0" r="0" t="0"/>
          <a:stretch/>
        </p:blipFill>
        <p:spPr>
          <a:xfrm>
            <a:off x="7520880" y="1384846"/>
            <a:ext cx="381000" cy="381000"/>
          </a:xfrm>
          <a:prstGeom prst="rect">
            <a:avLst/>
          </a:prstGeom>
          <a:noFill/>
          <a:ln>
            <a:noFill/>
          </a:ln>
        </p:spPr>
      </p:pic>
      <p:pic>
        <p:nvPicPr>
          <p:cNvPr descr="preencoded.png" id="53" name="Google Shape;53;p2"/>
          <p:cNvPicPr preferRelativeResize="0"/>
          <p:nvPr/>
        </p:nvPicPr>
        <p:blipFill rotWithShape="1">
          <a:blip r:embed="rId16">
            <a:alphaModFix/>
          </a:blip>
          <a:srcRect b="0" l="0" r="0" t="0"/>
          <a:stretch/>
        </p:blipFill>
        <p:spPr>
          <a:xfrm>
            <a:off x="7592318" y="2516770"/>
            <a:ext cx="238125" cy="190500"/>
          </a:xfrm>
          <a:prstGeom prst="rect">
            <a:avLst/>
          </a:prstGeom>
          <a:noFill/>
          <a:ln>
            <a:noFill/>
          </a:ln>
        </p:spPr>
      </p:pic>
      <p:pic>
        <p:nvPicPr>
          <p:cNvPr descr="preencoded.png" id="54" name="Google Shape;54;p2"/>
          <p:cNvPicPr preferRelativeResize="0"/>
          <p:nvPr/>
        </p:nvPicPr>
        <p:blipFill rotWithShape="1">
          <a:blip r:embed="rId17">
            <a:alphaModFix/>
          </a:blip>
          <a:srcRect b="0" l="0" r="0" t="0"/>
          <a:stretch/>
        </p:blipFill>
        <p:spPr>
          <a:xfrm>
            <a:off x="7520880" y="2993020"/>
            <a:ext cx="190500" cy="169218"/>
          </a:xfrm>
          <a:prstGeom prst="rect">
            <a:avLst/>
          </a:prstGeom>
          <a:noFill/>
          <a:ln>
            <a:noFill/>
          </a:ln>
        </p:spPr>
      </p:pic>
      <p:pic>
        <p:nvPicPr>
          <p:cNvPr descr="preencoded.png" id="55" name="Google Shape;55;p2"/>
          <p:cNvPicPr preferRelativeResize="0"/>
          <p:nvPr/>
        </p:nvPicPr>
        <p:blipFill rotWithShape="1">
          <a:blip r:embed="rId18">
            <a:alphaModFix/>
          </a:blip>
          <a:srcRect b="0" l="0" r="0" t="0"/>
          <a:stretch/>
        </p:blipFill>
        <p:spPr>
          <a:xfrm>
            <a:off x="7520880" y="3593095"/>
            <a:ext cx="190500" cy="169218"/>
          </a:xfrm>
          <a:prstGeom prst="rect">
            <a:avLst/>
          </a:prstGeom>
          <a:noFill/>
          <a:ln>
            <a:noFill/>
          </a:ln>
        </p:spPr>
      </p:pic>
      <p:pic>
        <p:nvPicPr>
          <p:cNvPr descr="preencoded.png" id="56" name="Google Shape;56;p2"/>
          <p:cNvPicPr preferRelativeResize="0"/>
          <p:nvPr/>
        </p:nvPicPr>
        <p:blipFill rotWithShape="1">
          <a:blip r:embed="rId19">
            <a:alphaModFix/>
          </a:blip>
          <a:srcRect b="0" l="0" r="0" t="0"/>
          <a:stretch/>
        </p:blipFill>
        <p:spPr>
          <a:xfrm>
            <a:off x="7520880" y="4193170"/>
            <a:ext cx="190500" cy="152400"/>
          </a:xfrm>
          <a:prstGeom prst="rect">
            <a:avLst/>
          </a:prstGeom>
          <a:noFill/>
          <a:ln>
            <a:noFill/>
          </a:ln>
        </p:spPr>
      </p:pic>
      <p:pic>
        <p:nvPicPr>
          <p:cNvPr descr="preencoded.png" id="57" name="Google Shape;57;p2"/>
          <p:cNvPicPr preferRelativeResize="0"/>
          <p:nvPr/>
        </p:nvPicPr>
        <p:blipFill rotWithShape="1">
          <a:blip r:embed="rId20">
            <a:alphaModFix/>
          </a:blip>
          <a:srcRect b="0" l="0" r="0" t="0"/>
          <a:stretch/>
        </p:blipFill>
        <p:spPr>
          <a:xfrm>
            <a:off x="7520880" y="4550357"/>
            <a:ext cx="190500" cy="160288"/>
          </a:xfrm>
          <a:prstGeom prst="rect">
            <a:avLst/>
          </a:prstGeom>
          <a:noFill/>
          <a:ln>
            <a:noFill/>
          </a:ln>
        </p:spPr>
      </p:pic>
      <p:pic>
        <p:nvPicPr>
          <p:cNvPr descr="preencoded.png" id="58" name="Google Shape;58;p2"/>
          <p:cNvPicPr preferRelativeResize="0"/>
          <p:nvPr/>
        </p:nvPicPr>
        <p:blipFill rotWithShape="1">
          <a:blip r:embed="rId21">
            <a:alphaModFix/>
          </a:blip>
          <a:srcRect b="0" l="0" r="0" t="0"/>
          <a:stretch/>
        </p:blipFill>
        <p:spPr>
          <a:xfrm>
            <a:off x="7520880" y="5047208"/>
            <a:ext cx="381000" cy="381000"/>
          </a:xfrm>
          <a:prstGeom prst="rect">
            <a:avLst/>
          </a:prstGeom>
          <a:noFill/>
          <a:ln>
            <a:noFill/>
          </a:ln>
        </p:spPr>
      </p:pic>
      <p:sp>
        <p:nvSpPr>
          <p:cNvPr id="59" name="Google Shape;59;p2"/>
          <p:cNvSpPr/>
          <p:nvPr/>
        </p:nvSpPr>
        <p:spPr>
          <a:xfrm>
            <a:off x="762000" y="304800"/>
            <a:ext cx="11430000" cy="365671"/>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F172A"/>
              </a:buClr>
              <a:buSzPts val="2400"/>
              <a:buFont typeface="Inter"/>
              <a:buNone/>
            </a:pPr>
            <a:r>
              <a:rPr b="1" i="0" lang="en-US" sz="2400" u="none" cap="none" strike="noStrike">
                <a:solidFill>
                  <a:srgbClr val="0F172A"/>
                </a:solidFill>
                <a:latin typeface="Inter"/>
                <a:ea typeface="Inter"/>
                <a:cs typeface="Inter"/>
                <a:sym typeface="Inter"/>
              </a:rPr>
              <a:t>Project Overview and Business Objectives</a:t>
            </a:r>
            <a:endParaRPr b="0" i="0" sz="2400" u="none" cap="none" strike="noStrike">
              <a:solidFill>
                <a:schemeClr val="dk1"/>
              </a:solidFill>
              <a:latin typeface="Calibri"/>
              <a:ea typeface="Calibri"/>
              <a:cs typeface="Calibri"/>
              <a:sym typeface="Calibri"/>
            </a:endParaRPr>
          </a:p>
        </p:txBody>
      </p:sp>
      <p:sp>
        <p:nvSpPr>
          <p:cNvPr id="60" name="Google Shape;60;p2"/>
          <p:cNvSpPr/>
          <p:nvPr/>
        </p:nvSpPr>
        <p:spPr>
          <a:xfrm>
            <a:off x="1295400" y="1432471"/>
            <a:ext cx="4895850" cy="28575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0F172A"/>
              </a:buClr>
              <a:buSzPts val="1500"/>
              <a:buFont typeface="Inter"/>
              <a:buNone/>
            </a:pPr>
            <a:r>
              <a:rPr b="1" i="0" lang="en-US" sz="1500" u="none" cap="none" strike="noStrike">
                <a:solidFill>
                  <a:srgbClr val="0F172A"/>
                </a:solidFill>
                <a:latin typeface="Inter"/>
                <a:ea typeface="Inter"/>
                <a:cs typeface="Inter"/>
                <a:sym typeface="Inter"/>
              </a:rPr>
              <a:t>BUSINESS CASE CONTEXT</a:t>
            </a:r>
            <a:endParaRPr b="0" i="0" sz="1500" u="none" cap="none" strike="noStrike">
              <a:solidFill>
                <a:schemeClr val="dk1"/>
              </a:solidFill>
              <a:latin typeface="Calibri"/>
              <a:ea typeface="Calibri"/>
              <a:cs typeface="Calibri"/>
              <a:sym typeface="Calibri"/>
            </a:endParaRPr>
          </a:p>
        </p:txBody>
      </p:sp>
      <p:sp>
        <p:nvSpPr>
          <p:cNvPr id="61" name="Google Shape;61;p2"/>
          <p:cNvSpPr/>
          <p:nvPr/>
        </p:nvSpPr>
        <p:spPr>
          <a:xfrm>
            <a:off x="800100" y="1918246"/>
            <a:ext cx="6034980" cy="728663"/>
          </a:xfrm>
          <a:prstGeom prst="rect">
            <a:avLst/>
          </a:prstGeom>
          <a:noFill/>
          <a:ln>
            <a:noFill/>
          </a:ln>
        </p:spPr>
        <p:txBody>
          <a:bodyPr anchorCtr="0" anchor="ctr" bIns="0" lIns="0" spcFirstLastPara="1" rIns="0" wrap="square" tIns="0">
            <a:noAutofit/>
          </a:bodyPr>
          <a:lstStyle/>
          <a:p>
            <a:pPr indent="0" lvl="0" marL="0" marR="0" rtl="0" algn="l">
              <a:lnSpc>
                <a:spcPct val="150039"/>
              </a:lnSpc>
              <a:spcBef>
                <a:spcPts val="0"/>
              </a:spcBef>
              <a:spcAft>
                <a:spcPts val="0"/>
              </a:spcAft>
              <a:buClr>
                <a:srgbClr val="475569"/>
              </a:buClr>
              <a:buSzPts val="1275"/>
              <a:buFont typeface="Inter"/>
              <a:buNone/>
            </a:pPr>
            <a:r>
              <a:rPr b="0" i="0" lang="en-US" sz="1275" u="none" cap="none" strike="noStrike">
                <a:solidFill>
                  <a:srgbClr val="475569"/>
                </a:solidFill>
                <a:latin typeface="Inter"/>
                <a:ea typeface="Inter"/>
                <a:cs typeface="Inter"/>
                <a:sym typeface="Inter"/>
              </a:rPr>
              <a:t>An app developing agency is currently in the pre-launch phase. To ensure a successful market entry, they require a data-driven pricing and positioning strategy.</a:t>
            </a:r>
            <a:endParaRPr b="0" i="0" sz="1275" u="none" cap="none" strike="noStrike">
              <a:solidFill>
                <a:schemeClr val="dk1"/>
              </a:solidFill>
              <a:latin typeface="Calibri"/>
              <a:ea typeface="Calibri"/>
              <a:cs typeface="Calibri"/>
              <a:sym typeface="Calibri"/>
            </a:endParaRPr>
          </a:p>
        </p:txBody>
      </p:sp>
      <p:sp>
        <p:nvSpPr>
          <p:cNvPr id="62" name="Google Shape;62;p2"/>
          <p:cNvSpPr/>
          <p:nvPr/>
        </p:nvSpPr>
        <p:spPr>
          <a:xfrm>
            <a:off x="952500" y="2951708"/>
            <a:ext cx="5806380" cy="200025"/>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7C3AED"/>
              </a:buClr>
              <a:buSzPts val="1050"/>
              <a:buFont typeface="Calibri"/>
              <a:buNone/>
            </a:pPr>
            <a:r>
              <a:rPr b="0" i="0" lang="en-US" sz="1050" u="none" cap="none" strike="noStrike">
                <a:solidFill>
                  <a:srgbClr val="7C3AED"/>
                </a:solidFill>
                <a:latin typeface="Calibri"/>
                <a:ea typeface="Calibri"/>
                <a:cs typeface="Calibri"/>
                <a:sym typeface="Calibri"/>
              </a:rPr>
              <a:t>STRATEGIC_MANDATE</a:t>
            </a:r>
            <a:endParaRPr b="0" i="0" sz="1050" u="none" cap="none" strike="noStrike">
              <a:solidFill>
                <a:schemeClr val="dk1"/>
              </a:solidFill>
              <a:latin typeface="Calibri"/>
              <a:ea typeface="Calibri"/>
              <a:cs typeface="Calibri"/>
              <a:sym typeface="Calibri"/>
            </a:endParaRPr>
          </a:p>
        </p:txBody>
      </p:sp>
      <p:sp>
        <p:nvSpPr>
          <p:cNvPr id="63" name="Google Shape;63;p2"/>
          <p:cNvSpPr/>
          <p:nvPr/>
        </p:nvSpPr>
        <p:spPr>
          <a:xfrm>
            <a:off x="952500" y="3180308"/>
            <a:ext cx="5730180" cy="485775"/>
          </a:xfrm>
          <a:prstGeom prst="rect">
            <a:avLst/>
          </a:prstGeom>
          <a:noFill/>
          <a:ln>
            <a:noFill/>
          </a:ln>
        </p:spPr>
        <p:txBody>
          <a:bodyPr anchorCtr="0" anchor="ctr" bIns="0" lIns="0" spcFirstLastPara="1" rIns="0" wrap="square" tIns="0">
            <a:noAutofit/>
          </a:bodyPr>
          <a:lstStyle/>
          <a:p>
            <a:pPr indent="0" lvl="0" marL="0" marR="0" rtl="0" algn="l">
              <a:lnSpc>
                <a:spcPct val="150039"/>
              </a:lnSpc>
              <a:spcBef>
                <a:spcPts val="0"/>
              </a:spcBef>
              <a:spcAft>
                <a:spcPts val="0"/>
              </a:spcAft>
              <a:buClr>
                <a:srgbClr val="475569"/>
              </a:buClr>
              <a:buSzPts val="1275"/>
              <a:buFont typeface="Inter"/>
              <a:buNone/>
            </a:pPr>
            <a:r>
              <a:rPr b="1" i="0" lang="en-US" sz="1275" u="none" cap="none" strike="noStrike">
                <a:solidFill>
                  <a:srgbClr val="475569"/>
                </a:solidFill>
                <a:latin typeface="Inter"/>
                <a:ea typeface="Inter"/>
                <a:cs typeface="Inter"/>
                <a:sym typeface="Inter"/>
              </a:rPr>
              <a:t>Deliver a recommendation proven by SQL analysis of historical Play Store performance and user sentiment data.</a:t>
            </a:r>
            <a:endParaRPr b="0" i="0" sz="1275" u="none" cap="none" strike="noStrike">
              <a:solidFill>
                <a:schemeClr val="dk1"/>
              </a:solidFill>
              <a:latin typeface="Calibri"/>
              <a:ea typeface="Calibri"/>
              <a:cs typeface="Calibri"/>
              <a:sym typeface="Calibri"/>
            </a:endParaRPr>
          </a:p>
        </p:txBody>
      </p:sp>
      <p:sp>
        <p:nvSpPr>
          <p:cNvPr id="64" name="Google Shape;64;p2"/>
          <p:cNvSpPr/>
          <p:nvPr/>
        </p:nvSpPr>
        <p:spPr>
          <a:xfrm>
            <a:off x="1295400" y="4418558"/>
            <a:ext cx="5810250" cy="28575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0F172A"/>
              </a:buClr>
              <a:buSzPts val="1500"/>
              <a:buFont typeface="Inter"/>
              <a:buNone/>
            </a:pPr>
            <a:r>
              <a:rPr b="1" i="0" lang="en-US" sz="1500" u="none" cap="none" strike="noStrike">
                <a:solidFill>
                  <a:srgbClr val="0F172A"/>
                </a:solidFill>
                <a:latin typeface="Inter"/>
                <a:ea typeface="Inter"/>
                <a:cs typeface="Inter"/>
                <a:sym typeface="Inter"/>
              </a:rPr>
              <a:t>CORE ANALYTICAL QUESTIONS</a:t>
            </a:r>
            <a:endParaRPr b="0" i="0" sz="1500" u="none" cap="none" strike="noStrike">
              <a:solidFill>
                <a:schemeClr val="dk1"/>
              </a:solidFill>
              <a:latin typeface="Calibri"/>
              <a:ea typeface="Calibri"/>
              <a:cs typeface="Calibri"/>
              <a:sym typeface="Calibri"/>
            </a:endParaRPr>
          </a:p>
        </p:txBody>
      </p:sp>
      <p:sp>
        <p:nvSpPr>
          <p:cNvPr id="65" name="Google Shape;65;p2"/>
          <p:cNvSpPr/>
          <p:nvPr/>
        </p:nvSpPr>
        <p:spPr>
          <a:xfrm>
            <a:off x="971550" y="4904333"/>
            <a:ext cx="5863530" cy="485775"/>
          </a:xfrm>
          <a:prstGeom prst="rect">
            <a:avLst/>
          </a:prstGeom>
          <a:noFill/>
          <a:ln>
            <a:noFill/>
          </a:ln>
        </p:spPr>
        <p:txBody>
          <a:bodyPr anchorCtr="0" anchor="ctr" bIns="0" lIns="0" spcFirstLastPara="1" rIns="0" wrap="square" tIns="0">
            <a:noAutofit/>
          </a:bodyPr>
          <a:lstStyle/>
          <a:p>
            <a:pPr indent="0" lvl="0" marL="0" marR="0" rtl="0" algn="l">
              <a:lnSpc>
                <a:spcPct val="150039"/>
              </a:lnSpc>
              <a:spcBef>
                <a:spcPts val="0"/>
              </a:spcBef>
              <a:spcAft>
                <a:spcPts val="0"/>
              </a:spcAft>
              <a:buClr>
                <a:srgbClr val="475569"/>
              </a:buClr>
              <a:buSzPts val="1275"/>
              <a:buFont typeface="Inter"/>
              <a:buNone/>
            </a:pPr>
            <a:r>
              <a:rPr b="0" i="0" lang="en-US" sz="1275" u="none" cap="none" strike="noStrike">
                <a:solidFill>
                  <a:srgbClr val="475569"/>
                </a:solidFill>
                <a:latin typeface="Inter"/>
                <a:ea typeface="Inter"/>
                <a:cs typeface="Inter"/>
                <a:sym typeface="Inter"/>
              </a:rPr>
              <a:t>Should the next app launch be </a:t>
            </a:r>
            <a:r>
              <a:rPr b="1" i="0" lang="en-US" sz="1275" u="none" cap="none" strike="noStrike">
                <a:solidFill>
                  <a:srgbClr val="475569"/>
                </a:solidFill>
                <a:latin typeface="Inter"/>
                <a:ea typeface="Inter"/>
                <a:cs typeface="Inter"/>
                <a:sym typeface="Inter"/>
              </a:rPr>
              <a:t>Free</a:t>
            </a:r>
            <a:r>
              <a:rPr b="0" i="0" lang="en-US" sz="1275" u="none" cap="none" strike="noStrike">
                <a:solidFill>
                  <a:srgbClr val="475569"/>
                </a:solidFill>
                <a:latin typeface="Inter"/>
                <a:ea typeface="Inter"/>
                <a:cs typeface="Inter"/>
                <a:sym typeface="Inter"/>
              </a:rPr>
              <a:t> or </a:t>
            </a:r>
            <a:r>
              <a:rPr b="1" i="0" lang="en-US" sz="1275" u="none" cap="none" strike="noStrike">
                <a:solidFill>
                  <a:srgbClr val="475569"/>
                </a:solidFill>
                <a:latin typeface="Inter"/>
                <a:ea typeface="Inter"/>
                <a:cs typeface="Inter"/>
                <a:sym typeface="Inter"/>
              </a:rPr>
              <a:t>Paid</a:t>
            </a:r>
            <a:r>
              <a:rPr b="0" i="0" lang="en-US" sz="1275" u="none" cap="none" strike="noStrike">
                <a:solidFill>
                  <a:srgbClr val="475569"/>
                </a:solidFill>
                <a:latin typeface="Inter"/>
                <a:ea typeface="Inter"/>
                <a:cs typeface="Inter"/>
                <a:sym typeface="Inter"/>
              </a:rPr>
              <a:t> to maximize sentiment and ratings?</a:t>
            </a:r>
            <a:endParaRPr b="0" i="0" sz="1275" u="none" cap="none" strike="noStrike">
              <a:solidFill>
                <a:schemeClr val="dk1"/>
              </a:solidFill>
              <a:latin typeface="Calibri"/>
              <a:ea typeface="Calibri"/>
              <a:cs typeface="Calibri"/>
              <a:sym typeface="Calibri"/>
            </a:endParaRPr>
          </a:p>
        </p:txBody>
      </p:sp>
      <p:sp>
        <p:nvSpPr>
          <p:cNvPr id="66" name="Google Shape;66;p2"/>
          <p:cNvSpPr/>
          <p:nvPr/>
        </p:nvSpPr>
        <p:spPr>
          <a:xfrm>
            <a:off x="971550" y="5504408"/>
            <a:ext cx="5863530" cy="485775"/>
          </a:xfrm>
          <a:prstGeom prst="rect">
            <a:avLst/>
          </a:prstGeom>
          <a:noFill/>
          <a:ln>
            <a:noFill/>
          </a:ln>
        </p:spPr>
        <p:txBody>
          <a:bodyPr anchorCtr="0" anchor="ctr" bIns="0" lIns="0" spcFirstLastPara="1" rIns="0" wrap="square" tIns="0">
            <a:noAutofit/>
          </a:bodyPr>
          <a:lstStyle/>
          <a:p>
            <a:pPr indent="0" lvl="0" marL="0" marR="0" rtl="0" algn="l">
              <a:lnSpc>
                <a:spcPct val="150039"/>
              </a:lnSpc>
              <a:spcBef>
                <a:spcPts val="0"/>
              </a:spcBef>
              <a:spcAft>
                <a:spcPts val="0"/>
              </a:spcAft>
              <a:buClr>
                <a:srgbClr val="475569"/>
              </a:buClr>
              <a:buSzPts val="1275"/>
              <a:buFont typeface="Inter"/>
              <a:buNone/>
            </a:pPr>
            <a:r>
              <a:rPr b="0" i="0" lang="en-US" sz="1275" u="none" cap="none" strike="noStrike">
                <a:solidFill>
                  <a:srgbClr val="475569"/>
                </a:solidFill>
                <a:latin typeface="Inter"/>
                <a:ea typeface="Inter"/>
                <a:cs typeface="Inter"/>
                <a:sym typeface="Inter"/>
              </a:rPr>
              <a:t>Which </a:t>
            </a:r>
            <a:r>
              <a:rPr b="1" i="0" lang="en-US" sz="1275" u="none" cap="none" strike="noStrike">
                <a:solidFill>
                  <a:srgbClr val="475569"/>
                </a:solidFill>
                <a:latin typeface="Inter"/>
                <a:ea typeface="Inter"/>
                <a:cs typeface="Inter"/>
                <a:sym typeface="Inter"/>
              </a:rPr>
              <a:t>App Category</a:t>
            </a:r>
            <a:r>
              <a:rPr b="0" i="0" lang="en-US" sz="1275" u="none" cap="none" strike="noStrike">
                <a:solidFill>
                  <a:srgbClr val="475569"/>
                </a:solidFill>
                <a:latin typeface="Inter"/>
                <a:ea typeface="Inter"/>
                <a:cs typeface="Inter"/>
                <a:sym typeface="Inter"/>
              </a:rPr>
              <a:t> offers the best intersection of high ratings and high install volume?</a:t>
            </a:r>
            <a:endParaRPr b="0" i="0" sz="1275" u="none" cap="none" strike="noStrike">
              <a:solidFill>
                <a:schemeClr val="dk1"/>
              </a:solidFill>
              <a:latin typeface="Calibri"/>
              <a:ea typeface="Calibri"/>
              <a:cs typeface="Calibri"/>
              <a:sym typeface="Calibri"/>
            </a:endParaRPr>
          </a:p>
        </p:txBody>
      </p:sp>
      <p:sp>
        <p:nvSpPr>
          <p:cNvPr id="67" name="Google Shape;67;p2"/>
          <p:cNvSpPr/>
          <p:nvPr/>
        </p:nvSpPr>
        <p:spPr>
          <a:xfrm>
            <a:off x="971550" y="6104483"/>
            <a:ext cx="5863530" cy="485775"/>
          </a:xfrm>
          <a:prstGeom prst="rect">
            <a:avLst/>
          </a:prstGeom>
          <a:noFill/>
          <a:ln>
            <a:noFill/>
          </a:ln>
        </p:spPr>
        <p:txBody>
          <a:bodyPr anchorCtr="0" anchor="ctr" bIns="0" lIns="0" spcFirstLastPara="1" rIns="0" wrap="square" tIns="0">
            <a:noAutofit/>
          </a:bodyPr>
          <a:lstStyle/>
          <a:p>
            <a:pPr indent="0" lvl="0" marL="0" marR="0" rtl="0" algn="l">
              <a:lnSpc>
                <a:spcPct val="150039"/>
              </a:lnSpc>
              <a:spcBef>
                <a:spcPts val="0"/>
              </a:spcBef>
              <a:spcAft>
                <a:spcPts val="0"/>
              </a:spcAft>
              <a:buClr>
                <a:srgbClr val="475569"/>
              </a:buClr>
              <a:buSzPts val="1275"/>
              <a:buFont typeface="Inter"/>
              <a:buNone/>
            </a:pPr>
            <a:r>
              <a:rPr b="0" i="0" lang="en-US" sz="1275" u="none" cap="none" strike="noStrike">
                <a:solidFill>
                  <a:srgbClr val="475569"/>
                </a:solidFill>
                <a:latin typeface="Inter"/>
                <a:ea typeface="Inter"/>
                <a:cs typeface="Inter"/>
                <a:sym typeface="Inter"/>
              </a:rPr>
              <a:t>How does </a:t>
            </a:r>
            <a:r>
              <a:rPr b="1" i="0" lang="en-US" sz="1275" u="none" cap="none" strike="noStrike">
                <a:solidFill>
                  <a:srgbClr val="475569"/>
                </a:solidFill>
                <a:latin typeface="Inter"/>
                <a:ea typeface="Inter"/>
                <a:cs typeface="Inter"/>
                <a:sym typeface="Inter"/>
              </a:rPr>
              <a:t>Review Volume</a:t>
            </a:r>
            <a:r>
              <a:rPr b="0" i="0" lang="en-US" sz="1275" u="none" cap="none" strike="noStrike">
                <a:solidFill>
                  <a:srgbClr val="475569"/>
                </a:solidFill>
                <a:latin typeface="Inter"/>
                <a:ea typeface="Inter"/>
                <a:cs typeface="Inter"/>
                <a:sym typeface="Inter"/>
              </a:rPr>
              <a:t> correlate with perceived app quality and user loyalty?</a:t>
            </a:r>
            <a:endParaRPr b="0" i="0" sz="1275" u="none" cap="none" strike="noStrike">
              <a:solidFill>
                <a:schemeClr val="dk1"/>
              </a:solidFill>
              <a:latin typeface="Calibri"/>
              <a:ea typeface="Calibri"/>
              <a:cs typeface="Calibri"/>
              <a:sym typeface="Calibri"/>
            </a:endParaRPr>
          </a:p>
        </p:txBody>
      </p:sp>
      <p:sp>
        <p:nvSpPr>
          <p:cNvPr id="68" name="Google Shape;68;p2"/>
          <p:cNvSpPr/>
          <p:nvPr/>
        </p:nvSpPr>
        <p:spPr>
          <a:xfrm>
            <a:off x="8016180" y="2469145"/>
            <a:ext cx="4175700" cy="2859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0F172A"/>
              </a:buClr>
              <a:buSzPts val="1500"/>
              <a:buFont typeface="Inter"/>
              <a:buNone/>
            </a:pPr>
            <a:r>
              <a:rPr b="1" i="0" lang="en-US" sz="1500" u="none" cap="none" strike="noStrike">
                <a:solidFill>
                  <a:srgbClr val="0F172A"/>
                </a:solidFill>
                <a:latin typeface="Inter"/>
                <a:ea typeface="Inter"/>
                <a:cs typeface="Inter"/>
                <a:sym typeface="Inter"/>
              </a:rPr>
              <a:t>PROJECT OBJECTIVES</a:t>
            </a:r>
            <a:endParaRPr b="0" i="0" sz="1500" u="none" cap="none" strike="noStrike">
              <a:solidFill>
                <a:schemeClr val="dk1"/>
              </a:solidFill>
              <a:latin typeface="Calibri"/>
              <a:ea typeface="Calibri"/>
              <a:cs typeface="Calibri"/>
              <a:sym typeface="Calibri"/>
            </a:endParaRPr>
          </a:p>
        </p:txBody>
      </p:sp>
      <p:sp>
        <p:nvSpPr>
          <p:cNvPr id="69" name="Google Shape;69;p2"/>
          <p:cNvSpPr/>
          <p:nvPr/>
        </p:nvSpPr>
        <p:spPr>
          <a:xfrm>
            <a:off x="7825680" y="2954920"/>
            <a:ext cx="3566100" cy="485700"/>
          </a:xfrm>
          <a:prstGeom prst="rect">
            <a:avLst/>
          </a:prstGeom>
          <a:noFill/>
          <a:ln>
            <a:noFill/>
          </a:ln>
        </p:spPr>
        <p:txBody>
          <a:bodyPr anchorCtr="0" anchor="ctr" bIns="0" lIns="0" spcFirstLastPara="1" rIns="0" wrap="square" tIns="0">
            <a:noAutofit/>
          </a:bodyPr>
          <a:lstStyle/>
          <a:p>
            <a:pPr indent="0" lvl="0" marL="0" marR="0" rtl="0" algn="l">
              <a:lnSpc>
                <a:spcPct val="150039"/>
              </a:lnSpc>
              <a:spcBef>
                <a:spcPts val="0"/>
              </a:spcBef>
              <a:spcAft>
                <a:spcPts val="0"/>
              </a:spcAft>
              <a:buClr>
                <a:srgbClr val="475569"/>
              </a:buClr>
              <a:buSzPts val="1275"/>
              <a:buFont typeface="Inter"/>
              <a:buNone/>
            </a:pPr>
            <a:r>
              <a:rPr b="0" i="0" lang="en-US" sz="1275" u="none" cap="none" strike="noStrike">
                <a:solidFill>
                  <a:srgbClr val="475569"/>
                </a:solidFill>
                <a:latin typeface="Inter"/>
                <a:ea typeface="Inter"/>
                <a:cs typeface="Inter"/>
                <a:sym typeface="Inter"/>
              </a:rPr>
              <a:t>Quantify factors associated with </a:t>
            </a:r>
            <a:r>
              <a:rPr b="1" i="0" lang="en-US" sz="1275" u="none" cap="none" strike="noStrike">
                <a:solidFill>
                  <a:srgbClr val="475569"/>
                </a:solidFill>
                <a:latin typeface="Inter"/>
                <a:ea typeface="Inter"/>
                <a:cs typeface="Inter"/>
                <a:sym typeface="Inter"/>
              </a:rPr>
              <a:t>higher app ratings</a:t>
            </a:r>
            <a:r>
              <a:rPr b="0" i="0" lang="en-US" sz="1275" u="none" cap="none" strike="noStrike">
                <a:solidFill>
                  <a:srgbClr val="475569"/>
                </a:solidFill>
                <a:latin typeface="Inter"/>
                <a:ea typeface="Inter"/>
                <a:cs typeface="Inter"/>
                <a:sym typeface="Inter"/>
              </a:rPr>
              <a:t>.</a:t>
            </a:r>
            <a:endParaRPr b="0" i="0" sz="1275" u="none" cap="none" strike="noStrike">
              <a:solidFill>
                <a:schemeClr val="dk1"/>
              </a:solidFill>
              <a:latin typeface="Calibri"/>
              <a:ea typeface="Calibri"/>
              <a:cs typeface="Calibri"/>
              <a:sym typeface="Calibri"/>
            </a:endParaRPr>
          </a:p>
        </p:txBody>
      </p:sp>
      <p:sp>
        <p:nvSpPr>
          <p:cNvPr id="70" name="Google Shape;70;p2"/>
          <p:cNvSpPr/>
          <p:nvPr/>
        </p:nvSpPr>
        <p:spPr>
          <a:xfrm>
            <a:off x="7825680" y="3554995"/>
            <a:ext cx="3566100" cy="485700"/>
          </a:xfrm>
          <a:prstGeom prst="rect">
            <a:avLst/>
          </a:prstGeom>
          <a:noFill/>
          <a:ln>
            <a:noFill/>
          </a:ln>
        </p:spPr>
        <p:txBody>
          <a:bodyPr anchorCtr="0" anchor="ctr" bIns="0" lIns="0" spcFirstLastPara="1" rIns="0" wrap="square" tIns="0">
            <a:noAutofit/>
          </a:bodyPr>
          <a:lstStyle/>
          <a:p>
            <a:pPr indent="0" lvl="0" marL="0" marR="0" rtl="0" algn="l">
              <a:lnSpc>
                <a:spcPct val="150039"/>
              </a:lnSpc>
              <a:spcBef>
                <a:spcPts val="0"/>
              </a:spcBef>
              <a:spcAft>
                <a:spcPts val="0"/>
              </a:spcAft>
              <a:buClr>
                <a:srgbClr val="475569"/>
              </a:buClr>
              <a:buSzPts val="1275"/>
              <a:buFont typeface="Inter"/>
              <a:buNone/>
            </a:pPr>
            <a:r>
              <a:rPr b="0" i="0" lang="en-US" sz="1275" u="none" cap="none" strike="noStrike">
                <a:solidFill>
                  <a:srgbClr val="475569"/>
                </a:solidFill>
                <a:latin typeface="Inter"/>
                <a:ea typeface="Inter"/>
                <a:cs typeface="Inter"/>
                <a:sym typeface="Inter"/>
              </a:rPr>
              <a:t>Analyze </a:t>
            </a:r>
            <a:r>
              <a:rPr b="1" i="0" lang="en-US" sz="1275" u="none" cap="none" strike="noStrike">
                <a:solidFill>
                  <a:srgbClr val="475569"/>
                </a:solidFill>
                <a:latin typeface="Inter"/>
                <a:ea typeface="Inter"/>
                <a:cs typeface="Inter"/>
                <a:sym typeface="Inter"/>
              </a:rPr>
              <a:t>sentiment polarity</a:t>
            </a:r>
            <a:r>
              <a:rPr b="0" i="0" lang="en-US" sz="1275" u="none" cap="none" strike="noStrike">
                <a:solidFill>
                  <a:srgbClr val="475569"/>
                </a:solidFill>
                <a:latin typeface="Inter"/>
                <a:ea typeface="Inter"/>
                <a:cs typeface="Inter"/>
                <a:sym typeface="Inter"/>
              </a:rPr>
              <a:t> across pricing models.</a:t>
            </a:r>
            <a:endParaRPr b="0" i="0" sz="1275" u="none" cap="none" strike="noStrike">
              <a:solidFill>
                <a:schemeClr val="dk1"/>
              </a:solidFill>
              <a:latin typeface="Calibri"/>
              <a:ea typeface="Calibri"/>
              <a:cs typeface="Calibri"/>
              <a:sym typeface="Calibri"/>
            </a:endParaRPr>
          </a:p>
        </p:txBody>
      </p:sp>
      <p:sp>
        <p:nvSpPr>
          <p:cNvPr id="71" name="Google Shape;71;p2"/>
          <p:cNvSpPr/>
          <p:nvPr/>
        </p:nvSpPr>
        <p:spPr>
          <a:xfrm>
            <a:off x="7825680" y="4155070"/>
            <a:ext cx="4366200" cy="243000"/>
          </a:xfrm>
          <a:prstGeom prst="rect">
            <a:avLst/>
          </a:prstGeom>
          <a:noFill/>
          <a:ln>
            <a:noFill/>
          </a:ln>
        </p:spPr>
        <p:txBody>
          <a:bodyPr anchorCtr="0" anchor="ctr" bIns="0" lIns="0" spcFirstLastPara="1" rIns="0" wrap="square" tIns="0">
            <a:noAutofit/>
          </a:bodyPr>
          <a:lstStyle/>
          <a:p>
            <a:pPr indent="0" lvl="0" marL="0" marR="0" rtl="0" algn="l">
              <a:lnSpc>
                <a:spcPct val="150039"/>
              </a:lnSpc>
              <a:spcBef>
                <a:spcPts val="0"/>
              </a:spcBef>
              <a:spcAft>
                <a:spcPts val="0"/>
              </a:spcAft>
              <a:buClr>
                <a:srgbClr val="475569"/>
              </a:buClr>
              <a:buSzPts val="1275"/>
              <a:buFont typeface="Inter"/>
              <a:buNone/>
            </a:pPr>
            <a:r>
              <a:rPr b="0" i="0" lang="en-US" sz="1275" u="none" cap="none" strike="noStrike">
                <a:solidFill>
                  <a:srgbClr val="475569"/>
                </a:solidFill>
                <a:latin typeface="Inter"/>
                <a:ea typeface="Inter"/>
                <a:cs typeface="Inter"/>
                <a:sym typeface="Inter"/>
              </a:rPr>
              <a:t>Benchmark </a:t>
            </a:r>
            <a:r>
              <a:rPr b="1" i="0" lang="en-US" sz="1275" u="none" cap="none" strike="noStrike">
                <a:solidFill>
                  <a:srgbClr val="475569"/>
                </a:solidFill>
                <a:latin typeface="Inter"/>
                <a:ea typeface="Inter"/>
                <a:cs typeface="Inter"/>
                <a:sym typeface="Inter"/>
              </a:rPr>
              <a:t>pricing tiers</a:t>
            </a:r>
            <a:r>
              <a:rPr b="0" i="0" lang="en-US" sz="1275" u="none" cap="none" strike="noStrike">
                <a:solidFill>
                  <a:srgbClr val="475569"/>
                </a:solidFill>
                <a:latin typeface="Inter"/>
                <a:ea typeface="Inter"/>
                <a:cs typeface="Inter"/>
                <a:sym typeface="Inter"/>
              </a:rPr>
              <a:t> per category.</a:t>
            </a:r>
            <a:endParaRPr b="0" i="0" sz="1275" u="none" cap="none" strike="noStrike">
              <a:solidFill>
                <a:schemeClr val="dk1"/>
              </a:solidFill>
              <a:latin typeface="Calibri"/>
              <a:ea typeface="Calibri"/>
              <a:cs typeface="Calibri"/>
              <a:sym typeface="Calibri"/>
            </a:endParaRPr>
          </a:p>
        </p:txBody>
      </p:sp>
      <p:sp>
        <p:nvSpPr>
          <p:cNvPr id="72" name="Google Shape;72;p2"/>
          <p:cNvSpPr/>
          <p:nvPr/>
        </p:nvSpPr>
        <p:spPr>
          <a:xfrm>
            <a:off x="7825680" y="4512257"/>
            <a:ext cx="3566100" cy="485700"/>
          </a:xfrm>
          <a:prstGeom prst="rect">
            <a:avLst/>
          </a:prstGeom>
          <a:noFill/>
          <a:ln>
            <a:noFill/>
          </a:ln>
        </p:spPr>
        <p:txBody>
          <a:bodyPr anchorCtr="0" anchor="ctr" bIns="0" lIns="0" spcFirstLastPara="1" rIns="0" wrap="square" tIns="0">
            <a:noAutofit/>
          </a:bodyPr>
          <a:lstStyle/>
          <a:p>
            <a:pPr indent="0" lvl="0" marL="0" marR="0" rtl="0" algn="l">
              <a:lnSpc>
                <a:spcPct val="150039"/>
              </a:lnSpc>
              <a:spcBef>
                <a:spcPts val="0"/>
              </a:spcBef>
              <a:spcAft>
                <a:spcPts val="0"/>
              </a:spcAft>
              <a:buClr>
                <a:srgbClr val="475569"/>
              </a:buClr>
              <a:buSzPts val="1275"/>
              <a:buFont typeface="Inter"/>
              <a:buNone/>
            </a:pPr>
            <a:r>
              <a:rPr b="0" i="0" lang="en-US" sz="1275" u="none" cap="none" strike="noStrike">
                <a:solidFill>
                  <a:srgbClr val="475569"/>
                </a:solidFill>
                <a:latin typeface="Inter"/>
                <a:ea typeface="Inter"/>
                <a:cs typeface="Inter"/>
                <a:sym typeface="Inter"/>
              </a:rPr>
              <a:t>Identify </a:t>
            </a:r>
            <a:r>
              <a:rPr b="1" i="0" lang="en-US" sz="1275" u="none" cap="none" strike="noStrike">
                <a:solidFill>
                  <a:srgbClr val="475569"/>
                </a:solidFill>
                <a:latin typeface="Inter"/>
                <a:ea typeface="Inter"/>
                <a:cs typeface="Inter"/>
                <a:sym typeface="Inter"/>
              </a:rPr>
              <a:t>high-traffic segments</a:t>
            </a:r>
            <a:r>
              <a:rPr b="0" i="0" lang="en-US" sz="1275" u="none" cap="none" strike="noStrike">
                <a:solidFill>
                  <a:srgbClr val="475569"/>
                </a:solidFill>
                <a:latin typeface="Inter"/>
                <a:ea typeface="Inter"/>
                <a:cs typeface="Inter"/>
                <a:sym typeface="Inter"/>
              </a:rPr>
              <a:t> via install counts.</a:t>
            </a:r>
            <a:endParaRPr b="0" i="0" sz="1275"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7" name="Shape 77"/>
        <p:cNvGrpSpPr/>
        <p:nvPr/>
      </p:nvGrpSpPr>
      <p:grpSpPr>
        <a:xfrm>
          <a:off x="0" y="0"/>
          <a:ext cx="0" cy="0"/>
          <a:chOff x="0" y="0"/>
          <a:chExt cx="0" cy="0"/>
        </a:xfrm>
      </p:grpSpPr>
      <p:pic>
        <p:nvPicPr>
          <p:cNvPr descr="preencoded.png" id="78" name="Google Shape;78;g3f49129ec13_0_0"/>
          <p:cNvPicPr preferRelativeResize="0"/>
          <p:nvPr/>
        </p:nvPicPr>
        <p:blipFill rotWithShape="1">
          <a:blip r:embed="rId3">
            <a:alphaModFix/>
          </a:blip>
          <a:srcRect b="0" l="0" r="0" t="0"/>
          <a:stretch/>
        </p:blipFill>
        <p:spPr>
          <a:xfrm>
            <a:off x="0" y="33850"/>
            <a:ext cx="12192001" cy="6858000"/>
          </a:xfrm>
          <a:prstGeom prst="rect">
            <a:avLst/>
          </a:prstGeom>
          <a:noFill/>
          <a:ln>
            <a:noFill/>
          </a:ln>
        </p:spPr>
      </p:pic>
      <p:pic>
        <p:nvPicPr>
          <p:cNvPr descr="preencoded.png" id="79" name="Google Shape;79;g3f49129ec13_0_0"/>
          <p:cNvPicPr preferRelativeResize="0"/>
          <p:nvPr/>
        </p:nvPicPr>
        <p:blipFill rotWithShape="1">
          <a:blip r:embed="rId4">
            <a:alphaModFix/>
          </a:blip>
          <a:srcRect b="0" l="0" r="0" t="0"/>
          <a:stretch/>
        </p:blipFill>
        <p:spPr>
          <a:xfrm>
            <a:off x="571500" y="381000"/>
            <a:ext cx="11048999" cy="636240"/>
          </a:xfrm>
          <a:prstGeom prst="rect">
            <a:avLst/>
          </a:prstGeom>
          <a:noFill/>
          <a:ln>
            <a:noFill/>
          </a:ln>
        </p:spPr>
      </p:pic>
      <p:pic>
        <p:nvPicPr>
          <p:cNvPr descr="preencoded.png" id="80" name="Google Shape;80;g3f49129ec13_0_0"/>
          <p:cNvPicPr preferRelativeResize="0"/>
          <p:nvPr/>
        </p:nvPicPr>
        <p:blipFill rotWithShape="1">
          <a:blip r:embed="rId5">
            <a:alphaModFix/>
          </a:blip>
          <a:srcRect b="0" l="0" r="0" t="0"/>
          <a:stretch/>
        </p:blipFill>
        <p:spPr>
          <a:xfrm>
            <a:off x="571500" y="1713808"/>
            <a:ext cx="3926677" cy="1988475"/>
          </a:xfrm>
          <a:prstGeom prst="rect">
            <a:avLst/>
          </a:prstGeom>
          <a:noFill/>
          <a:ln>
            <a:noFill/>
          </a:ln>
        </p:spPr>
      </p:pic>
      <p:pic>
        <p:nvPicPr>
          <p:cNvPr descr="preencoded.png" id="81" name="Google Shape;81;g3f49129ec13_0_0"/>
          <p:cNvPicPr preferRelativeResize="0"/>
          <p:nvPr/>
        </p:nvPicPr>
        <p:blipFill rotWithShape="1">
          <a:blip r:embed="rId6">
            <a:alphaModFix/>
          </a:blip>
          <a:srcRect b="0" l="0" r="0" t="0"/>
          <a:stretch/>
        </p:blipFill>
        <p:spPr>
          <a:xfrm>
            <a:off x="845344" y="2007138"/>
            <a:ext cx="214313" cy="175320"/>
          </a:xfrm>
          <a:prstGeom prst="rect">
            <a:avLst/>
          </a:prstGeom>
          <a:noFill/>
          <a:ln>
            <a:noFill/>
          </a:ln>
        </p:spPr>
      </p:pic>
      <p:pic>
        <p:nvPicPr>
          <p:cNvPr descr="preencoded.png" id="82" name="Google Shape;82;g3f49129ec13_0_0"/>
          <p:cNvPicPr preferRelativeResize="0"/>
          <p:nvPr/>
        </p:nvPicPr>
        <p:blipFill rotWithShape="1">
          <a:blip r:embed="rId7">
            <a:alphaModFix/>
          </a:blip>
          <a:srcRect b="0" l="0" r="0" t="0"/>
          <a:stretch/>
        </p:blipFill>
        <p:spPr>
          <a:xfrm>
            <a:off x="571500" y="3854683"/>
            <a:ext cx="3926677" cy="1988500"/>
          </a:xfrm>
          <a:prstGeom prst="rect">
            <a:avLst/>
          </a:prstGeom>
          <a:noFill/>
          <a:ln>
            <a:noFill/>
          </a:ln>
        </p:spPr>
      </p:pic>
      <p:pic>
        <p:nvPicPr>
          <p:cNvPr descr="preencoded.png" id="83" name="Google Shape;83;g3f49129ec13_0_0"/>
          <p:cNvPicPr preferRelativeResize="0"/>
          <p:nvPr/>
        </p:nvPicPr>
        <p:blipFill rotWithShape="1">
          <a:blip r:embed="rId8">
            <a:alphaModFix/>
          </a:blip>
          <a:srcRect b="0" l="0" r="0" t="0"/>
          <a:stretch/>
        </p:blipFill>
        <p:spPr>
          <a:xfrm>
            <a:off x="845344" y="4148031"/>
            <a:ext cx="214313" cy="175320"/>
          </a:xfrm>
          <a:prstGeom prst="rect">
            <a:avLst/>
          </a:prstGeom>
          <a:noFill/>
          <a:ln>
            <a:noFill/>
          </a:ln>
        </p:spPr>
      </p:pic>
      <p:pic>
        <p:nvPicPr>
          <p:cNvPr descr="preencoded.png" id="84" name="Google Shape;84;g3f49129ec13_0_0"/>
          <p:cNvPicPr preferRelativeResize="0"/>
          <p:nvPr/>
        </p:nvPicPr>
        <p:blipFill rotWithShape="1">
          <a:blip r:embed="rId9">
            <a:alphaModFix/>
          </a:blip>
          <a:srcRect b="0" l="0" r="0" t="0"/>
          <a:stretch/>
        </p:blipFill>
        <p:spPr>
          <a:xfrm>
            <a:off x="4869656" y="6129338"/>
            <a:ext cx="1190625" cy="233362"/>
          </a:xfrm>
          <a:prstGeom prst="rect">
            <a:avLst/>
          </a:prstGeom>
          <a:noFill/>
          <a:ln>
            <a:noFill/>
          </a:ln>
        </p:spPr>
      </p:pic>
      <p:pic>
        <p:nvPicPr>
          <p:cNvPr descr="preencoded.png" id="85" name="Google Shape;85;g3f49129ec13_0_0"/>
          <p:cNvPicPr preferRelativeResize="0"/>
          <p:nvPr/>
        </p:nvPicPr>
        <p:blipFill rotWithShape="1">
          <a:blip r:embed="rId10">
            <a:alphaModFix/>
          </a:blip>
          <a:srcRect b="0" l="0" r="0" t="0"/>
          <a:stretch/>
        </p:blipFill>
        <p:spPr>
          <a:xfrm>
            <a:off x="6174581" y="6188869"/>
            <a:ext cx="142875" cy="114300"/>
          </a:xfrm>
          <a:prstGeom prst="rect">
            <a:avLst/>
          </a:prstGeom>
          <a:noFill/>
          <a:ln>
            <a:noFill/>
          </a:ln>
        </p:spPr>
      </p:pic>
      <p:pic>
        <p:nvPicPr>
          <p:cNvPr descr="preencoded.png" id="86" name="Google Shape;86;g3f49129ec13_0_0"/>
          <p:cNvPicPr preferRelativeResize="0"/>
          <p:nvPr/>
        </p:nvPicPr>
        <p:blipFill rotWithShape="1">
          <a:blip r:embed="rId11">
            <a:alphaModFix/>
          </a:blip>
          <a:srcRect b="0" l="0" r="0" t="0"/>
          <a:stretch/>
        </p:blipFill>
        <p:spPr>
          <a:xfrm>
            <a:off x="6431756" y="6129338"/>
            <a:ext cx="1057275" cy="233362"/>
          </a:xfrm>
          <a:prstGeom prst="rect">
            <a:avLst/>
          </a:prstGeom>
          <a:noFill/>
          <a:ln>
            <a:noFill/>
          </a:ln>
        </p:spPr>
      </p:pic>
      <p:pic>
        <p:nvPicPr>
          <p:cNvPr descr="preencoded.png" id="87" name="Google Shape;87;g3f49129ec13_0_0"/>
          <p:cNvPicPr preferRelativeResize="0"/>
          <p:nvPr/>
        </p:nvPicPr>
        <p:blipFill rotWithShape="1">
          <a:blip r:embed="rId10">
            <a:alphaModFix/>
          </a:blip>
          <a:srcRect b="0" l="0" r="0" t="0"/>
          <a:stretch/>
        </p:blipFill>
        <p:spPr>
          <a:xfrm>
            <a:off x="7603331" y="6188869"/>
            <a:ext cx="142875" cy="114300"/>
          </a:xfrm>
          <a:prstGeom prst="rect">
            <a:avLst/>
          </a:prstGeom>
          <a:noFill/>
          <a:ln>
            <a:noFill/>
          </a:ln>
        </p:spPr>
      </p:pic>
      <p:pic>
        <p:nvPicPr>
          <p:cNvPr descr="preencoded.png" id="88" name="Google Shape;88;g3f49129ec13_0_0"/>
          <p:cNvPicPr preferRelativeResize="0"/>
          <p:nvPr/>
        </p:nvPicPr>
        <p:blipFill rotWithShape="1">
          <a:blip r:embed="rId12">
            <a:alphaModFix/>
          </a:blip>
          <a:srcRect b="0" l="0" r="0" t="0"/>
          <a:stretch/>
        </p:blipFill>
        <p:spPr>
          <a:xfrm>
            <a:off x="7860506" y="6129338"/>
            <a:ext cx="1390650" cy="233362"/>
          </a:xfrm>
          <a:prstGeom prst="rect">
            <a:avLst/>
          </a:prstGeom>
          <a:noFill/>
          <a:ln>
            <a:noFill/>
          </a:ln>
        </p:spPr>
      </p:pic>
      <p:sp>
        <p:nvSpPr>
          <p:cNvPr id="89" name="Google Shape;89;g3f49129ec13_0_0"/>
          <p:cNvSpPr/>
          <p:nvPr/>
        </p:nvSpPr>
        <p:spPr>
          <a:xfrm>
            <a:off x="769175" y="343903"/>
            <a:ext cx="11020500" cy="388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F172A"/>
              </a:buClr>
              <a:buSzPts val="2550"/>
              <a:buFont typeface="Calibri"/>
              <a:buNone/>
            </a:pPr>
            <a:r>
              <a:rPr b="1" i="0" lang="en-US" sz="2550" u="none" cap="none" strike="noStrike">
                <a:solidFill>
                  <a:srgbClr val="0F172A"/>
                </a:solidFill>
                <a:latin typeface="Calibri"/>
                <a:ea typeface="Calibri"/>
                <a:cs typeface="Calibri"/>
                <a:sym typeface="Calibri"/>
              </a:rPr>
              <a:t>Data Sources &amp; Study Scope</a:t>
            </a:r>
            <a:endParaRPr b="0" i="0" sz="2550" u="none" cap="none" strike="noStrike">
              <a:solidFill>
                <a:schemeClr val="dk1"/>
              </a:solidFill>
              <a:latin typeface="Calibri"/>
              <a:ea typeface="Calibri"/>
              <a:cs typeface="Calibri"/>
              <a:sym typeface="Calibri"/>
            </a:endParaRPr>
          </a:p>
        </p:txBody>
      </p:sp>
      <p:sp>
        <p:nvSpPr>
          <p:cNvPr id="90" name="Google Shape;90;g3f49129ec13_0_0"/>
          <p:cNvSpPr/>
          <p:nvPr/>
        </p:nvSpPr>
        <p:spPr>
          <a:xfrm>
            <a:off x="1257300" y="1980498"/>
            <a:ext cx="3550800" cy="2286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0F172A"/>
              </a:buClr>
              <a:buSzPts val="1200"/>
              <a:buFont typeface="Calibri"/>
              <a:buNone/>
            </a:pPr>
            <a:r>
              <a:rPr b="1" i="0" lang="en-US" sz="1200" u="none" cap="none" strike="noStrike">
                <a:solidFill>
                  <a:srgbClr val="0F172A"/>
                </a:solidFill>
                <a:latin typeface="Calibri"/>
                <a:ea typeface="Calibri"/>
                <a:cs typeface="Calibri"/>
                <a:sym typeface="Calibri"/>
              </a:rPr>
              <a:t>googleplaystore.csv</a:t>
            </a:r>
            <a:endParaRPr b="0" i="0" sz="1200" u="none" cap="none" strike="noStrike">
              <a:solidFill>
                <a:schemeClr val="dk1"/>
              </a:solidFill>
              <a:latin typeface="Calibri"/>
              <a:ea typeface="Calibri"/>
              <a:cs typeface="Calibri"/>
              <a:sym typeface="Calibri"/>
            </a:endParaRPr>
          </a:p>
        </p:txBody>
      </p:sp>
      <p:sp>
        <p:nvSpPr>
          <p:cNvPr id="91" name="Google Shape;91;g3f49129ec13_0_0"/>
          <p:cNvSpPr/>
          <p:nvPr/>
        </p:nvSpPr>
        <p:spPr>
          <a:xfrm>
            <a:off x="933450" y="2399598"/>
            <a:ext cx="7408500" cy="214200"/>
          </a:xfrm>
          <a:prstGeom prst="rect">
            <a:avLst/>
          </a:prstGeom>
          <a:noFill/>
          <a:ln>
            <a:noFill/>
          </a:ln>
        </p:spPr>
        <p:txBody>
          <a:bodyPr anchorCtr="0" anchor="ctr" bIns="0" lIns="0" spcFirstLastPara="1" rIns="0" wrap="square" tIns="0">
            <a:noAutofit/>
          </a:bodyPr>
          <a:lstStyle/>
          <a:p>
            <a:pPr indent="0" lvl="0" marL="0" marR="0" rtl="0" algn="l">
              <a:lnSpc>
                <a:spcPct val="150044"/>
              </a:lnSpc>
              <a:spcBef>
                <a:spcPts val="0"/>
              </a:spcBef>
              <a:spcAft>
                <a:spcPts val="0"/>
              </a:spcAft>
              <a:buClr>
                <a:srgbClr val="475569"/>
              </a:buClr>
              <a:buSzPts val="1125"/>
              <a:buFont typeface="Calibri"/>
              <a:buNone/>
            </a:pPr>
            <a:r>
              <a:rPr b="0" i="0" lang="en-US" sz="1125" u="none" cap="none" strike="noStrike">
                <a:solidFill>
                  <a:srgbClr val="475569"/>
                </a:solidFill>
                <a:latin typeface="Calibri"/>
                <a:ea typeface="Calibri"/>
                <a:cs typeface="Calibri"/>
                <a:sym typeface="Calibri"/>
              </a:rPr>
              <a:t>Primary dataset containing app-level metrics</a:t>
            </a:r>
            <a:endParaRPr b="0" i="0" sz="1125" u="none" cap="none" strike="noStrike">
              <a:solidFill>
                <a:schemeClr val="dk1"/>
              </a:solidFill>
              <a:latin typeface="Calibri"/>
              <a:ea typeface="Calibri"/>
              <a:cs typeface="Calibri"/>
              <a:sym typeface="Calibri"/>
            </a:endParaRPr>
          </a:p>
        </p:txBody>
      </p:sp>
      <p:sp>
        <p:nvSpPr>
          <p:cNvPr id="92" name="Google Shape;92;g3f49129ec13_0_0"/>
          <p:cNvSpPr/>
          <p:nvPr/>
        </p:nvSpPr>
        <p:spPr>
          <a:xfrm>
            <a:off x="933450" y="2671061"/>
            <a:ext cx="7908300" cy="214200"/>
          </a:xfrm>
          <a:prstGeom prst="rect">
            <a:avLst/>
          </a:prstGeom>
          <a:noFill/>
          <a:ln>
            <a:noFill/>
          </a:ln>
        </p:spPr>
        <p:txBody>
          <a:bodyPr anchorCtr="0" anchor="ctr" bIns="0" lIns="0" spcFirstLastPara="1" rIns="0" wrap="square" tIns="0">
            <a:noAutofit/>
          </a:bodyPr>
          <a:lstStyle/>
          <a:p>
            <a:pPr indent="0" lvl="0" marL="0" marR="0" rtl="0" algn="l">
              <a:lnSpc>
                <a:spcPct val="150044"/>
              </a:lnSpc>
              <a:spcBef>
                <a:spcPts val="0"/>
              </a:spcBef>
              <a:spcAft>
                <a:spcPts val="0"/>
              </a:spcAft>
              <a:buClr>
                <a:srgbClr val="475569"/>
              </a:buClr>
              <a:buSzPts val="1125"/>
              <a:buFont typeface="Calibri"/>
              <a:buNone/>
            </a:pPr>
            <a:r>
              <a:rPr b="0" i="0" lang="en-US" sz="1125" u="none" cap="none" strike="noStrike">
                <a:solidFill>
                  <a:srgbClr val="475569"/>
                </a:solidFill>
                <a:latin typeface="Calibri"/>
                <a:ea typeface="Calibri"/>
                <a:cs typeface="Calibri"/>
                <a:sym typeface="Calibri"/>
              </a:rPr>
              <a:t>Key fields: App Name, Category, Rating, Reviews</a:t>
            </a:r>
            <a:endParaRPr b="0" i="0" sz="1125" u="none" cap="none" strike="noStrike">
              <a:solidFill>
                <a:schemeClr val="dk1"/>
              </a:solidFill>
              <a:latin typeface="Calibri"/>
              <a:ea typeface="Calibri"/>
              <a:cs typeface="Calibri"/>
              <a:sym typeface="Calibri"/>
            </a:endParaRPr>
          </a:p>
        </p:txBody>
      </p:sp>
      <p:sp>
        <p:nvSpPr>
          <p:cNvPr id="93" name="Google Shape;93;g3f49129ec13_0_0"/>
          <p:cNvSpPr/>
          <p:nvPr/>
        </p:nvSpPr>
        <p:spPr>
          <a:xfrm>
            <a:off x="933450" y="2942523"/>
            <a:ext cx="8741400" cy="214200"/>
          </a:xfrm>
          <a:prstGeom prst="rect">
            <a:avLst/>
          </a:prstGeom>
          <a:noFill/>
          <a:ln>
            <a:noFill/>
          </a:ln>
        </p:spPr>
        <p:txBody>
          <a:bodyPr anchorCtr="0" anchor="ctr" bIns="0" lIns="0" spcFirstLastPara="1" rIns="0" wrap="square" tIns="0">
            <a:noAutofit/>
          </a:bodyPr>
          <a:lstStyle/>
          <a:p>
            <a:pPr indent="0" lvl="0" marL="0" marR="0" rtl="0" algn="l">
              <a:lnSpc>
                <a:spcPct val="150044"/>
              </a:lnSpc>
              <a:spcBef>
                <a:spcPts val="0"/>
              </a:spcBef>
              <a:spcAft>
                <a:spcPts val="0"/>
              </a:spcAft>
              <a:buClr>
                <a:srgbClr val="475569"/>
              </a:buClr>
              <a:buSzPts val="1125"/>
              <a:buFont typeface="Calibri"/>
              <a:buNone/>
            </a:pPr>
            <a:r>
              <a:rPr b="0" i="0" lang="en-US" sz="1125" u="none" cap="none" strike="noStrike">
                <a:solidFill>
                  <a:srgbClr val="475569"/>
                </a:solidFill>
                <a:latin typeface="Calibri"/>
                <a:ea typeface="Calibri"/>
                <a:cs typeface="Calibri"/>
                <a:sym typeface="Calibri"/>
              </a:rPr>
              <a:t>Market attributes: Installs, Type (Free/Paid), Price</a:t>
            </a:r>
            <a:endParaRPr b="0" i="0" sz="1125" u="none" cap="none" strike="noStrike">
              <a:solidFill>
                <a:schemeClr val="dk1"/>
              </a:solidFill>
              <a:latin typeface="Calibri"/>
              <a:ea typeface="Calibri"/>
              <a:cs typeface="Calibri"/>
              <a:sym typeface="Calibri"/>
            </a:endParaRPr>
          </a:p>
        </p:txBody>
      </p:sp>
      <p:sp>
        <p:nvSpPr>
          <p:cNvPr id="94" name="Google Shape;94;g3f49129ec13_0_0"/>
          <p:cNvSpPr/>
          <p:nvPr/>
        </p:nvSpPr>
        <p:spPr>
          <a:xfrm>
            <a:off x="1257300" y="4121391"/>
            <a:ext cx="5928300" cy="2286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0F172A"/>
              </a:buClr>
              <a:buSzPts val="1200"/>
              <a:buFont typeface="Calibri"/>
              <a:buNone/>
            </a:pPr>
            <a:r>
              <a:rPr b="1" i="0" lang="en-US" sz="1200" u="none" cap="none" strike="noStrike">
                <a:solidFill>
                  <a:srgbClr val="0F172A"/>
                </a:solidFill>
                <a:latin typeface="Calibri"/>
                <a:ea typeface="Calibri"/>
                <a:cs typeface="Calibri"/>
                <a:sym typeface="Calibri"/>
              </a:rPr>
              <a:t>googleplaystore_user_reviews.csv</a:t>
            </a:r>
            <a:endParaRPr b="0" i="0" sz="1200" u="none" cap="none" strike="noStrike">
              <a:solidFill>
                <a:schemeClr val="dk1"/>
              </a:solidFill>
              <a:latin typeface="Calibri"/>
              <a:ea typeface="Calibri"/>
              <a:cs typeface="Calibri"/>
              <a:sym typeface="Calibri"/>
            </a:endParaRPr>
          </a:p>
        </p:txBody>
      </p:sp>
      <p:sp>
        <p:nvSpPr>
          <p:cNvPr id="95" name="Google Shape;95;g3f49129ec13_0_0"/>
          <p:cNvSpPr/>
          <p:nvPr/>
        </p:nvSpPr>
        <p:spPr>
          <a:xfrm>
            <a:off x="933450" y="4540491"/>
            <a:ext cx="7741500" cy="214200"/>
          </a:xfrm>
          <a:prstGeom prst="rect">
            <a:avLst/>
          </a:prstGeom>
          <a:noFill/>
          <a:ln>
            <a:noFill/>
          </a:ln>
        </p:spPr>
        <p:txBody>
          <a:bodyPr anchorCtr="0" anchor="ctr" bIns="0" lIns="0" spcFirstLastPara="1" rIns="0" wrap="square" tIns="0">
            <a:noAutofit/>
          </a:bodyPr>
          <a:lstStyle/>
          <a:p>
            <a:pPr indent="0" lvl="0" marL="0" marR="0" rtl="0" algn="l">
              <a:lnSpc>
                <a:spcPct val="150044"/>
              </a:lnSpc>
              <a:spcBef>
                <a:spcPts val="0"/>
              </a:spcBef>
              <a:spcAft>
                <a:spcPts val="0"/>
              </a:spcAft>
              <a:buClr>
                <a:srgbClr val="475569"/>
              </a:buClr>
              <a:buSzPts val="1125"/>
              <a:buFont typeface="Calibri"/>
              <a:buNone/>
            </a:pPr>
            <a:r>
              <a:rPr b="0" i="0" lang="en-US" sz="1125" u="none" cap="none" strike="noStrike">
                <a:solidFill>
                  <a:srgbClr val="475569"/>
                </a:solidFill>
                <a:latin typeface="Calibri"/>
                <a:ea typeface="Calibri"/>
                <a:cs typeface="Calibri"/>
                <a:sym typeface="Calibri"/>
              </a:rPr>
              <a:t>Secondary dataset providing sentiment analysis</a:t>
            </a:r>
            <a:endParaRPr b="0" i="0" sz="1125" u="none" cap="none" strike="noStrike">
              <a:solidFill>
                <a:schemeClr val="dk1"/>
              </a:solidFill>
              <a:latin typeface="Calibri"/>
              <a:ea typeface="Calibri"/>
              <a:cs typeface="Calibri"/>
              <a:sym typeface="Calibri"/>
            </a:endParaRPr>
          </a:p>
        </p:txBody>
      </p:sp>
      <p:sp>
        <p:nvSpPr>
          <p:cNvPr id="96" name="Google Shape;96;g3f49129ec13_0_0"/>
          <p:cNvSpPr/>
          <p:nvPr/>
        </p:nvSpPr>
        <p:spPr>
          <a:xfrm>
            <a:off x="933450" y="4811953"/>
            <a:ext cx="9574800" cy="214200"/>
          </a:xfrm>
          <a:prstGeom prst="rect">
            <a:avLst/>
          </a:prstGeom>
          <a:noFill/>
          <a:ln>
            <a:noFill/>
          </a:ln>
        </p:spPr>
        <p:txBody>
          <a:bodyPr anchorCtr="0" anchor="ctr" bIns="0" lIns="0" spcFirstLastPara="1" rIns="0" wrap="square" tIns="0">
            <a:noAutofit/>
          </a:bodyPr>
          <a:lstStyle/>
          <a:p>
            <a:pPr indent="0" lvl="0" marL="0" marR="0" rtl="0" algn="l">
              <a:lnSpc>
                <a:spcPct val="150044"/>
              </a:lnSpc>
              <a:spcBef>
                <a:spcPts val="0"/>
              </a:spcBef>
              <a:spcAft>
                <a:spcPts val="0"/>
              </a:spcAft>
              <a:buClr>
                <a:srgbClr val="475569"/>
              </a:buClr>
              <a:buSzPts val="1125"/>
              <a:buFont typeface="Calibri"/>
              <a:buNone/>
            </a:pPr>
            <a:r>
              <a:rPr b="0" i="0" lang="en-US" sz="1125" u="none" cap="none" strike="noStrike">
                <a:solidFill>
                  <a:srgbClr val="475569"/>
                </a:solidFill>
                <a:latin typeface="Calibri"/>
                <a:ea typeface="Calibri"/>
                <a:cs typeface="Calibri"/>
                <a:sym typeface="Calibri"/>
              </a:rPr>
              <a:t>Attributes: Translated_Review, Sentiment, Sentiment_Score</a:t>
            </a:r>
            <a:endParaRPr b="0" i="0" sz="1125" u="none" cap="none" strike="noStrike">
              <a:solidFill>
                <a:schemeClr val="dk1"/>
              </a:solidFill>
              <a:latin typeface="Calibri"/>
              <a:ea typeface="Calibri"/>
              <a:cs typeface="Calibri"/>
              <a:sym typeface="Calibri"/>
            </a:endParaRPr>
          </a:p>
        </p:txBody>
      </p:sp>
      <p:sp>
        <p:nvSpPr>
          <p:cNvPr id="97" name="Google Shape;97;g3f49129ec13_0_0"/>
          <p:cNvSpPr/>
          <p:nvPr/>
        </p:nvSpPr>
        <p:spPr>
          <a:xfrm>
            <a:off x="933450" y="5083416"/>
            <a:ext cx="8241600" cy="214200"/>
          </a:xfrm>
          <a:prstGeom prst="rect">
            <a:avLst/>
          </a:prstGeom>
          <a:noFill/>
          <a:ln>
            <a:noFill/>
          </a:ln>
        </p:spPr>
        <p:txBody>
          <a:bodyPr anchorCtr="0" anchor="ctr" bIns="0" lIns="0" spcFirstLastPara="1" rIns="0" wrap="square" tIns="0">
            <a:noAutofit/>
          </a:bodyPr>
          <a:lstStyle/>
          <a:p>
            <a:pPr indent="0" lvl="0" marL="0" marR="0" rtl="0" algn="l">
              <a:lnSpc>
                <a:spcPct val="150044"/>
              </a:lnSpc>
              <a:spcBef>
                <a:spcPts val="0"/>
              </a:spcBef>
              <a:spcAft>
                <a:spcPts val="0"/>
              </a:spcAft>
              <a:buClr>
                <a:srgbClr val="475569"/>
              </a:buClr>
              <a:buSzPts val="1125"/>
              <a:buFont typeface="Calibri"/>
              <a:buNone/>
            </a:pPr>
            <a:r>
              <a:rPr b="0" i="0" lang="en-US" sz="1125" u="none" cap="none" strike="noStrike">
                <a:solidFill>
                  <a:srgbClr val="475569"/>
                </a:solidFill>
                <a:latin typeface="Calibri"/>
                <a:ea typeface="Calibri"/>
                <a:cs typeface="Calibri"/>
                <a:sym typeface="Calibri"/>
              </a:rPr>
              <a:t>Linked to apps via a numeric app_id key, not name</a:t>
            </a:r>
            <a:endParaRPr b="0" i="0" sz="1125" u="none" cap="none" strike="noStrike">
              <a:solidFill>
                <a:schemeClr val="dk1"/>
              </a:solidFill>
              <a:latin typeface="Calibri"/>
              <a:ea typeface="Calibri"/>
              <a:cs typeface="Calibri"/>
              <a:sym typeface="Calibri"/>
            </a:endParaRPr>
          </a:p>
        </p:txBody>
      </p:sp>
      <p:sp>
        <p:nvSpPr>
          <p:cNvPr id="98" name="Google Shape;98;g3f49129ec13_0_0"/>
          <p:cNvSpPr/>
          <p:nvPr/>
        </p:nvSpPr>
        <p:spPr>
          <a:xfrm>
            <a:off x="4964906" y="6129338"/>
            <a:ext cx="1660500" cy="233400"/>
          </a:xfrm>
          <a:prstGeom prst="rect">
            <a:avLst/>
          </a:prstGeom>
          <a:noFill/>
          <a:ln>
            <a:noFill/>
          </a:ln>
        </p:spPr>
        <p:txBody>
          <a:bodyPr anchorCtr="0" anchor="ctr" bIns="0" lIns="0" spcFirstLastPara="1" rIns="0" wrap="square" tIns="0">
            <a:noAutofit/>
          </a:bodyPr>
          <a:lstStyle/>
          <a:p>
            <a:pPr indent="0" lvl="0" marL="0" marR="0" rtl="0" algn="l">
              <a:lnSpc>
                <a:spcPct val="150060"/>
              </a:lnSpc>
              <a:spcBef>
                <a:spcPts val="0"/>
              </a:spcBef>
              <a:spcAft>
                <a:spcPts val="0"/>
              </a:spcAft>
              <a:buClr>
                <a:srgbClr val="475569"/>
              </a:buClr>
              <a:buSzPts val="825"/>
              <a:buFont typeface="Calibri"/>
              <a:buNone/>
            </a:pPr>
            <a:r>
              <a:rPr b="0" i="0" lang="en-US" sz="825" u="none" cap="none" strike="noStrike">
                <a:solidFill>
                  <a:srgbClr val="475569"/>
                </a:solidFill>
                <a:latin typeface="Calibri"/>
                <a:ea typeface="Calibri"/>
                <a:cs typeface="Calibri"/>
                <a:sym typeface="Calibri"/>
              </a:rPr>
              <a:t>Python Cleaning</a:t>
            </a:r>
            <a:endParaRPr b="0" i="0" sz="825" u="none" cap="none" strike="noStrike">
              <a:solidFill>
                <a:schemeClr val="dk1"/>
              </a:solidFill>
              <a:latin typeface="Calibri"/>
              <a:ea typeface="Calibri"/>
              <a:cs typeface="Calibri"/>
              <a:sym typeface="Calibri"/>
            </a:endParaRPr>
          </a:p>
        </p:txBody>
      </p:sp>
      <p:pic>
        <p:nvPicPr>
          <p:cNvPr id="99" name="Google Shape;99;g3f49129ec13_0_0"/>
          <p:cNvPicPr preferRelativeResize="0"/>
          <p:nvPr/>
        </p:nvPicPr>
        <p:blipFill>
          <a:blip r:embed="rId13">
            <a:alphaModFix/>
          </a:blip>
          <a:stretch>
            <a:fillRect/>
          </a:stretch>
        </p:blipFill>
        <p:spPr>
          <a:xfrm>
            <a:off x="5094463" y="1713800"/>
            <a:ext cx="6600825" cy="4076700"/>
          </a:xfrm>
          <a:prstGeom prst="rect">
            <a:avLst/>
          </a:prstGeom>
          <a:noFill/>
          <a:ln>
            <a:noFill/>
          </a:ln>
        </p:spPr>
      </p:pic>
      <p:sp>
        <p:nvSpPr>
          <p:cNvPr id="100" name="Google Shape;100;g3f49129ec13_0_0"/>
          <p:cNvSpPr/>
          <p:nvPr/>
        </p:nvSpPr>
        <p:spPr>
          <a:xfrm>
            <a:off x="6527006" y="6129338"/>
            <a:ext cx="1416300" cy="233400"/>
          </a:xfrm>
          <a:prstGeom prst="rect">
            <a:avLst/>
          </a:prstGeom>
          <a:noFill/>
          <a:ln>
            <a:noFill/>
          </a:ln>
        </p:spPr>
        <p:txBody>
          <a:bodyPr anchorCtr="0" anchor="ctr" bIns="0" lIns="0" spcFirstLastPara="1" rIns="0" wrap="square" tIns="0">
            <a:noAutofit/>
          </a:bodyPr>
          <a:lstStyle/>
          <a:p>
            <a:pPr indent="0" lvl="0" marL="0" marR="0" rtl="0" algn="l">
              <a:lnSpc>
                <a:spcPct val="150060"/>
              </a:lnSpc>
              <a:spcBef>
                <a:spcPts val="0"/>
              </a:spcBef>
              <a:spcAft>
                <a:spcPts val="0"/>
              </a:spcAft>
              <a:buClr>
                <a:srgbClr val="475569"/>
              </a:buClr>
              <a:buSzPts val="825"/>
              <a:buFont typeface="Calibri"/>
              <a:buNone/>
            </a:pPr>
            <a:r>
              <a:rPr b="0" i="0" lang="en-US" sz="825" u="none" cap="none" strike="noStrike">
                <a:solidFill>
                  <a:srgbClr val="475569"/>
                </a:solidFill>
                <a:latin typeface="Calibri"/>
                <a:ea typeface="Calibri"/>
                <a:cs typeface="Calibri"/>
                <a:sym typeface="Calibri"/>
              </a:rPr>
              <a:t>MySQL DB Load</a:t>
            </a:r>
            <a:endParaRPr b="0" i="0" sz="825" u="none" cap="none" strike="noStrike">
              <a:solidFill>
                <a:schemeClr val="dk1"/>
              </a:solidFill>
              <a:latin typeface="Calibri"/>
              <a:ea typeface="Calibri"/>
              <a:cs typeface="Calibri"/>
              <a:sym typeface="Calibri"/>
            </a:endParaRPr>
          </a:p>
        </p:txBody>
      </p:sp>
      <p:sp>
        <p:nvSpPr>
          <p:cNvPr id="101" name="Google Shape;101;g3f49129ec13_0_0"/>
          <p:cNvSpPr/>
          <p:nvPr/>
        </p:nvSpPr>
        <p:spPr>
          <a:xfrm>
            <a:off x="7955756" y="6129338"/>
            <a:ext cx="2029200" cy="233400"/>
          </a:xfrm>
          <a:prstGeom prst="rect">
            <a:avLst/>
          </a:prstGeom>
          <a:noFill/>
          <a:ln>
            <a:noFill/>
          </a:ln>
        </p:spPr>
        <p:txBody>
          <a:bodyPr anchorCtr="0" anchor="ctr" bIns="0" lIns="0" spcFirstLastPara="1" rIns="0" wrap="square" tIns="0">
            <a:noAutofit/>
          </a:bodyPr>
          <a:lstStyle/>
          <a:p>
            <a:pPr indent="0" lvl="0" marL="0" marR="0" rtl="0" algn="l">
              <a:lnSpc>
                <a:spcPct val="150060"/>
              </a:lnSpc>
              <a:spcBef>
                <a:spcPts val="0"/>
              </a:spcBef>
              <a:spcAft>
                <a:spcPts val="0"/>
              </a:spcAft>
              <a:buClr>
                <a:srgbClr val="475569"/>
              </a:buClr>
              <a:buSzPts val="825"/>
              <a:buFont typeface="Calibri"/>
              <a:buNone/>
            </a:pPr>
            <a:r>
              <a:rPr b="0" i="0" lang="en-US" sz="825" u="none" cap="none" strike="noStrike">
                <a:solidFill>
                  <a:srgbClr val="475569"/>
                </a:solidFill>
                <a:latin typeface="Calibri"/>
                <a:ea typeface="Calibri"/>
                <a:cs typeface="Calibri"/>
                <a:sym typeface="Calibri"/>
              </a:rPr>
              <a:t>SQL Query Analysis</a:t>
            </a:r>
            <a:endParaRPr b="0" i="0" sz="825" u="none" cap="none" strike="noStrike">
              <a:solidFill>
                <a:schemeClr val="dk1"/>
              </a:solidFill>
              <a:latin typeface="Calibri"/>
              <a:ea typeface="Calibri"/>
              <a:cs typeface="Calibri"/>
              <a:sym typeface="Calibri"/>
            </a:endParaRPr>
          </a:p>
        </p:txBody>
      </p:sp>
      <p:pic>
        <p:nvPicPr>
          <p:cNvPr id="102" name="Google Shape;102;g3f49129ec13_0_0"/>
          <p:cNvPicPr preferRelativeResize="0"/>
          <p:nvPr/>
        </p:nvPicPr>
        <p:blipFill>
          <a:blip r:embed="rId14">
            <a:alphaModFix/>
          </a:blip>
          <a:stretch>
            <a:fillRect/>
          </a:stretch>
        </p:blipFill>
        <p:spPr>
          <a:xfrm>
            <a:off x="2118925" y="5488100"/>
            <a:ext cx="1057275" cy="10572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7" name="Shape 107"/>
        <p:cNvGrpSpPr/>
        <p:nvPr/>
      </p:nvGrpSpPr>
      <p:grpSpPr>
        <a:xfrm>
          <a:off x="0" y="0"/>
          <a:ext cx="0" cy="0"/>
          <a:chOff x="0" y="0"/>
          <a:chExt cx="0" cy="0"/>
        </a:xfrm>
      </p:grpSpPr>
      <p:pic>
        <p:nvPicPr>
          <p:cNvPr descr="preencoded.png" id="108" name="Google Shape;108;p4"/>
          <p:cNvPicPr preferRelativeResize="0"/>
          <p:nvPr/>
        </p:nvPicPr>
        <p:blipFill rotWithShape="1">
          <a:blip r:embed="rId3">
            <a:alphaModFix/>
          </a:blip>
          <a:srcRect b="0" l="0" r="0" t="0"/>
          <a:stretch/>
        </p:blipFill>
        <p:spPr>
          <a:xfrm>
            <a:off x="0" y="0"/>
            <a:ext cx="12192000" cy="6943725"/>
          </a:xfrm>
          <a:prstGeom prst="rect">
            <a:avLst/>
          </a:prstGeom>
          <a:noFill/>
          <a:ln>
            <a:noFill/>
          </a:ln>
        </p:spPr>
      </p:pic>
      <p:pic>
        <p:nvPicPr>
          <p:cNvPr descr="preencoded.png" id="109" name="Google Shape;109;p4"/>
          <p:cNvPicPr preferRelativeResize="0"/>
          <p:nvPr/>
        </p:nvPicPr>
        <p:blipFill rotWithShape="1">
          <a:blip r:embed="rId4">
            <a:alphaModFix/>
          </a:blip>
          <a:srcRect b="0" l="0" r="0" t="0"/>
          <a:stretch/>
        </p:blipFill>
        <p:spPr>
          <a:xfrm>
            <a:off x="0" y="0"/>
            <a:ext cx="12192000" cy="6943725"/>
          </a:xfrm>
          <a:prstGeom prst="rect">
            <a:avLst/>
          </a:prstGeom>
          <a:noFill/>
          <a:ln>
            <a:noFill/>
          </a:ln>
        </p:spPr>
      </p:pic>
      <p:pic>
        <p:nvPicPr>
          <p:cNvPr descr="preencoded.png" id="110" name="Google Shape;110;p4"/>
          <p:cNvPicPr preferRelativeResize="0"/>
          <p:nvPr/>
        </p:nvPicPr>
        <p:blipFill rotWithShape="1">
          <a:blip r:embed="rId5">
            <a:alphaModFix/>
          </a:blip>
          <a:srcRect b="0" l="0" r="0" t="0"/>
          <a:stretch/>
        </p:blipFill>
        <p:spPr>
          <a:xfrm>
            <a:off x="571500" y="85725"/>
            <a:ext cx="11049000" cy="670471"/>
          </a:xfrm>
          <a:prstGeom prst="rect">
            <a:avLst/>
          </a:prstGeom>
          <a:noFill/>
          <a:ln>
            <a:noFill/>
          </a:ln>
        </p:spPr>
      </p:pic>
      <p:pic>
        <p:nvPicPr>
          <p:cNvPr descr="preencoded.png" id="111" name="Google Shape;111;p4"/>
          <p:cNvPicPr preferRelativeResize="0"/>
          <p:nvPr/>
        </p:nvPicPr>
        <p:blipFill rotWithShape="1">
          <a:blip r:embed="rId6">
            <a:alphaModFix/>
          </a:blip>
          <a:srcRect b="0" l="0" r="0" t="0"/>
          <a:stretch/>
        </p:blipFill>
        <p:spPr>
          <a:xfrm>
            <a:off x="571500" y="803821"/>
            <a:ext cx="6538020" cy="323850"/>
          </a:xfrm>
          <a:prstGeom prst="rect">
            <a:avLst/>
          </a:prstGeom>
          <a:noFill/>
          <a:ln>
            <a:noFill/>
          </a:ln>
        </p:spPr>
      </p:pic>
      <p:pic>
        <p:nvPicPr>
          <p:cNvPr descr="preencoded.png" id="112" name="Google Shape;112;p4"/>
          <p:cNvPicPr preferRelativeResize="0"/>
          <p:nvPr/>
        </p:nvPicPr>
        <p:blipFill rotWithShape="1">
          <a:blip r:embed="rId7">
            <a:alphaModFix/>
          </a:blip>
          <a:srcRect b="0" l="0" r="0" t="0"/>
          <a:stretch/>
        </p:blipFill>
        <p:spPr>
          <a:xfrm>
            <a:off x="571500" y="803821"/>
            <a:ext cx="342900" cy="323850"/>
          </a:xfrm>
          <a:prstGeom prst="rect">
            <a:avLst/>
          </a:prstGeom>
          <a:noFill/>
          <a:ln>
            <a:noFill/>
          </a:ln>
        </p:spPr>
      </p:pic>
      <p:pic>
        <p:nvPicPr>
          <p:cNvPr descr="preencoded.png" id="113" name="Google Shape;113;p4"/>
          <p:cNvPicPr preferRelativeResize="0"/>
          <p:nvPr/>
        </p:nvPicPr>
        <p:blipFill rotWithShape="1">
          <a:blip r:embed="rId8">
            <a:alphaModFix/>
          </a:blip>
          <a:srcRect b="0" l="0" r="0" t="0"/>
          <a:stretch/>
        </p:blipFill>
        <p:spPr>
          <a:xfrm>
            <a:off x="914400" y="803821"/>
            <a:ext cx="1752451" cy="323850"/>
          </a:xfrm>
          <a:prstGeom prst="rect">
            <a:avLst/>
          </a:prstGeom>
          <a:noFill/>
          <a:ln>
            <a:noFill/>
          </a:ln>
        </p:spPr>
      </p:pic>
      <p:pic>
        <p:nvPicPr>
          <p:cNvPr descr="preencoded.png" id="114" name="Google Shape;114;p4"/>
          <p:cNvPicPr preferRelativeResize="0"/>
          <p:nvPr/>
        </p:nvPicPr>
        <p:blipFill rotWithShape="1">
          <a:blip r:embed="rId9">
            <a:alphaModFix/>
          </a:blip>
          <a:srcRect b="0" l="0" r="0" t="0"/>
          <a:stretch/>
        </p:blipFill>
        <p:spPr>
          <a:xfrm>
            <a:off x="2666851" y="803821"/>
            <a:ext cx="1524000" cy="323850"/>
          </a:xfrm>
          <a:prstGeom prst="rect">
            <a:avLst/>
          </a:prstGeom>
          <a:noFill/>
          <a:ln>
            <a:noFill/>
          </a:ln>
        </p:spPr>
      </p:pic>
      <p:pic>
        <p:nvPicPr>
          <p:cNvPr descr="preencoded.png" id="115" name="Google Shape;115;p4"/>
          <p:cNvPicPr preferRelativeResize="0"/>
          <p:nvPr/>
        </p:nvPicPr>
        <p:blipFill rotWithShape="1">
          <a:blip r:embed="rId10">
            <a:alphaModFix/>
          </a:blip>
          <a:srcRect b="0" l="0" r="0" t="0"/>
          <a:stretch/>
        </p:blipFill>
        <p:spPr>
          <a:xfrm>
            <a:off x="4190851" y="803821"/>
            <a:ext cx="2918668" cy="323850"/>
          </a:xfrm>
          <a:prstGeom prst="rect">
            <a:avLst/>
          </a:prstGeom>
          <a:noFill/>
          <a:ln>
            <a:noFill/>
          </a:ln>
        </p:spPr>
      </p:pic>
      <p:pic>
        <p:nvPicPr>
          <p:cNvPr descr="preencoded.png" id="116" name="Google Shape;116;p4"/>
          <p:cNvPicPr preferRelativeResize="0"/>
          <p:nvPr/>
        </p:nvPicPr>
        <p:blipFill rotWithShape="1">
          <a:blip r:embed="rId11">
            <a:alphaModFix/>
          </a:blip>
          <a:srcRect b="0" l="0" r="0" t="0"/>
          <a:stretch/>
        </p:blipFill>
        <p:spPr>
          <a:xfrm>
            <a:off x="571500" y="1127671"/>
            <a:ext cx="342900" cy="319088"/>
          </a:xfrm>
          <a:prstGeom prst="rect">
            <a:avLst/>
          </a:prstGeom>
          <a:noFill/>
          <a:ln>
            <a:noFill/>
          </a:ln>
        </p:spPr>
      </p:pic>
      <p:pic>
        <p:nvPicPr>
          <p:cNvPr descr="preencoded.png" id="117" name="Google Shape;117;p4"/>
          <p:cNvPicPr preferRelativeResize="0"/>
          <p:nvPr/>
        </p:nvPicPr>
        <p:blipFill rotWithShape="1">
          <a:blip r:embed="rId12">
            <a:alphaModFix/>
          </a:blip>
          <a:srcRect b="0" l="0" r="0" t="0"/>
          <a:stretch/>
        </p:blipFill>
        <p:spPr>
          <a:xfrm>
            <a:off x="914400" y="1127671"/>
            <a:ext cx="1752451" cy="319088"/>
          </a:xfrm>
          <a:prstGeom prst="rect">
            <a:avLst/>
          </a:prstGeom>
          <a:noFill/>
          <a:ln>
            <a:noFill/>
          </a:ln>
        </p:spPr>
      </p:pic>
      <p:pic>
        <p:nvPicPr>
          <p:cNvPr descr="preencoded.png" id="118" name="Google Shape;118;p4"/>
          <p:cNvPicPr preferRelativeResize="0"/>
          <p:nvPr/>
        </p:nvPicPr>
        <p:blipFill rotWithShape="1">
          <a:blip r:embed="rId13">
            <a:alphaModFix/>
          </a:blip>
          <a:srcRect b="0" l="0" r="0" t="0"/>
          <a:stretch/>
        </p:blipFill>
        <p:spPr>
          <a:xfrm>
            <a:off x="2666851" y="1127671"/>
            <a:ext cx="1524000" cy="319088"/>
          </a:xfrm>
          <a:prstGeom prst="rect">
            <a:avLst/>
          </a:prstGeom>
          <a:noFill/>
          <a:ln>
            <a:noFill/>
          </a:ln>
        </p:spPr>
      </p:pic>
      <p:pic>
        <p:nvPicPr>
          <p:cNvPr descr="preencoded.png" id="119" name="Google Shape;119;p4"/>
          <p:cNvPicPr preferRelativeResize="0"/>
          <p:nvPr/>
        </p:nvPicPr>
        <p:blipFill rotWithShape="1">
          <a:blip r:embed="rId14">
            <a:alphaModFix/>
          </a:blip>
          <a:srcRect b="0" l="0" r="0" t="0"/>
          <a:stretch/>
        </p:blipFill>
        <p:spPr>
          <a:xfrm>
            <a:off x="4190851" y="1127671"/>
            <a:ext cx="2918668" cy="319088"/>
          </a:xfrm>
          <a:prstGeom prst="rect">
            <a:avLst/>
          </a:prstGeom>
          <a:noFill/>
          <a:ln>
            <a:noFill/>
          </a:ln>
        </p:spPr>
      </p:pic>
      <p:pic>
        <p:nvPicPr>
          <p:cNvPr descr="preencoded.png" id="120" name="Google Shape;120;p4"/>
          <p:cNvPicPr preferRelativeResize="0"/>
          <p:nvPr/>
        </p:nvPicPr>
        <p:blipFill rotWithShape="1">
          <a:blip r:embed="rId15">
            <a:alphaModFix/>
          </a:blip>
          <a:srcRect b="0" l="0" r="0" t="0"/>
          <a:stretch/>
        </p:blipFill>
        <p:spPr>
          <a:xfrm>
            <a:off x="571500" y="1446758"/>
            <a:ext cx="342900" cy="319088"/>
          </a:xfrm>
          <a:prstGeom prst="rect">
            <a:avLst/>
          </a:prstGeom>
          <a:noFill/>
          <a:ln>
            <a:noFill/>
          </a:ln>
        </p:spPr>
      </p:pic>
      <p:pic>
        <p:nvPicPr>
          <p:cNvPr descr="preencoded.png" id="121" name="Google Shape;121;p4"/>
          <p:cNvPicPr preferRelativeResize="0"/>
          <p:nvPr/>
        </p:nvPicPr>
        <p:blipFill rotWithShape="1">
          <a:blip r:embed="rId16">
            <a:alphaModFix/>
          </a:blip>
          <a:srcRect b="0" l="0" r="0" t="0"/>
          <a:stretch/>
        </p:blipFill>
        <p:spPr>
          <a:xfrm>
            <a:off x="914400" y="1446758"/>
            <a:ext cx="1752451" cy="319088"/>
          </a:xfrm>
          <a:prstGeom prst="rect">
            <a:avLst/>
          </a:prstGeom>
          <a:noFill/>
          <a:ln>
            <a:noFill/>
          </a:ln>
        </p:spPr>
      </p:pic>
      <p:pic>
        <p:nvPicPr>
          <p:cNvPr descr="preencoded.png" id="122" name="Google Shape;122;p4"/>
          <p:cNvPicPr preferRelativeResize="0"/>
          <p:nvPr/>
        </p:nvPicPr>
        <p:blipFill rotWithShape="1">
          <a:blip r:embed="rId17">
            <a:alphaModFix/>
          </a:blip>
          <a:srcRect b="0" l="0" r="0" t="0"/>
          <a:stretch/>
        </p:blipFill>
        <p:spPr>
          <a:xfrm>
            <a:off x="2666851" y="1446758"/>
            <a:ext cx="1524000" cy="319088"/>
          </a:xfrm>
          <a:prstGeom prst="rect">
            <a:avLst/>
          </a:prstGeom>
          <a:noFill/>
          <a:ln>
            <a:noFill/>
          </a:ln>
        </p:spPr>
      </p:pic>
      <p:pic>
        <p:nvPicPr>
          <p:cNvPr descr="preencoded.png" id="123" name="Google Shape;123;p4"/>
          <p:cNvPicPr preferRelativeResize="0"/>
          <p:nvPr/>
        </p:nvPicPr>
        <p:blipFill rotWithShape="1">
          <a:blip r:embed="rId18">
            <a:alphaModFix/>
          </a:blip>
          <a:srcRect b="0" l="0" r="0" t="0"/>
          <a:stretch/>
        </p:blipFill>
        <p:spPr>
          <a:xfrm>
            <a:off x="4190851" y="1446758"/>
            <a:ext cx="2918668" cy="319088"/>
          </a:xfrm>
          <a:prstGeom prst="rect">
            <a:avLst/>
          </a:prstGeom>
          <a:noFill/>
          <a:ln>
            <a:noFill/>
          </a:ln>
        </p:spPr>
      </p:pic>
      <p:pic>
        <p:nvPicPr>
          <p:cNvPr descr="preencoded.png" id="124" name="Google Shape;124;p4"/>
          <p:cNvPicPr preferRelativeResize="0"/>
          <p:nvPr/>
        </p:nvPicPr>
        <p:blipFill rotWithShape="1">
          <a:blip r:embed="rId11">
            <a:alphaModFix/>
          </a:blip>
          <a:srcRect b="0" l="0" r="0" t="0"/>
          <a:stretch/>
        </p:blipFill>
        <p:spPr>
          <a:xfrm>
            <a:off x="571500" y="1765846"/>
            <a:ext cx="342900" cy="319088"/>
          </a:xfrm>
          <a:prstGeom prst="rect">
            <a:avLst/>
          </a:prstGeom>
          <a:noFill/>
          <a:ln>
            <a:noFill/>
          </a:ln>
        </p:spPr>
      </p:pic>
      <p:pic>
        <p:nvPicPr>
          <p:cNvPr descr="preencoded.png" id="125" name="Google Shape;125;p4"/>
          <p:cNvPicPr preferRelativeResize="0"/>
          <p:nvPr/>
        </p:nvPicPr>
        <p:blipFill rotWithShape="1">
          <a:blip r:embed="rId12">
            <a:alphaModFix/>
          </a:blip>
          <a:srcRect b="0" l="0" r="0" t="0"/>
          <a:stretch/>
        </p:blipFill>
        <p:spPr>
          <a:xfrm>
            <a:off x="914400" y="1765846"/>
            <a:ext cx="1752451" cy="319088"/>
          </a:xfrm>
          <a:prstGeom prst="rect">
            <a:avLst/>
          </a:prstGeom>
          <a:noFill/>
          <a:ln>
            <a:noFill/>
          </a:ln>
        </p:spPr>
      </p:pic>
      <p:pic>
        <p:nvPicPr>
          <p:cNvPr descr="preencoded.png" id="126" name="Google Shape;126;p4"/>
          <p:cNvPicPr preferRelativeResize="0"/>
          <p:nvPr/>
        </p:nvPicPr>
        <p:blipFill rotWithShape="1">
          <a:blip r:embed="rId13">
            <a:alphaModFix/>
          </a:blip>
          <a:srcRect b="0" l="0" r="0" t="0"/>
          <a:stretch/>
        </p:blipFill>
        <p:spPr>
          <a:xfrm>
            <a:off x="2666851" y="1765846"/>
            <a:ext cx="1524000" cy="319088"/>
          </a:xfrm>
          <a:prstGeom prst="rect">
            <a:avLst/>
          </a:prstGeom>
          <a:noFill/>
          <a:ln>
            <a:noFill/>
          </a:ln>
        </p:spPr>
      </p:pic>
      <p:pic>
        <p:nvPicPr>
          <p:cNvPr descr="preencoded.png" id="127" name="Google Shape;127;p4"/>
          <p:cNvPicPr preferRelativeResize="0"/>
          <p:nvPr/>
        </p:nvPicPr>
        <p:blipFill rotWithShape="1">
          <a:blip r:embed="rId14">
            <a:alphaModFix/>
          </a:blip>
          <a:srcRect b="0" l="0" r="0" t="0"/>
          <a:stretch/>
        </p:blipFill>
        <p:spPr>
          <a:xfrm>
            <a:off x="4190851" y="1765846"/>
            <a:ext cx="2918668" cy="319088"/>
          </a:xfrm>
          <a:prstGeom prst="rect">
            <a:avLst/>
          </a:prstGeom>
          <a:noFill/>
          <a:ln>
            <a:noFill/>
          </a:ln>
        </p:spPr>
      </p:pic>
      <p:pic>
        <p:nvPicPr>
          <p:cNvPr descr="preencoded.png" id="128" name="Google Shape;128;p4"/>
          <p:cNvPicPr preferRelativeResize="0"/>
          <p:nvPr/>
        </p:nvPicPr>
        <p:blipFill rotWithShape="1">
          <a:blip r:embed="rId19">
            <a:alphaModFix/>
          </a:blip>
          <a:srcRect b="0" l="0" r="0" t="0"/>
          <a:stretch/>
        </p:blipFill>
        <p:spPr>
          <a:xfrm>
            <a:off x="571500" y="2084933"/>
            <a:ext cx="342900" cy="504825"/>
          </a:xfrm>
          <a:prstGeom prst="rect">
            <a:avLst/>
          </a:prstGeom>
          <a:noFill/>
          <a:ln>
            <a:noFill/>
          </a:ln>
        </p:spPr>
      </p:pic>
      <p:pic>
        <p:nvPicPr>
          <p:cNvPr descr="preencoded.png" id="129" name="Google Shape;129;p4"/>
          <p:cNvPicPr preferRelativeResize="0"/>
          <p:nvPr/>
        </p:nvPicPr>
        <p:blipFill rotWithShape="1">
          <a:blip r:embed="rId20">
            <a:alphaModFix/>
          </a:blip>
          <a:srcRect b="0" l="0" r="0" t="0"/>
          <a:stretch/>
        </p:blipFill>
        <p:spPr>
          <a:xfrm>
            <a:off x="914400" y="2084933"/>
            <a:ext cx="1752451" cy="504825"/>
          </a:xfrm>
          <a:prstGeom prst="rect">
            <a:avLst/>
          </a:prstGeom>
          <a:noFill/>
          <a:ln>
            <a:noFill/>
          </a:ln>
        </p:spPr>
      </p:pic>
      <p:pic>
        <p:nvPicPr>
          <p:cNvPr descr="preencoded.png" id="130" name="Google Shape;130;p4"/>
          <p:cNvPicPr preferRelativeResize="0"/>
          <p:nvPr/>
        </p:nvPicPr>
        <p:blipFill rotWithShape="1">
          <a:blip r:embed="rId21">
            <a:alphaModFix/>
          </a:blip>
          <a:srcRect b="0" l="0" r="0" t="0"/>
          <a:stretch/>
        </p:blipFill>
        <p:spPr>
          <a:xfrm>
            <a:off x="2666851" y="2084933"/>
            <a:ext cx="1524000" cy="504825"/>
          </a:xfrm>
          <a:prstGeom prst="rect">
            <a:avLst/>
          </a:prstGeom>
          <a:noFill/>
          <a:ln>
            <a:noFill/>
          </a:ln>
        </p:spPr>
      </p:pic>
      <p:pic>
        <p:nvPicPr>
          <p:cNvPr descr="preencoded.png" id="131" name="Google Shape;131;p4"/>
          <p:cNvPicPr preferRelativeResize="0"/>
          <p:nvPr/>
        </p:nvPicPr>
        <p:blipFill rotWithShape="1">
          <a:blip r:embed="rId22">
            <a:alphaModFix/>
          </a:blip>
          <a:srcRect b="0" l="0" r="0" t="0"/>
          <a:stretch/>
        </p:blipFill>
        <p:spPr>
          <a:xfrm>
            <a:off x="4190851" y="2084933"/>
            <a:ext cx="2918668" cy="504825"/>
          </a:xfrm>
          <a:prstGeom prst="rect">
            <a:avLst/>
          </a:prstGeom>
          <a:noFill/>
          <a:ln>
            <a:noFill/>
          </a:ln>
        </p:spPr>
      </p:pic>
      <p:pic>
        <p:nvPicPr>
          <p:cNvPr descr="preencoded.png" id="132" name="Google Shape;132;p4"/>
          <p:cNvPicPr preferRelativeResize="0"/>
          <p:nvPr/>
        </p:nvPicPr>
        <p:blipFill rotWithShape="1">
          <a:blip r:embed="rId15">
            <a:alphaModFix/>
          </a:blip>
          <a:srcRect b="0" l="0" r="0" t="0"/>
          <a:stretch/>
        </p:blipFill>
        <p:spPr>
          <a:xfrm>
            <a:off x="571500" y="2589758"/>
            <a:ext cx="342900" cy="319088"/>
          </a:xfrm>
          <a:prstGeom prst="rect">
            <a:avLst/>
          </a:prstGeom>
          <a:noFill/>
          <a:ln>
            <a:noFill/>
          </a:ln>
        </p:spPr>
      </p:pic>
      <p:pic>
        <p:nvPicPr>
          <p:cNvPr descr="preencoded.png" id="133" name="Google Shape;133;p4"/>
          <p:cNvPicPr preferRelativeResize="0"/>
          <p:nvPr/>
        </p:nvPicPr>
        <p:blipFill rotWithShape="1">
          <a:blip r:embed="rId16">
            <a:alphaModFix/>
          </a:blip>
          <a:srcRect b="0" l="0" r="0" t="0"/>
          <a:stretch/>
        </p:blipFill>
        <p:spPr>
          <a:xfrm>
            <a:off x="914400" y="2589758"/>
            <a:ext cx="1752451" cy="319088"/>
          </a:xfrm>
          <a:prstGeom prst="rect">
            <a:avLst/>
          </a:prstGeom>
          <a:noFill/>
          <a:ln>
            <a:noFill/>
          </a:ln>
        </p:spPr>
      </p:pic>
      <p:pic>
        <p:nvPicPr>
          <p:cNvPr descr="preencoded.png" id="134" name="Google Shape;134;p4"/>
          <p:cNvPicPr preferRelativeResize="0"/>
          <p:nvPr/>
        </p:nvPicPr>
        <p:blipFill rotWithShape="1">
          <a:blip r:embed="rId17">
            <a:alphaModFix/>
          </a:blip>
          <a:srcRect b="0" l="0" r="0" t="0"/>
          <a:stretch/>
        </p:blipFill>
        <p:spPr>
          <a:xfrm>
            <a:off x="2666851" y="2589758"/>
            <a:ext cx="1524000" cy="319088"/>
          </a:xfrm>
          <a:prstGeom prst="rect">
            <a:avLst/>
          </a:prstGeom>
          <a:noFill/>
          <a:ln>
            <a:noFill/>
          </a:ln>
        </p:spPr>
      </p:pic>
      <p:pic>
        <p:nvPicPr>
          <p:cNvPr descr="preencoded.png" id="135" name="Google Shape;135;p4"/>
          <p:cNvPicPr preferRelativeResize="0"/>
          <p:nvPr/>
        </p:nvPicPr>
        <p:blipFill rotWithShape="1">
          <a:blip r:embed="rId18">
            <a:alphaModFix/>
          </a:blip>
          <a:srcRect b="0" l="0" r="0" t="0"/>
          <a:stretch/>
        </p:blipFill>
        <p:spPr>
          <a:xfrm>
            <a:off x="4190851" y="2589758"/>
            <a:ext cx="2918668" cy="319088"/>
          </a:xfrm>
          <a:prstGeom prst="rect">
            <a:avLst/>
          </a:prstGeom>
          <a:noFill/>
          <a:ln>
            <a:noFill/>
          </a:ln>
        </p:spPr>
      </p:pic>
      <p:pic>
        <p:nvPicPr>
          <p:cNvPr descr="preencoded.png" id="136" name="Google Shape;136;p4"/>
          <p:cNvPicPr preferRelativeResize="0"/>
          <p:nvPr/>
        </p:nvPicPr>
        <p:blipFill rotWithShape="1">
          <a:blip r:embed="rId23">
            <a:alphaModFix/>
          </a:blip>
          <a:srcRect b="0" l="0" r="0" t="0"/>
          <a:stretch/>
        </p:blipFill>
        <p:spPr>
          <a:xfrm>
            <a:off x="571500" y="2908846"/>
            <a:ext cx="342900" cy="504825"/>
          </a:xfrm>
          <a:prstGeom prst="rect">
            <a:avLst/>
          </a:prstGeom>
          <a:noFill/>
          <a:ln>
            <a:noFill/>
          </a:ln>
        </p:spPr>
      </p:pic>
      <p:pic>
        <p:nvPicPr>
          <p:cNvPr descr="preencoded.png" id="137" name="Google Shape;137;p4"/>
          <p:cNvPicPr preferRelativeResize="0"/>
          <p:nvPr/>
        </p:nvPicPr>
        <p:blipFill rotWithShape="1">
          <a:blip r:embed="rId24">
            <a:alphaModFix/>
          </a:blip>
          <a:srcRect b="0" l="0" r="0" t="0"/>
          <a:stretch/>
        </p:blipFill>
        <p:spPr>
          <a:xfrm>
            <a:off x="914400" y="2908846"/>
            <a:ext cx="1752451" cy="504825"/>
          </a:xfrm>
          <a:prstGeom prst="rect">
            <a:avLst/>
          </a:prstGeom>
          <a:noFill/>
          <a:ln>
            <a:noFill/>
          </a:ln>
        </p:spPr>
      </p:pic>
      <p:pic>
        <p:nvPicPr>
          <p:cNvPr descr="preencoded.png" id="138" name="Google Shape;138;p4"/>
          <p:cNvPicPr preferRelativeResize="0"/>
          <p:nvPr/>
        </p:nvPicPr>
        <p:blipFill rotWithShape="1">
          <a:blip r:embed="rId25">
            <a:alphaModFix/>
          </a:blip>
          <a:srcRect b="0" l="0" r="0" t="0"/>
          <a:stretch/>
        </p:blipFill>
        <p:spPr>
          <a:xfrm>
            <a:off x="2666851" y="2908846"/>
            <a:ext cx="1524000" cy="504825"/>
          </a:xfrm>
          <a:prstGeom prst="rect">
            <a:avLst/>
          </a:prstGeom>
          <a:noFill/>
          <a:ln>
            <a:noFill/>
          </a:ln>
        </p:spPr>
      </p:pic>
      <p:pic>
        <p:nvPicPr>
          <p:cNvPr descr="preencoded.png" id="139" name="Google Shape;139;p4"/>
          <p:cNvPicPr preferRelativeResize="0"/>
          <p:nvPr/>
        </p:nvPicPr>
        <p:blipFill rotWithShape="1">
          <a:blip r:embed="rId26">
            <a:alphaModFix/>
          </a:blip>
          <a:srcRect b="0" l="0" r="0" t="0"/>
          <a:stretch/>
        </p:blipFill>
        <p:spPr>
          <a:xfrm>
            <a:off x="4190851" y="2908846"/>
            <a:ext cx="2918668" cy="504825"/>
          </a:xfrm>
          <a:prstGeom prst="rect">
            <a:avLst/>
          </a:prstGeom>
          <a:noFill/>
          <a:ln>
            <a:noFill/>
          </a:ln>
        </p:spPr>
      </p:pic>
      <p:pic>
        <p:nvPicPr>
          <p:cNvPr descr="preencoded.png" id="140" name="Google Shape;140;p4"/>
          <p:cNvPicPr preferRelativeResize="0"/>
          <p:nvPr/>
        </p:nvPicPr>
        <p:blipFill rotWithShape="1">
          <a:blip r:embed="rId11">
            <a:alphaModFix/>
          </a:blip>
          <a:srcRect b="0" l="0" r="0" t="0"/>
          <a:stretch/>
        </p:blipFill>
        <p:spPr>
          <a:xfrm>
            <a:off x="571500" y="3413671"/>
            <a:ext cx="342900" cy="319088"/>
          </a:xfrm>
          <a:prstGeom prst="rect">
            <a:avLst/>
          </a:prstGeom>
          <a:noFill/>
          <a:ln>
            <a:noFill/>
          </a:ln>
        </p:spPr>
      </p:pic>
      <p:pic>
        <p:nvPicPr>
          <p:cNvPr descr="preencoded.png" id="141" name="Google Shape;141;p4"/>
          <p:cNvPicPr preferRelativeResize="0"/>
          <p:nvPr/>
        </p:nvPicPr>
        <p:blipFill rotWithShape="1">
          <a:blip r:embed="rId12">
            <a:alphaModFix/>
          </a:blip>
          <a:srcRect b="0" l="0" r="0" t="0"/>
          <a:stretch/>
        </p:blipFill>
        <p:spPr>
          <a:xfrm>
            <a:off x="914400" y="3413671"/>
            <a:ext cx="1752451" cy="319088"/>
          </a:xfrm>
          <a:prstGeom prst="rect">
            <a:avLst/>
          </a:prstGeom>
          <a:noFill/>
          <a:ln>
            <a:noFill/>
          </a:ln>
        </p:spPr>
      </p:pic>
      <p:pic>
        <p:nvPicPr>
          <p:cNvPr descr="preencoded.png" id="142" name="Google Shape;142;p4"/>
          <p:cNvPicPr preferRelativeResize="0"/>
          <p:nvPr/>
        </p:nvPicPr>
        <p:blipFill rotWithShape="1">
          <a:blip r:embed="rId13">
            <a:alphaModFix/>
          </a:blip>
          <a:srcRect b="0" l="0" r="0" t="0"/>
          <a:stretch/>
        </p:blipFill>
        <p:spPr>
          <a:xfrm>
            <a:off x="2666851" y="3413671"/>
            <a:ext cx="1524000" cy="319088"/>
          </a:xfrm>
          <a:prstGeom prst="rect">
            <a:avLst/>
          </a:prstGeom>
          <a:noFill/>
          <a:ln>
            <a:noFill/>
          </a:ln>
        </p:spPr>
      </p:pic>
      <p:pic>
        <p:nvPicPr>
          <p:cNvPr descr="preencoded.png" id="143" name="Google Shape;143;p4"/>
          <p:cNvPicPr preferRelativeResize="0"/>
          <p:nvPr/>
        </p:nvPicPr>
        <p:blipFill rotWithShape="1">
          <a:blip r:embed="rId14">
            <a:alphaModFix/>
          </a:blip>
          <a:srcRect b="0" l="0" r="0" t="0"/>
          <a:stretch/>
        </p:blipFill>
        <p:spPr>
          <a:xfrm>
            <a:off x="4190851" y="3413671"/>
            <a:ext cx="2918668" cy="319088"/>
          </a:xfrm>
          <a:prstGeom prst="rect">
            <a:avLst/>
          </a:prstGeom>
          <a:noFill/>
          <a:ln>
            <a:noFill/>
          </a:ln>
        </p:spPr>
      </p:pic>
      <p:pic>
        <p:nvPicPr>
          <p:cNvPr descr="preencoded.png" id="144" name="Google Shape;144;p4"/>
          <p:cNvPicPr preferRelativeResize="0"/>
          <p:nvPr/>
        </p:nvPicPr>
        <p:blipFill rotWithShape="1">
          <a:blip r:embed="rId27">
            <a:alphaModFix/>
          </a:blip>
          <a:srcRect b="0" l="0" r="0" t="0"/>
          <a:stretch/>
        </p:blipFill>
        <p:spPr>
          <a:xfrm>
            <a:off x="4286101" y="3844230"/>
            <a:ext cx="142875" cy="114300"/>
          </a:xfrm>
          <a:prstGeom prst="rect">
            <a:avLst/>
          </a:prstGeom>
          <a:noFill/>
          <a:ln>
            <a:noFill/>
          </a:ln>
        </p:spPr>
      </p:pic>
      <p:pic>
        <p:nvPicPr>
          <p:cNvPr descr="preencoded.png" id="145" name="Google Shape;145;p4"/>
          <p:cNvPicPr preferRelativeResize="0"/>
          <p:nvPr/>
        </p:nvPicPr>
        <p:blipFill rotWithShape="1">
          <a:blip r:embed="rId28">
            <a:alphaModFix/>
          </a:blip>
          <a:srcRect b="0" l="0" r="0" t="0"/>
          <a:stretch/>
        </p:blipFill>
        <p:spPr>
          <a:xfrm>
            <a:off x="7261920" y="803821"/>
            <a:ext cx="1389311" cy="569416"/>
          </a:xfrm>
          <a:prstGeom prst="rect">
            <a:avLst/>
          </a:prstGeom>
          <a:noFill/>
          <a:ln>
            <a:noFill/>
          </a:ln>
        </p:spPr>
      </p:pic>
      <p:pic>
        <p:nvPicPr>
          <p:cNvPr descr="preencoded.png" id="146" name="Google Shape;146;p4"/>
          <p:cNvPicPr preferRelativeResize="0"/>
          <p:nvPr/>
        </p:nvPicPr>
        <p:blipFill rotWithShape="1">
          <a:blip r:embed="rId29">
            <a:alphaModFix/>
          </a:blip>
          <a:srcRect b="0" l="0" r="0" t="0"/>
          <a:stretch/>
        </p:blipFill>
        <p:spPr>
          <a:xfrm>
            <a:off x="7376220" y="872579"/>
            <a:ext cx="130969" cy="110728"/>
          </a:xfrm>
          <a:prstGeom prst="rect">
            <a:avLst/>
          </a:prstGeom>
          <a:noFill/>
          <a:ln>
            <a:noFill/>
          </a:ln>
        </p:spPr>
      </p:pic>
      <p:pic>
        <p:nvPicPr>
          <p:cNvPr descr="preencoded.png" id="147" name="Google Shape;147;p4"/>
          <p:cNvPicPr preferRelativeResize="0"/>
          <p:nvPr/>
        </p:nvPicPr>
        <p:blipFill rotWithShape="1">
          <a:blip r:embed="rId30">
            <a:alphaModFix/>
          </a:blip>
          <a:srcRect b="0" l="0" r="0" t="0"/>
          <a:stretch/>
        </p:blipFill>
        <p:spPr>
          <a:xfrm>
            <a:off x="8746480" y="803821"/>
            <a:ext cx="1389311" cy="569416"/>
          </a:xfrm>
          <a:prstGeom prst="rect">
            <a:avLst/>
          </a:prstGeom>
          <a:noFill/>
          <a:ln>
            <a:noFill/>
          </a:ln>
        </p:spPr>
      </p:pic>
      <p:pic>
        <p:nvPicPr>
          <p:cNvPr descr="preencoded.png" id="148" name="Google Shape;148;p4"/>
          <p:cNvPicPr preferRelativeResize="0"/>
          <p:nvPr/>
        </p:nvPicPr>
        <p:blipFill rotWithShape="1">
          <a:blip r:embed="rId31">
            <a:alphaModFix/>
          </a:blip>
          <a:srcRect b="0" l="0" r="0" t="0"/>
          <a:stretch/>
        </p:blipFill>
        <p:spPr>
          <a:xfrm>
            <a:off x="8860780" y="872579"/>
            <a:ext cx="130969" cy="110728"/>
          </a:xfrm>
          <a:prstGeom prst="rect">
            <a:avLst/>
          </a:prstGeom>
          <a:noFill/>
          <a:ln>
            <a:noFill/>
          </a:ln>
        </p:spPr>
      </p:pic>
      <p:pic>
        <p:nvPicPr>
          <p:cNvPr descr="preencoded.png" id="149" name="Google Shape;149;p4"/>
          <p:cNvPicPr preferRelativeResize="0"/>
          <p:nvPr/>
        </p:nvPicPr>
        <p:blipFill rotWithShape="1">
          <a:blip r:embed="rId32">
            <a:alphaModFix/>
          </a:blip>
          <a:srcRect b="0" l="0" r="0" t="0"/>
          <a:stretch/>
        </p:blipFill>
        <p:spPr>
          <a:xfrm>
            <a:off x="10231041" y="803821"/>
            <a:ext cx="1389311" cy="569416"/>
          </a:xfrm>
          <a:prstGeom prst="rect">
            <a:avLst/>
          </a:prstGeom>
          <a:noFill/>
          <a:ln>
            <a:noFill/>
          </a:ln>
        </p:spPr>
      </p:pic>
      <p:pic>
        <p:nvPicPr>
          <p:cNvPr descr="preencoded.png" id="150" name="Google Shape;150;p4"/>
          <p:cNvPicPr preferRelativeResize="0"/>
          <p:nvPr/>
        </p:nvPicPr>
        <p:blipFill rotWithShape="1">
          <a:blip r:embed="rId33">
            <a:alphaModFix/>
          </a:blip>
          <a:srcRect b="0" l="0" r="0" t="0"/>
          <a:stretch/>
        </p:blipFill>
        <p:spPr>
          <a:xfrm>
            <a:off x="10345341" y="872579"/>
            <a:ext cx="130969" cy="110728"/>
          </a:xfrm>
          <a:prstGeom prst="rect">
            <a:avLst/>
          </a:prstGeom>
          <a:noFill/>
          <a:ln>
            <a:noFill/>
          </a:ln>
        </p:spPr>
      </p:pic>
      <p:pic>
        <p:nvPicPr>
          <p:cNvPr descr="preencoded.png" id="151" name="Google Shape;151;p4"/>
          <p:cNvPicPr preferRelativeResize="0"/>
          <p:nvPr/>
        </p:nvPicPr>
        <p:blipFill rotWithShape="1">
          <a:blip r:embed="rId34">
            <a:alphaModFix/>
          </a:blip>
          <a:srcRect b="0" l="0" r="0" t="0"/>
          <a:stretch/>
        </p:blipFill>
        <p:spPr>
          <a:xfrm>
            <a:off x="7261920" y="1411337"/>
            <a:ext cx="4358580" cy="2192834"/>
          </a:xfrm>
          <a:prstGeom prst="rect">
            <a:avLst/>
          </a:prstGeom>
          <a:noFill/>
          <a:ln>
            <a:noFill/>
          </a:ln>
        </p:spPr>
      </p:pic>
      <p:pic>
        <p:nvPicPr>
          <p:cNvPr descr="preencoded.png" id="152" name="Google Shape;152;p4"/>
          <p:cNvPicPr preferRelativeResize="0"/>
          <p:nvPr/>
        </p:nvPicPr>
        <p:blipFill rotWithShape="1">
          <a:blip r:embed="rId35">
            <a:alphaModFix/>
          </a:blip>
          <a:srcRect b="0" l="0" r="0" t="0"/>
          <a:stretch/>
        </p:blipFill>
        <p:spPr>
          <a:xfrm>
            <a:off x="7376220" y="1472208"/>
            <a:ext cx="119063" cy="97334"/>
          </a:xfrm>
          <a:prstGeom prst="rect">
            <a:avLst/>
          </a:prstGeom>
          <a:noFill/>
          <a:ln>
            <a:noFill/>
          </a:ln>
        </p:spPr>
      </p:pic>
      <p:pic>
        <p:nvPicPr>
          <p:cNvPr descr="preencoded.png" id="153" name="Google Shape;153;p4"/>
          <p:cNvPicPr preferRelativeResize="0"/>
          <p:nvPr/>
        </p:nvPicPr>
        <p:blipFill rotWithShape="1">
          <a:blip r:embed="rId36">
            <a:alphaModFix/>
          </a:blip>
          <a:srcRect b="0" l="0" r="0" t="0"/>
          <a:stretch/>
        </p:blipFill>
        <p:spPr>
          <a:xfrm>
            <a:off x="7376220" y="1716137"/>
            <a:ext cx="742950" cy="119063"/>
          </a:xfrm>
          <a:prstGeom prst="rect">
            <a:avLst/>
          </a:prstGeom>
          <a:noFill/>
          <a:ln>
            <a:noFill/>
          </a:ln>
        </p:spPr>
      </p:pic>
      <p:pic>
        <p:nvPicPr>
          <p:cNvPr descr="preencoded.png" id="154" name="Google Shape;154;p4"/>
          <p:cNvPicPr preferRelativeResize="0"/>
          <p:nvPr/>
        </p:nvPicPr>
        <p:blipFill rotWithShape="1">
          <a:blip r:embed="rId37">
            <a:alphaModFix/>
          </a:blip>
          <a:srcRect b="0" l="0" r="0" t="0"/>
          <a:stretch/>
        </p:blipFill>
        <p:spPr>
          <a:xfrm>
            <a:off x="7376220" y="2235101"/>
            <a:ext cx="897434" cy="119063"/>
          </a:xfrm>
          <a:prstGeom prst="rect">
            <a:avLst/>
          </a:prstGeom>
          <a:noFill/>
          <a:ln>
            <a:noFill/>
          </a:ln>
        </p:spPr>
      </p:pic>
      <p:pic>
        <p:nvPicPr>
          <p:cNvPr descr="preencoded.png" id="155" name="Google Shape;155;p4"/>
          <p:cNvPicPr preferRelativeResize="0"/>
          <p:nvPr/>
        </p:nvPicPr>
        <p:blipFill rotWithShape="1">
          <a:blip r:embed="rId38">
            <a:alphaModFix/>
          </a:blip>
          <a:srcRect b="0" l="0" r="0" t="0"/>
          <a:stretch/>
        </p:blipFill>
        <p:spPr>
          <a:xfrm>
            <a:off x="7376220" y="2634109"/>
            <a:ext cx="859334" cy="119063"/>
          </a:xfrm>
          <a:prstGeom prst="rect">
            <a:avLst/>
          </a:prstGeom>
          <a:noFill/>
          <a:ln>
            <a:noFill/>
          </a:ln>
        </p:spPr>
      </p:pic>
      <p:pic>
        <p:nvPicPr>
          <p:cNvPr descr="preencoded.png" id="156" name="Google Shape;156;p4"/>
          <p:cNvPicPr preferRelativeResize="0"/>
          <p:nvPr/>
        </p:nvPicPr>
        <p:blipFill rotWithShape="1">
          <a:blip r:embed="rId39">
            <a:alphaModFix/>
          </a:blip>
          <a:srcRect b="0" l="0" r="0" t="0"/>
          <a:stretch/>
        </p:blipFill>
        <p:spPr>
          <a:xfrm>
            <a:off x="7376220" y="3033117"/>
            <a:ext cx="933450" cy="119063"/>
          </a:xfrm>
          <a:prstGeom prst="rect">
            <a:avLst/>
          </a:prstGeom>
          <a:noFill/>
          <a:ln>
            <a:noFill/>
          </a:ln>
        </p:spPr>
      </p:pic>
      <p:pic>
        <p:nvPicPr>
          <p:cNvPr descr="preencoded.png" id="157" name="Google Shape;157;p4"/>
          <p:cNvPicPr preferRelativeResize="0"/>
          <p:nvPr/>
        </p:nvPicPr>
        <p:blipFill rotWithShape="1">
          <a:blip r:embed="rId40">
            <a:alphaModFix/>
          </a:blip>
          <a:srcRect b="0" l="0" r="0" t="0"/>
          <a:stretch/>
        </p:blipFill>
        <p:spPr>
          <a:xfrm>
            <a:off x="7261920" y="3642271"/>
            <a:ext cx="4358580" cy="409575"/>
          </a:xfrm>
          <a:prstGeom prst="rect">
            <a:avLst/>
          </a:prstGeom>
          <a:noFill/>
          <a:ln>
            <a:noFill/>
          </a:ln>
        </p:spPr>
      </p:pic>
      <p:pic>
        <p:nvPicPr>
          <p:cNvPr descr="preencoded.png" id="158" name="Google Shape;158;p4"/>
          <p:cNvPicPr preferRelativeResize="0"/>
          <p:nvPr/>
        </p:nvPicPr>
        <p:blipFill rotWithShape="1">
          <a:blip r:embed="rId41">
            <a:alphaModFix/>
          </a:blip>
          <a:srcRect b="0" l="0" r="0" t="0"/>
          <a:stretch/>
        </p:blipFill>
        <p:spPr>
          <a:xfrm>
            <a:off x="7395270" y="3779341"/>
            <a:ext cx="178594" cy="148828"/>
          </a:xfrm>
          <a:prstGeom prst="rect">
            <a:avLst/>
          </a:prstGeom>
          <a:noFill/>
          <a:ln>
            <a:noFill/>
          </a:ln>
        </p:spPr>
      </p:pic>
      <p:sp>
        <p:nvSpPr>
          <p:cNvPr id="159" name="Google Shape;159;p4"/>
          <p:cNvSpPr/>
          <p:nvPr/>
        </p:nvSpPr>
        <p:spPr>
          <a:xfrm>
            <a:off x="762000" y="85725"/>
            <a:ext cx="11430000" cy="365671"/>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F172A"/>
              </a:buClr>
              <a:buSzPts val="2400"/>
              <a:buFont typeface="Inter"/>
              <a:buNone/>
            </a:pPr>
            <a:r>
              <a:rPr b="1" i="0" lang="en-US" sz="2400" u="none" cap="none" strike="noStrike">
                <a:solidFill>
                  <a:srgbClr val="0F172A"/>
                </a:solidFill>
                <a:latin typeface="Inter"/>
                <a:ea typeface="Inter"/>
                <a:cs typeface="Inter"/>
                <a:sym typeface="Inter"/>
              </a:rPr>
              <a:t>Data Cleaning &amp; Preparation Results</a:t>
            </a:r>
            <a:endParaRPr b="0" i="0" sz="2400" u="none" cap="none" strike="noStrike">
              <a:solidFill>
                <a:schemeClr val="dk1"/>
              </a:solidFill>
              <a:latin typeface="Calibri"/>
              <a:ea typeface="Calibri"/>
              <a:cs typeface="Calibri"/>
              <a:sym typeface="Calibri"/>
            </a:endParaRPr>
          </a:p>
        </p:txBody>
      </p:sp>
      <p:sp>
        <p:nvSpPr>
          <p:cNvPr id="160" name="Google Shape;160;p4"/>
          <p:cNvSpPr/>
          <p:nvPr/>
        </p:nvSpPr>
        <p:spPr>
          <a:xfrm>
            <a:off x="666750" y="803821"/>
            <a:ext cx="228600" cy="32385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475569"/>
              </a:buClr>
              <a:buSzPts val="900"/>
              <a:buFont typeface="Calibri"/>
              <a:buNone/>
            </a:pPr>
            <a:r>
              <a:rPr b="1" i="0" lang="en-US" sz="900" u="none" cap="none" strike="noStrike">
                <a:solidFill>
                  <a:srgbClr val="475569"/>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61" name="Google Shape;161;p4"/>
          <p:cNvSpPr/>
          <p:nvPr/>
        </p:nvSpPr>
        <p:spPr>
          <a:xfrm>
            <a:off x="1009650" y="803821"/>
            <a:ext cx="1638151" cy="32385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475569"/>
              </a:buClr>
              <a:buSzPts val="900"/>
              <a:buFont typeface="Inter"/>
              <a:buNone/>
            </a:pPr>
            <a:r>
              <a:rPr b="1" i="0" lang="en-US" sz="900" u="none" cap="none" strike="noStrike">
                <a:solidFill>
                  <a:srgbClr val="475569"/>
                </a:solidFill>
                <a:latin typeface="Inter"/>
                <a:ea typeface="Inter"/>
                <a:cs typeface="Inter"/>
                <a:sym typeface="Inter"/>
              </a:rPr>
              <a:t>STEP</a:t>
            </a:r>
            <a:endParaRPr b="0" i="0" sz="900" u="none" cap="none" strike="noStrike">
              <a:solidFill>
                <a:schemeClr val="dk1"/>
              </a:solidFill>
              <a:latin typeface="Calibri"/>
              <a:ea typeface="Calibri"/>
              <a:cs typeface="Calibri"/>
              <a:sym typeface="Calibri"/>
            </a:endParaRPr>
          </a:p>
        </p:txBody>
      </p:sp>
      <p:sp>
        <p:nvSpPr>
          <p:cNvPr id="162" name="Google Shape;162;p4"/>
          <p:cNvSpPr/>
          <p:nvPr/>
        </p:nvSpPr>
        <p:spPr>
          <a:xfrm>
            <a:off x="2762101" y="803821"/>
            <a:ext cx="1409700" cy="32385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475569"/>
              </a:buClr>
              <a:buSzPts val="900"/>
              <a:buFont typeface="Inter"/>
              <a:buNone/>
            </a:pPr>
            <a:r>
              <a:rPr b="1" i="0" lang="en-US" sz="900" u="none" cap="none" strike="noStrike">
                <a:solidFill>
                  <a:srgbClr val="475569"/>
                </a:solidFill>
                <a:latin typeface="Inter"/>
                <a:ea typeface="Inter"/>
                <a:cs typeface="Inter"/>
                <a:sym typeface="Inter"/>
              </a:rPr>
              <a:t>ACTION</a:t>
            </a:r>
            <a:endParaRPr b="0" i="0" sz="900" u="none" cap="none" strike="noStrike">
              <a:solidFill>
                <a:schemeClr val="dk1"/>
              </a:solidFill>
              <a:latin typeface="Calibri"/>
              <a:ea typeface="Calibri"/>
              <a:cs typeface="Calibri"/>
              <a:sym typeface="Calibri"/>
            </a:endParaRPr>
          </a:p>
        </p:txBody>
      </p:sp>
      <p:sp>
        <p:nvSpPr>
          <p:cNvPr id="163" name="Google Shape;163;p4"/>
          <p:cNvSpPr/>
          <p:nvPr/>
        </p:nvSpPr>
        <p:spPr>
          <a:xfrm>
            <a:off x="4286101" y="803821"/>
            <a:ext cx="2804368" cy="32385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475569"/>
              </a:buClr>
              <a:buSzPts val="900"/>
              <a:buFont typeface="Inter"/>
              <a:buNone/>
            </a:pPr>
            <a:r>
              <a:rPr b="1" i="0" lang="en-US" sz="900" u="none" cap="none" strike="noStrike">
                <a:solidFill>
                  <a:srgbClr val="475569"/>
                </a:solidFill>
                <a:latin typeface="Inter"/>
                <a:ea typeface="Inter"/>
                <a:cs typeface="Inter"/>
                <a:sym typeface="Inter"/>
              </a:rPr>
              <a:t>RESULT</a:t>
            </a:r>
            <a:endParaRPr b="0" i="0" sz="900" u="none" cap="none" strike="noStrike">
              <a:solidFill>
                <a:schemeClr val="dk1"/>
              </a:solidFill>
              <a:latin typeface="Calibri"/>
              <a:ea typeface="Calibri"/>
              <a:cs typeface="Calibri"/>
              <a:sym typeface="Calibri"/>
            </a:endParaRPr>
          </a:p>
        </p:txBody>
      </p:sp>
      <p:sp>
        <p:nvSpPr>
          <p:cNvPr id="164" name="Google Shape;164;p4"/>
          <p:cNvSpPr/>
          <p:nvPr/>
        </p:nvSpPr>
        <p:spPr>
          <a:xfrm>
            <a:off x="533400" y="1127671"/>
            <a:ext cx="228600" cy="319088"/>
          </a:xfrm>
          <a:prstGeom prst="rect">
            <a:avLst/>
          </a:prstGeom>
          <a:noFill/>
          <a:ln>
            <a:noFill/>
          </a:ln>
        </p:spPr>
        <p:txBody>
          <a:bodyPr anchorCtr="0" anchor="ctr" bIns="0" lIns="0" spcFirstLastPara="1" rIns="0" wrap="square" tIns="0">
            <a:noAutofit/>
          </a:bodyPr>
          <a:lstStyle/>
          <a:p>
            <a:pPr indent="0" lvl="0" marL="0" marR="0" rtl="0" algn="ctr">
              <a:lnSpc>
                <a:spcPct val="150051"/>
              </a:lnSpc>
              <a:spcBef>
                <a:spcPts val="0"/>
              </a:spcBef>
              <a:spcAft>
                <a:spcPts val="0"/>
              </a:spcAft>
              <a:buClr>
                <a:srgbClr val="0F172A"/>
              </a:buClr>
              <a:buSzPts val="975"/>
              <a:buFont typeface="Calibri"/>
              <a:buNone/>
            </a:pPr>
            <a:r>
              <a:rPr b="0" i="0" lang="en-US" sz="975" u="none" cap="none" strike="noStrike">
                <a:solidFill>
                  <a:srgbClr val="0F172A"/>
                </a:solidFill>
                <a:latin typeface="Calibri"/>
                <a:ea typeface="Calibri"/>
                <a:cs typeface="Calibri"/>
                <a:sym typeface="Calibri"/>
              </a:rPr>
              <a:t>01</a:t>
            </a:r>
            <a:endParaRPr b="0" i="0" sz="975" u="none" cap="none" strike="noStrike">
              <a:solidFill>
                <a:schemeClr val="dk1"/>
              </a:solidFill>
              <a:latin typeface="Calibri"/>
              <a:ea typeface="Calibri"/>
              <a:cs typeface="Calibri"/>
              <a:sym typeface="Calibri"/>
            </a:endParaRPr>
          </a:p>
        </p:txBody>
      </p:sp>
      <p:sp>
        <p:nvSpPr>
          <p:cNvPr id="165" name="Google Shape;165;p4"/>
          <p:cNvSpPr/>
          <p:nvPr/>
        </p:nvSpPr>
        <p:spPr>
          <a:xfrm>
            <a:off x="1009650" y="1127671"/>
            <a:ext cx="1638151" cy="319088"/>
          </a:xfrm>
          <a:prstGeom prst="rect">
            <a:avLst/>
          </a:prstGeom>
          <a:noFill/>
          <a:ln>
            <a:noFill/>
          </a:ln>
        </p:spPr>
        <p:txBody>
          <a:bodyPr anchorCtr="0" anchor="ctr" bIns="0" lIns="0" spcFirstLastPara="1" rIns="0" wrap="square" tIns="0">
            <a:noAutofit/>
          </a:bodyPr>
          <a:lstStyle/>
          <a:p>
            <a:pPr indent="0" lvl="0" marL="0" marR="0" rtl="0" algn="l">
              <a:lnSpc>
                <a:spcPct val="150051"/>
              </a:lnSpc>
              <a:spcBef>
                <a:spcPts val="0"/>
              </a:spcBef>
              <a:spcAft>
                <a:spcPts val="0"/>
              </a:spcAft>
              <a:buClr>
                <a:srgbClr val="0F172A"/>
              </a:buClr>
              <a:buSzPts val="975"/>
              <a:buFont typeface="Inter"/>
              <a:buNone/>
            </a:pPr>
            <a:r>
              <a:rPr b="0" i="0" lang="en-US" sz="975" u="none" cap="none" strike="noStrike">
                <a:solidFill>
                  <a:srgbClr val="0F172A"/>
                </a:solidFill>
                <a:latin typeface="Inter"/>
                <a:ea typeface="Inter"/>
                <a:cs typeface="Inter"/>
                <a:sym typeface="Inter"/>
              </a:rPr>
              <a:t>Load Raw</a:t>
            </a:r>
            <a:endParaRPr b="0" i="0" sz="975" u="none" cap="none" strike="noStrike">
              <a:solidFill>
                <a:schemeClr val="dk1"/>
              </a:solidFill>
              <a:latin typeface="Calibri"/>
              <a:ea typeface="Calibri"/>
              <a:cs typeface="Calibri"/>
              <a:sym typeface="Calibri"/>
            </a:endParaRPr>
          </a:p>
        </p:txBody>
      </p:sp>
      <p:sp>
        <p:nvSpPr>
          <p:cNvPr id="166" name="Google Shape;166;p4"/>
          <p:cNvSpPr/>
          <p:nvPr/>
        </p:nvSpPr>
        <p:spPr>
          <a:xfrm>
            <a:off x="2762101" y="1127671"/>
            <a:ext cx="1766411" cy="319088"/>
          </a:xfrm>
          <a:prstGeom prst="rect">
            <a:avLst/>
          </a:prstGeom>
          <a:noFill/>
          <a:ln>
            <a:noFill/>
          </a:ln>
        </p:spPr>
        <p:txBody>
          <a:bodyPr anchorCtr="0" anchor="ctr" bIns="0" lIns="0" spcFirstLastPara="1" rIns="0" wrap="square" tIns="0">
            <a:noAutofit/>
          </a:bodyPr>
          <a:lstStyle/>
          <a:p>
            <a:pPr indent="0" lvl="0" marL="0" marR="0" rtl="0" algn="l">
              <a:lnSpc>
                <a:spcPct val="150051"/>
              </a:lnSpc>
              <a:spcBef>
                <a:spcPts val="0"/>
              </a:spcBef>
              <a:spcAft>
                <a:spcPts val="0"/>
              </a:spcAft>
              <a:buClr>
                <a:srgbClr val="0F172A"/>
              </a:buClr>
              <a:buSzPts val="975"/>
              <a:buFont typeface="Calibri"/>
              <a:buNone/>
            </a:pPr>
            <a:r>
              <a:rPr b="0" i="0" lang="en-US" sz="975" u="none" cap="none" strike="noStrike">
                <a:solidFill>
                  <a:srgbClr val="0F172A"/>
                </a:solidFill>
                <a:latin typeface="Calibri"/>
                <a:ea typeface="Calibri"/>
                <a:cs typeface="Calibri"/>
                <a:sym typeface="Calibri"/>
              </a:rPr>
              <a:t>pd.read_csv()</a:t>
            </a:r>
            <a:endParaRPr b="0" i="0" sz="975" u="none" cap="none" strike="noStrike">
              <a:solidFill>
                <a:schemeClr val="dk1"/>
              </a:solidFill>
              <a:latin typeface="Calibri"/>
              <a:ea typeface="Calibri"/>
              <a:cs typeface="Calibri"/>
              <a:sym typeface="Calibri"/>
            </a:endParaRPr>
          </a:p>
        </p:txBody>
      </p:sp>
      <p:sp>
        <p:nvSpPr>
          <p:cNvPr id="167" name="Google Shape;167;p4"/>
          <p:cNvSpPr/>
          <p:nvPr/>
        </p:nvSpPr>
        <p:spPr>
          <a:xfrm>
            <a:off x="4286101" y="1213396"/>
            <a:ext cx="3596640" cy="142875"/>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2563EB"/>
              </a:buClr>
              <a:buSzPts val="900"/>
              <a:buFont typeface="Calibri"/>
              <a:buNone/>
            </a:pPr>
            <a:r>
              <a:rPr b="0" i="0" lang="en-US" sz="900" u="none" cap="none" strike="noStrike">
                <a:solidFill>
                  <a:srgbClr val="2563EB"/>
                </a:solidFill>
                <a:latin typeface="Calibri"/>
                <a:ea typeface="Calibri"/>
                <a:cs typeface="Calibri"/>
                <a:sym typeface="Calibri"/>
              </a:rPr>
              <a:t>10,841 rows × 13 cols</a:t>
            </a:r>
            <a:endParaRPr b="0" i="0" sz="900" u="none" cap="none" strike="noStrike">
              <a:solidFill>
                <a:schemeClr val="dk1"/>
              </a:solidFill>
              <a:latin typeface="Calibri"/>
              <a:ea typeface="Calibri"/>
              <a:cs typeface="Calibri"/>
              <a:sym typeface="Calibri"/>
            </a:endParaRPr>
          </a:p>
        </p:txBody>
      </p:sp>
      <p:sp>
        <p:nvSpPr>
          <p:cNvPr id="168" name="Google Shape;168;p4"/>
          <p:cNvSpPr/>
          <p:nvPr/>
        </p:nvSpPr>
        <p:spPr>
          <a:xfrm>
            <a:off x="533400" y="1446758"/>
            <a:ext cx="228600" cy="319088"/>
          </a:xfrm>
          <a:prstGeom prst="rect">
            <a:avLst/>
          </a:prstGeom>
          <a:noFill/>
          <a:ln>
            <a:noFill/>
          </a:ln>
        </p:spPr>
        <p:txBody>
          <a:bodyPr anchorCtr="0" anchor="ctr" bIns="0" lIns="0" spcFirstLastPara="1" rIns="0" wrap="square" tIns="0">
            <a:noAutofit/>
          </a:bodyPr>
          <a:lstStyle/>
          <a:p>
            <a:pPr indent="0" lvl="0" marL="0" marR="0" rtl="0" algn="ctr">
              <a:lnSpc>
                <a:spcPct val="150051"/>
              </a:lnSpc>
              <a:spcBef>
                <a:spcPts val="0"/>
              </a:spcBef>
              <a:spcAft>
                <a:spcPts val="0"/>
              </a:spcAft>
              <a:buClr>
                <a:srgbClr val="0F172A"/>
              </a:buClr>
              <a:buSzPts val="975"/>
              <a:buFont typeface="Calibri"/>
              <a:buNone/>
            </a:pPr>
            <a:r>
              <a:rPr b="0" i="0" lang="en-US" sz="975" u="none" cap="none" strike="noStrike">
                <a:solidFill>
                  <a:srgbClr val="0F172A"/>
                </a:solidFill>
                <a:latin typeface="Calibri"/>
                <a:ea typeface="Calibri"/>
                <a:cs typeface="Calibri"/>
                <a:sym typeface="Calibri"/>
              </a:rPr>
              <a:t>02</a:t>
            </a:r>
            <a:endParaRPr b="0" i="0" sz="975" u="none" cap="none" strike="noStrike">
              <a:solidFill>
                <a:schemeClr val="dk1"/>
              </a:solidFill>
              <a:latin typeface="Calibri"/>
              <a:ea typeface="Calibri"/>
              <a:cs typeface="Calibri"/>
              <a:sym typeface="Calibri"/>
            </a:endParaRPr>
          </a:p>
        </p:txBody>
      </p:sp>
      <p:sp>
        <p:nvSpPr>
          <p:cNvPr id="169" name="Google Shape;169;p4"/>
          <p:cNvSpPr/>
          <p:nvPr/>
        </p:nvSpPr>
        <p:spPr>
          <a:xfrm>
            <a:off x="1009650" y="1446758"/>
            <a:ext cx="2327638" cy="319088"/>
          </a:xfrm>
          <a:prstGeom prst="rect">
            <a:avLst/>
          </a:prstGeom>
          <a:noFill/>
          <a:ln>
            <a:noFill/>
          </a:ln>
        </p:spPr>
        <p:txBody>
          <a:bodyPr anchorCtr="0" anchor="ctr" bIns="0" lIns="0" spcFirstLastPara="1" rIns="0" wrap="square" tIns="0">
            <a:noAutofit/>
          </a:bodyPr>
          <a:lstStyle/>
          <a:p>
            <a:pPr indent="0" lvl="0" marL="0" marR="0" rtl="0" algn="l">
              <a:lnSpc>
                <a:spcPct val="150051"/>
              </a:lnSpc>
              <a:spcBef>
                <a:spcPts val="0"/>
              </a:spcBef>
              <a:spcAft>
                <a:spcPts val="0"/>
              </a:spcAft>
              <a:buClr>
                <a:srgbClr val="0F172A"/>
              </a:buClr>
              <a:buSzPts val="975"/>
              <a:buFont typeface="Inter"/>
              <a:buNone/>
            </a:pPr>
            <a:r>
              <a:rPr b="0" i="0" lang="en-US" sz="975" u="none" cap="none" strike="noStrike">
                <a:solidFill>
                  <a:srgbClr val="0F172A"/>
                </a:solidFill>
                <a:latin typeface="Inter"/>
                <a:ea typeface="Inter"/>
                <a:cs typeface="Inter"/>
                <a:sym typeface="Inter"/>
              </a:rPr>
              <a:t>Remove Duplicates</a:t>
            </a:r>
            <a:endParaRPr b="0" i="0" sz="975" u="none" cap="none" strike="noStrike">
              <a:solidFill>
                <a:schemeClr val="dk1"/>
              </a:solidFill>
              <a:latin typeface="Calibri"/>
              <a:ea typeface="Calibri"/>
              <a:cs typeface="Calibri"/>
              <a:sym typeface="Calibri"/>
            </a:endParaRPr>
          </a:p>
        </p:txBody>
      </p:sp>
      <p:sp>
        <p:nvSpPr>
          <p:cNvPr id="170" name="Google Shape;170;p4"/>
          <p:cNvSpPr/>
          <p:nvPr/>
        </p:nvSpPr>
        <p:spPr>
          <a:xfrm>
            <a:off x="2762101" y="1446758"/>
            <a:ext cx="2286476" cy="319088"/>
          </a:xfrm>
          <a:prstGeom prst="rect">
            <a:avLst/>
          </a:prstGeom>
          <a:noFill/>
          <a:ln>
            <a:noFill/>
          </a:ln>
        </p:spPr>
        <p:txBody>
          <a:bodyPr anchorCtr="0" anchor="ctr" bIns="0" lIns="0" spcFirstLastPara="1" rIns="0" wrap="square" tIns="0">
            <a:noAutofit/>
          </a:bodyPr>
          <a:lstStyle/>
          <a:p>
            <a:pPr indent="0" lvl="0" marL="0" marR="0" rtl="0" algn="l">
              <a:lnSpc>
                <a:spcPct val="150051"/>
              </a:lnSpc>
              <a:spcBef>
                <a:spcPts val="0"/>
              </a:spcBef>
              <a:spcAft>
                <a:spcPts val="0"/>
              </a:spcAft>
              <a:buClr>
                <a:srgbClr val="0F172A"/>
              </a:buClr>
              <a:buSzPts val="975"/>
              <a:buFont typeface="Calibri"/>
              <a:buNone/>
            </a:pPr>
            <a:r>
              <a:rPr b="0" i="0" lang="en-US" sz="975" u="none" cap="none" strike="noStrike">
                <a:solidFill>
                  <a:srgbClr val="0F172A"/>
                </a:solidFill>
                <a:latin typeface="Calibri"/>
                <a:ea typeface="Calibri"/>
                <a:cs typeface="Calibri"/>
                <a:sym typeface="Calibri"/>
              </a:rPr>
              <a:t>drop_duplicates()</a:t>
            </a:r>
            <a:endParaRPr b="0" i="0" sz="975" u="none" cap="none" strike="noStrike">
              <a:solidFill>
                <a:schemeClr val="dk1"/>
              </a:solidFill>
              <a:latin typeface="Calibri"/>
              <a:ea typeface="Calibri"/>
              <a:cs typeface="Calibri"/>
              <a:sym typeface="Calibri"/>
            </a:endParaRPr>
          </a:p>
        </p:txBody>
      </p:sp>
      <p:sp>
        <p:nvSpPr>
          <p:cNvPr id="171" name="Google Shape;171;p4"/>
          <p:cNvSpPr/>
          <p:nvPr/>
        </p:nvSpPr>
        <p:spPr>
          <a:xfrm>
            <a:off x="4286101" y="1532483"/>
            <a:ext cx="3886200" cy="142875"/>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2563EB"/>
              </a:buClr>
              <a:buSzPts val="900"/>
              <a:buFont typeface="Calibri"/>
              <a:buNone/>
            </a:pPr>
            <a:r>
              <a:rPr b="0" i="0" lang="en-US" sz="900" u="none" cap="none" strike="noStrike">
                <a:solidFill>
                  <a:srgbClr val="2563EB"/>
                </a:solidFill>
                <a:latin typeface="Calibri"/>
                <a:ea typeface="Calibri"/>
                <a:cs typeface="Calibri"/>
                <a:sym typeface="Calibri"/>
              </a:rPr>
              <a:t>−483 rows → </a:t>
            </a:r>
            <a:r>
              <a:rPr b="1" i="0" lang="en-US" sz="900" u="none" cap="none" strike="noStrike">
                <a:solidFill>
                  <a:srgbClr val="2563EB"/>
                </a:solidFill>
                <a:latin typeface="Calibri"/>
                <a:ea typeface="Calibri"/>
                <a:cs typeface="Calibri"/>
                <a:sym typeface="Calibri"/>
              </a:rPr>
              <a:t>10,358 rows</a:t>
            </a:r>
            <a:endParaRPr b="0" i="0" sz="900" u="none" cap="none" strike="noStrike">
              <a:solidFill>
                <a:schemeClr val="dk1"/>
              </a:solidFill>
              <a:latin typeface="Calibri"/>
              <a:ea typeface="Calibri"/>
              <a:cs typeface="Calibri"/>
              <a:sym typeface="Calibri"/>
            </a:endParaRPr>
          </a:p>
        </p:txBody>
      </p:sp>
      <p:sp>
        <p:nvSpPr>
          <p:cNvPr id="172" name="Google Shape;172;p4"/>
          <p:cNvSpPr/>
          <p:nvPr/>
        </p:nvSpPr>
        <p:spPr>
          <a:xfrm>
            <a:off x="533400" y="1765846"/>
            <a:ext cx="228600" cy="319088"/>
          </a:xfrm>
          <a:prstGeom prst="rect">
            <a:avLst/>
          </a:prstGeom>
          <a:noFill/>
          <a:ln>
            <a:noFill/>
          </a:ln>
        </p:spPr>
        <p:txBody>
          <a:bodyPr anchorCtr="0" anchor="ctr" bIns="0" lIns="0" spcFirstLastPara="1" rIns="0" wrap="square" tIns="0">
            <a:noAutofit/>
          </a:bodyPr>
          <a:lstStyle/>
          <a:p>
            <a:pPr indent="0" lvl="0" marL="0" marR="0" rtl="0" algn="ctr">
              <a:lnSpc>
                <a:spcPct val="150051"/>
              </a:lnSpc>
              <a:spcBef>
                <a:spcPts val="0"/>
              </a:spcBef>
              <a:spcAft>
                <a:spcPts val="0"/>
              </a:spcAft>
              <a:buClr>
                <a:srgbClr val="0F172A"/>
              </a:buClr>
              <a:buSzPts val="975"/>
              <a:buFont typeface="Calibri"/>
              <a:buNone/>
            </a:pPr>
            <a:r>
              <a:rPr b="0" i="0" lang="en-US" sz="975" u="none" cap="none" strike="noStrike">
                <a:solidFill>
                  <a:srgbClr val="0F172A"/>
                </a:solidFill>
                <a:latin typeface="Calibri"/>
                <a:ea typeface="Calibri"/>
                <a:cs typeface="Calibri"/>
                <a:sym typeface="Calibri"/>
              </a:rPr>
              <a:t>03</a:t>
            </a:r>
            <a:endParaRPr b="0" i="0" sz="975" u="none" cap="none" strike="noStrike">
              <a:solidFill>
                <a:schemeClr val="dk1"/>
              </a:solidFill>
              <a:latin typeface="Calibri"/>
              <a:ea typeface="Calibri"/>
              <a:cs typeface="Calibri"/>
              <a:sym typeface="Calibri"/>
            </a:endParaRPr>
          </a:p>
        </p:txBody>
      </p:sp>
      <p:sp>
        <p:nvSpPr>
          <p:cNvPr id="173" name="Google Shape;173;p4"/>
          <p:cNvSpPr/>
          <p:nvPr/>
        </p:nvSpPr>
        <p:spPr>
          <a:xfrm>
            <a:off x="1009650" y="1765846"/>
            <a:ext cx="1665450" cy="319088"/>
          </a:xfrm>
          <a:prstGeom prst="rect">
            <a:avLst/>
          </a:prstGeom>
          <a:noFill/>
          <a:ln>
            <a:noFill/>
          </a:ln>
        </p:spPr>
        <p:txBody>
          <a:bodyPr anchorCtr="0" anchor="ctr" bIns="0" lIns="0" spcFirstLastPara="1" rIns="0" wrap="square" tIns="0">
            <a:noAutofit/>
          </a:bodyPr>
          <a:lstStyle/>
          <a:p>
            <a:pPr indent="0" lvl="0" marL="0" marR="0" rtl="0" algn="l">
              <a:lnSpc>
                <a:spcPct val="150051"/>
              </a:lnSpc>
              <a:spcBef>
                <a:spcPts val="0"/>
              </a:spcBef>
              <a:spcAft>
                <a:spcPts val="0"/>
              </a:spcAft>
              <a:buClr>
                <a:srgbClr val="0F172A"/>
              </a:buClr>
              <a:buSzPts val="975"/>
              <a:buFont typeface="Inter"/>
              <a:buNone/>
            </a:pPr>
            <a:r>
              <a:rPr b="0" i="0" lang="en-US" sz="975" u="none" cap="none" strike="noStrike">
                <a:solidFill>
                  <a:srgbClr val="0F172A"/>
                </a:solidFill>
                <a:latin typeface="Inter"/>
                <a:ea typeface="Inter"/>
                <a:cs typeface="Inter"/>
                <a:sym typeface="Inter"/>
              </a:rPr>
              <a:t>Rating Nulls</a:t>
            </a:r>
            <a:endParaRPr b="0" i="0" sz="975" u="none" cap="none" strike="noStrike">
              <a:solidFill>
                <a:schemeClr val="dk1"/>
              </a:solidFill>
              <a:latin typeface="Calibri"/>
              <a:ea typeface="Calibri"/>
              <a:cs typeface="Calibri"/>
              <a:sym typeface="Calibri"/>
            </a:endParaRPr>
          </a:p>
        </p:txBody>
      </p:sp>
      <p:sp>
        <p:nvSpPr>
          <p:cNvPr id="174" name="Google Shape;174;p4"/>
          <p:cNvSpPr/>
          <p:nvPr/>
        </p:nvSpPr>
        <p:spPr>
          <a:xfrm>
            <a:off x="2762101" y="1765846"/>
            <a:ext cx="1636395" cy="319088"/>
          </a:xfrm>
          <a:prstGeom prst="rect">
            <a:avLst/>
          </a:prstGeom>
          <a:noFill/>
          <a:ln>
            <a:noFill/>
          </a:ln>
        </p:spPr>
        <p:txBody>
          <a:bodyPr anchorCtr="0" anchor="ctr" bIns="0" lIns="0" spcFirstLastPara="1" rIns="0" wrap="square" tIns="0">
            <a:noAutofit/>
          </a:bodyPr>
          <a:lstStyle/>
          <a:p>
            <a:pPr indent="0" lvl="0" marL="0" marR="0" rtl="0" algn="l">
              <a:lnSpc>
                <a:spcPct val="150051"/>
              </a:lnSpc>
              <a:spcBef>
                <a:spcPts val="0"/>
              </a:spcBef>
              <a:spcAft>
                <a:spcPts val="0"/>
              </a:spcAft>
              <a:buClr>
                <a:srgbClr val="0F172A"/>
              </a:buClr>
              <a:buSzPts val="975"/>
              <a:buFont typeface="Calibri"/>
              <a:buNone/>
            </a:pPr>
            <a:r>
              <a:rPr b="0" i="0" lang="en-US" sz="975" u="none" cap="none" strike="noStrike">
                <a:solidFill>
                  <a:srgbClr val="0F172A"/>
                </a:solidFill>
                <a:latin typeface="Calibri"/>
                <a:ea typeface="Calibri"/>
                <a:cs typeface="Calibri"/>
                <a:sym typeface="Calibri"/>
              </a:rPr>
              <a:t>fillna(mean)</a:t>
            </a:r>
            <a:endParaRPr b="0" i="0" sz="975" u="none" cap="none" strike="noStrike">
              <a:solidFill>
                <a:schemeClr val="dk1"/>
              </a:solidFill>
              <a:latin typeface="Calibri"/>
              <a:ea typeface="Calibri"/>
              <a:cs typeface="Calibri"/>
              <a:sym typeface="Calibri"/>
            </a:endParaRPr>
          </a:p>
        </p:txBody>
      </p:sp>
      <p:sp>
        <p:nvSpPr>
          <p:cNvPr id="175" name="Google Shape;175;p4"/>
          <p:cNvSpPr/>
          <p:nvPr/>
        </p:nvSpPr>
        <p:spPr>
          <a:xfrm>
            <a:off x="4286101" y="1851571"/>
            <a:ext cx="5029200" cy="142875"/>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2563EB"/>
              </a:buClr>
              <a:buSzPts val="900"/>
              <a:buFont typeface="Calibri"/>
              <a:buNone/>
            </a:pPr>
            <a:r>
              <a:rPr b="0" i="0" lang="en-US" sz="900" u="none" cap="none" strike="noStrike">
                <a:solidFill>
                  <a:srgbClr val="2563EB"/>
                </a:solidFill>
                <a:latin typeface="Calibri"/>
                <a:ea typeface="Calibri"/>
                <a:cs typeface="Calibri"/>
                <a:sym typeface="Calibri"/>
              </a:rPr>
              <a:t>1,474 nulls filled — mean = </a:t>
            </a:r>
            <a:r>
              <a:rPr b="1" i="0" lang="en-US" sz="900" u="none" cap="none" strike="noStrike">
                <a:solidFill>
                  <a:srgbClr val="2563EB"/>
                </a:solidFill>
                <a:latin typeface="Calibri"/>
                <a:ea typeface="Calibri"/>
                <a:cs typeface="Calibri"/>
                <a:sym typeface="Calibri"/>
              </a:rPr>
              <a:t>4.19</a:t>
            </a:r>
            <a:endParaRPr b="0" i="0" sz="900" u="none" cap="none" strike="noStrike">
              <a:solidFill>
                <a:schemeClr val="dk1"/>
              </a:solidFill>
              <a:latin typeface="Calibri"/>
              <a:ea typeface="Calibri"/>
              <a:cs typeface="Calibri"/>
              <a:sym typeface="Calibri"/>
            </a:endParaRPr>
          </a:p>
        </p:txBody>
      </p:sp>
      <p:sp>
        <p:nvSpPr>
          <p:cNvPr id="176" name="Google Shape;176;p4"/>
          <p:cNvSpPr/>
          <p:nvPr/>
        </p:nvSpPr>
        <p:spPr>
          <a:xfrm>
            <a:off x="533400" y="2084933"/>
            <a:ext cx="228600" cy="504825"/>
          </a:xfrm>
          <a:prstGeom prst="rect">
            <a:avLst/>
          </a:prstGeom>
          <a:noFill/>
          <a:ln>
            <a:noFill/>
          </a:ln>
        </p:spPr>
        <p:txBody>
          <a:bodyPr anchorCtr="0" anchor="ctr" bIns="0" lIns="0" spcFirstLastPara="1" rIns="0" wrap="square" tIns="0">
            <a:noAutofit/>
          </a:bodyPr>
          <a:lstStyle/>
          <a:p>
            <a:pPr indent="0" lvl="0" marL="0" marR="0" rtl="0" algn="ctr">
              <a:lnSpc>
                <a:spcPct val="150051"/>
              </a:lnSpc>
              <a:spcBef>
                <a:spcPts val="0"/>
              </a:spcBef>
              <a:spcAft>
                <a:spcPts val="0"/>
              </a:spcAft>
              <a:buClr>
                <a:srgbClr val="0F172A"/>
              </a:buClr>
              <a:buSzPts val="975"/>
              <a:buFont typeface="Calibri"/>
              <a:buNone/>
            </a:pPr>
            <a:r>
              <a:rPr b="0" i="0" lang="en-US" sz="975" u="none" cap="none" strike="noStrike">
                <a:solidFill>
                  <a:srgbClr val="0F172A"/>
                </a:solidFill>
                <a:latin typeface="Calibri"/>
                <a:ea typeface="Calibri"/>
                <a:cs typeface="Calibri"/>
                <a:sym typeface="Calibri"/>
              </a:rPr>
              <a:t>04</a:t>
            </a:r>
            <a:endParaRPr b="0" i="0" sz="975" u="none" cap="none" strike="noStrike">
              <a:solidFill>
                <a:schemeClr val="dk1"/>
              </a:solidFill>
              <a:latin typeface="Calibri"/>
              <a:ea typeface="Calibri"/>
              <a:cs typeface="Calibri"/>
              <a:sym typeface="Calibri"/>
            </a:endParaRPr>
          </a:p>
        </p:txBody>
      </p:sp>
      <p:sp>
        <p:nvSpPr>
          <p:cNvPr id="177" name="Google Shape;177;p4"/>
          <p:cNvSpPr/>
          <p:nvPr/>
        </p:nvSpPr>
        <p:spPr>
          <a:xfrm>
            <a:off x="1009650" y="2084933"/>
            <a:ext cx="2327638" cy="504825"/>
          </a:xfrm>
          <a:prstGeom prst="rect">
            <a:avLst/>
          </a:prstGeom>
          <a:noFill/>
          <a:ln>
            <a:noFill/>
          </a:ln>
        </p:spPr>
        <p:txBody>
          <a:bodyPr anchorCtr="0" anchor="ctr" bIns="0" lIns="0" spcFirstLastPara="1" rIns="0" wrap="square" tIns="0">
            <a:noAutofit/>
          </a:bodyPr>
          <a:lstStyle/>
          <a:p>
            <a:pPr indent="0" lvl="0" marL="0" marR="0" rtl="0" algn="l">
              <a:lnSpc>
                <a:spcPct val="150051"/>
              </a:lnSpc>
              <a:spcBef>
                <a:spcPts val="0"/>
              </a:spcBef>
              <a:spcAft>
                <a:spcPts val="0"/>
              </a:spcAft>
              <a:buClr>
                <a:srgbClr val="0F172A"/>
              </a:buClr>
              <a:buSzPts val="975"/>
              <a:buFont typeface="Inter"/>
              <a:buNone/>
            </a:pPr>
            <a:r>
              <a:rPr b="0" i="0" lang="en-US" sz="975" u="none" cap="none" strike="noStrike">
                <a:solidFill>
                  <a:srgbClr val="0F172A"/>
                </a:solidFill>
                <a:latin typeface="Inter"/>
                <a:ea typeface="Inter"/>
                <a:cs typeface="Inter"/>
                <a:sym typeface="Inter"/>
              </a:rPr>
              <a:t>Drop Sparse Nulls</a:t>
            </a:r>
            <a:endParaRPr b="0" i="0" sz="975" u="none" cap="none" strike="noStrike">
              <a:solidFill>
                <a:schemeClr val="dk1"/>
              </a:solidFill>
              <a:latin typeface="Calibri"/>
              <a:ea typeface="Calibri"/>
              <a:cs typeface="Calibri"/>
              <a:sym typeface="Calibri"/>
            </a:endParaRPr>
          </a:p>
        </p:txBody>
      </p:sp>
      <p:sp>
        <p:nvSpPr>
          <p:cNvPr id="178" name="Google Shape;178;p4"/>
          <p:cNvSpPr/>
          <p:nvPr/>
        </p:nvSpPr>
        <p:spPr>
          <a:xfrm>
            <a:off x="2762101" y="2084933"/>
            <a:ext cx="1333500" cy="504825"/>
          </a:xfrm>
          <a:prstGeom prst="rect">
            <a:avLst/>
          </a:prstGeom>
          <a:noFill/>
          <a:ln>
            <a:noFill/>
          </a:ln>
        </p:spPr>
        <p:txBody>
          <a:bodyPr anchorCtr="0" anchor="ctr" bIns="0" lIns="0" spcFirstLastPara="1" rIns="0" wrap="square" tIns="0">
            <a:noAutofit/>
          </a:bodyPr>
          <a:lstStyle/>
          <a:p>
            <a:pPr indent="0" lvl="0" marL="0" marR="0" rtl="0" algn="l">
              <a:lnSpc>
                <a:spcPct val="150051"/>
              </a:lnSpc>
              <a:spcBef>
                <a:spcPts val="0"/>
              </a:spcBef>
              <a:spcAft>
                <a:spcPts val="0"/>
              </a:spcAft>
              <a:buClr>
                <a:srgbClr val="0F172A"/>
              </a:buClr>
              <a:buSzPts val="975"/>
              <a:buFont typeface="Calibri"/>
              <a:buNone/>
            </a:pPr>
            <a:r>
              <a:rPr b="0" i="0" lang="en-US" sz="975" u="none" cap="none" strike="noStrike">
                <a:solidFill>
                  <a:srgbClr val="0F172A"/>
                </a:solidFill>
                <a:latin typeface="Calibri"/>
                <a:ea typeface="Calibri"/>
                <a:cs typeface="Calibri"/>
                <a:sym typeface="Calibri"/>
              </a:rPr>
              <a:t>dropna(subset=[...])</a:t>
            </a:r>
            <a:endParaRPr b="0" i="0" sz="975" u="none" cap="none" strike="noStrike">
              <a:solidFill>
                <a:schemeClr val="dk1"/>
              </a:solidFill>
              <a:latin typeface="Calibri"/>
              <a:ea typeface="Calibri"/>
              <a:cs typeface="Calibri"/>
              <a:sym typeface="Calibri"/>
            </a:endParaRPr>
          </a:p>
        </p:txBody>
      </p:sp>
      <p:sp>
        <p:nvSpPr>
          <p:cNvPr id="179" name="Google Shape;179;p4"/>
          <p:cNvSpPr/>
          <p:nvPr/>
        </p:nvSpPr>
        <p:spPr>
          <a:xfrm>
            <a:off x="4286101" y="2263527"/>
            <a:ext cx="3429000" cy="142875"/>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2563EB"/>
              </a:buClr>
              <a:buSzPts val="900"/>
              <a:buFont typeface="Calibri"/>
              <a:buNone/>
            </a:pPr>
            <a:r>
              <a:rPr b="0" i="0" lang="en-US" sz="900" u="none" cap="none" strike="noStrike">
                <a:solidFill>
                  <a:srgbClr val="2563EB"/>
                </a:solidFill>
                <a:latin typeface="Calibri"/>
                <a:ea typeface="Calibri"/>
                <a:cs typeface="Calibri"/>
                <a:sym typeface="Calibri"/>
              </a:rPr>
              <a:t>−2 rows → </a:t>
            </a:r>
            <a:r>
              <a:rPr b="1" i="0" lang="en-US" sz="900" u="none" cap="none" strike="noStrike">
                <a:solidFill>
                  <a:srgbClr val="2563EB"/>
                </a:solidFill>
                <a:latin typeface="Calibri"/>
                <a:ea typeface="Calibri"/>
                <a:cs typeface="Calibri"/>
                <a:sym typeface="Calibri"/>
              </a:rPr>
              <a:t>10,356 rows</a:t>
            </a:r>
            <a:endParaRPr b="0" i="0" sz="900" u="none" cap="none" strike="noStrike">
              <a:solidFill>
                <a:schemeClr val="dk1"/>
              </a:solidFill>
              <a:latin typeface="Calibri"/>
              <a:ea typeface="Calibri"/>
              <a:cs typeface="Calibri"/>
              <a:sym typeface="Calibri"/>
            </a:endParaRPr>
          </a:p>
        </p:txBody>
      </p:sp>
      <p:sp>
        <p:nvSpPr>
          <p:cNvPr id="180" name="Google Shape;180;p4"/>
          <p:cNvSpPr/>
          <p:nvPr/>
        </p:nvSpPr>
        <p:spPr>
          <a:xfrm>
            <a:off x="533400" y="2589758"/>
            <a:ext cx="228600" cy="319088"/>
          </a:xfrm>
          <a:prstGeom prst="rect">
            <a:avLst/>
          </a:prstGeom>
          <a:noFill/>
          <a:ln>
            <a:noFill/>
          </a:ln>
        </p:spPr>
        <p:txBody>
          <a:bodyPr anchorCtr="0" anchor="ctr" bIns="0" lIns="0" spcFirstLastPara="1" rIns="0" wrap="square" tIns="0">
            <a:noAutofit/>
          </a:bodyPr>
          <a:lstStyle/>
          <a:p>
            <a:pPr indent="0" lvl="0" marL="0" marR="0" rtl="0" algn="ctr">
              <a:lnSpc>
                <a:spcPct val="150051"/>
              </a:lnSpc>
              <a:spcBef>
                <a:spcPts val="0"/>
              </a:spcBef>
              <a:spcAft>
                <a:spcPts val="0"/>
              </a:spcAft>
              <a:buClr>
                <a:srgbClr val="0F172A"/>
              </a:buClr>
              <a:buSzPts val="975"/>
              <a:buFont typeface="Calibri"/>
              <a:buNone/>
            </a:pPr>
            <a:r>
              <a:rPr b="0" i="0" lang="en-US" sz="975" u="none" cap="none" strike="noStrike">
                <a:solidFill>
                  <a:srgbClr val="0F172A"/>
                </a:solidFill>
                <a:latin typeface="Calibri"/>
                <a:ea typeface="Calibri"/>
                <a:cs typeface="Calibri"/>
                <a:sym typeface="Calibri"/>
              </a:rPr>
              <a:t>05</a:t>
            </a:r>
            <a:endParaRPr b="0" i="0" sz="975" u="none" cap="none" strike="noStrike">
              <a:solidFill>
                <a:schemeClr val="dk1"/>
              </a:solidFill>
              <a:latin typeface="Calibri"/>
              <a:ea typeface="Calibri"/>
              <a:cs typeface="Calibri"/>
              <a:sym typeface="Calibri"/>
            </a:endParaRPr>
          </a:p>
        </p:txBody>
      </p:sp>
      <p:sp>
        <p:nvSpPr>
          <p:cNvPr id="181" name="Google Shape;181;p4"/>
          <p:cNvSpPr/>
          <p:nvPr/>
        </p:nvSpPr>
        <p:spPr>
          <a:xfrm>
            <a:off x="1009650" y="2589758"/>
            <a:ext cx="2460076" cy="319088"/>
          </a:xfrm>
          <a:prstGeom prst="rect">
            <a:avLst/>
          </a:prstGeom>
          <a:noFill/>
          <a:ln>
            <a:noFill/>
          </a:ln>
        </p:spPr>
        <p:txBody>
          <a:bodyPr anchorCtr="0" anchor="ctr" bIns="0" lIns="0" spcFirstLastPara="1" rIns="0" wrap="square" tIns="0">
            <a:noAutofit/>
          </a:bodyPr>
          <a:lstStyle/>
          <a:p>
            <a:pPr indent="0" lvl="0" marL="0" marR="0" rtl="0" algn="l">
              <a:lnSpc>
                <a:spcPct val="150051"/>
              </a:lnSpc>
              <a:spcBef>
                <a:spcPts val="0"/>
              </a:spcBef>
              <a:spcAft>
                <a:spcPts val="0"/>
              </a:spcAft>
              <a:buClr>
                <a:srgbClr val="0F172A"/>
              </a:buClr>
              <a:buSzPts val="975"/>
              <a:buFont typeface="Inter"/>
              <a:buNone/>
            </a:pPr>
            <a:r>
              <a:rPr b="0" i="0" lang="en-US" sz="975" u="none" cap="none" strike="noStrike">
                <a:solidFill>
                  <a:srgbClr val="0F172A"/>
                </a:solidFill>
                <a:latin typeface="Inter"/>
                <a:ea typeface="Inter"/>
                <a:cs typeface="Inter"/>
                <a:sym typeface="Inter"/>
              </a:rPr>
              <a:t>Fill Version Nulls</a:t>
            </a:r>
            <a:endParaRPr b="0" i="0" sz="975" u="none" cap="none" strike="noStrike">
              <a:solidFill>
                <a:schemeClr val="dk1"/>
              </a:solidFill>
              <a:latin typeface="Calibri"/>
              <a:ea typeface="Calibri"/>
              <a:cs typeface="Calibri"/>
              <a:sym typeface="Calibri"/>
            </a:endParaRPr>
          </a:p>
        </p:txBody>
      </p:sp>
      <p:sp>
        <p:nvSpPr>
          <p:cNvPr id="182" name="Google Shape;182;p4"/>
          <p:cNvSpPr/>
          <p:nvPr/>
        </p:nvSpPr>
        <p:spPr>
          <a:xfrm>
            <a:off x="2762101" y="2589758"/>
            <a:ext cx="2286476" cy="319088"/>
          </a:xfrm>
          <a:prstGeom prst="rect">
            <a:avLst/>
          </a:prstGeom>
          <a:noFill/>
          <a:ln>
            <a:noFill/>
          </a:ln>
        </p:spPr>
        <p:txBody>
          <a:bodyPr anchorCtr="0" anchor="ctr" bIns="0" lIns="0" spcFirstLastPara="1" rIns="0" wrap="square" tIns="0">
            <a:noAutofit/>
          </a:bodyPr>
          <a:lstStyle/>
          <a:p>
            <a:pPr indent="0" lvl="0" marL="0" marR="0" rtl="0" algn="l">
              <a:lnSpc>
                <a:spcPct val="150051"/>
              </a:lnSpc>
              <a:spcBef>
                <a:spcPts val="0"/>
              </a:spcBef>
              <a:spcAft>
                <a:spcPts val="0"/>
              </a:spcAft>
              <a:buClr>
                <a:srgbClr val="0F172A"/>
              </a:buClr>
              <a:buSzPts val="975"/>
              <a:buFont typeface="Calibri"/>
              <a:buNone/>
            </a:pPr>
            <a:r>
              <a:rPr b="0" i="0" lang="en-US" sz="975" u="none" cap="none" strike="noStrike">
                <a:solidFill>
                  <a:srgbClr val="0F172A"/>
                </a:solidFill>
                <a:latin typeface="Calibri"/>
                <a:ea typeface="Calibri"/>
                <a:cs typeface="Calibri"/>
                <a:sym typeface="Calibri"/>
              </a:rPr>
              <a:t>fillna('Unknown')</a:t>
            </a:r>
            <a:endParaRPr b="0" i="0" sz="975" u="none" cap="none" strike="noStrike">
              <a:solidFill>
                <a:schemeClr val="dk1"/>
              </a:solidFill>
              <a:latin typeface="Calibri"/>
              <a:ea typeface="Calibri"/>
              <a:cs typeface="Calibri"/>
              <a:sym typeface="Calibri"/>
            </a:endParaRPr>
          </a:p>
        </p:txBody>
      </p:sp>
      <p:sp>
        <p:nvSpPr>
          <p:cNvPr id="183" name="Google Shape;183;p4"/>
          <p:cNvSpPr/>
          <p:nvPr/>
        </p:nvSpPr>
        <p:spPr>
          <a:xfrm>
            <a:off x="4286101" y="2675483"/>
            <a:ext cx="2865120" cy="142875"/>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2563EB"/>
              </a:buClr>
              <a:buSzPts val="900"/>
              <a:buFont typeface="Calibri"/>
              <a:buNone/>
            </a:pPr>
            <a:r>
              <a:rPr b="0" i="0" lang="en-US" sz="900" u="none" cap="none" strike="noStrike">
                <a:solidFill>
                  <a:srgbClr val="2563EB"/>
                </a:solidFill>
                <a:latin typeface="Calibri"/>
                <a:ea typeface="Calibri"/>
                <a:cs typeface="Calibri"/>
                <a:sym typeface="Calibri"/>
              </a:rPr>
              <a:t>8 + 3 values filled</a:t>
            </a:r>
            <a:endParaRPr b="0" i="0" sz="900" u="none" cap="none" strike="noStrike">
              <a:solidFill>
                <a:schemeClr val="dk1"/>
              </a:solidFill>
              <a:latin typeface="Calibri"/>
              <a:ea typeface="Calibri"/>
              <a:cs typeface="Calibri"/>
              <a:sym typeface="Calibri"/>
            </a:endParaRPr>
          </a:p>
        </p:txBody>
      </p:sp>
      <p:sp>
        <p:nvSpPr>
          <p:cNvPr id="184" name="Google Shape;184;p4"/>
          <p:cNvSpPr/>
          <p:nvPr/>
        </p:nvSpPr>
        <p:spPr>
          <a:xfrm>
            <a:off x="533400" y="2908846"/>
            <a:ext cx="228600" cy="504825"/>
          </a:xfrm>
          <a:prstGeom prst="rect">
            <a:avLst/>
          </a:prstGeom>
          <a:noFill/>
          <a:ln>
            <a:noFill/>
          </a:ln>
        </p:spPr>
        <p:txBody>
          <a:bodyPr anchorCtr="0" anchor="ctr" bIns="0" lIns="0" spcFirstLastPara="1" rIns="0" wrap="square" tIns="0">
            <a:noAutofit/>
          </a:bodyPr>
          <a:lstStyle/>
          <a:p>
            <a:pPr indent="0" lvl="0" marL="0" marR="0" rtl="0" algn="ctr">
              <a:lnSpc>
                <a:spcPct val="150051"/>
              </a:lnSpc>
              <a:spcBef>
                <a:spcPts val="0"/>
              </a:spcBef>
              <a:spcAft>
                <a:spcPts val="0"/>
              </a:spcAft>
              <a:buClr>
                <a:srgbClr val="0F172A"/>
              </a:buClr>
              <a:buSzPts val="975"/>
              <a:buFont typeface="Calibri"/>
              <a:buNone/>
            </a:pPr>
            <a:r>
              <a:rPr b="0" i="0" lang="en-US" sz="975" u="none" cap="none" strike="noStrike">
                <a:solidFill>
                  <a:srgbClr val="0F172A"/>
                </a:solidFill>
                <a:latin typeface="Calibri"/>
                <a:ea typeface="Calibri"/>
                <a:cs typeface="Calibri"/>
                <a:sym typeface="Calibri"/>
              </a:rPr>
              <a:t>06</a:t>
            </a:r>
            <a:endParaRPr b="0" i="0" sz="975" u="none" cap="none" strike="noStrike">
              <a:solidFill>
                <a:schemeClr val="dk1"/>
              </a:solidFill>
              <a:latin typeface="Calibri"/>
              <a:ea typeface="Calibri"/>
              <a:cs typeface="Calibri"/>
              <a:sym typeface="Calibri"/>
            </a:endParaRPr>
          </a:p>
        </p:txBody>
      </p:sp>
      <p:sp>
        <p:nvSpPr>
          <p:cNvPr id="185" name="Google Shape;185;p4"/>
          <p:cNvSpPr/>
          <p:nvPr/>
        </p:nvSpPr>
        <p:spPr>
          <a:xfrm>
            <a:off x="1009650" y="2908846"/>
            <a:ext cx="2327638" cy="504825"/>
          </a:xfrm>
          <a:prstGeom prst="rect">
            <a:avLst/>
          </a:prstGeom>
          <a:noFill/>
          <a:ln>
            <a:noFill/>
          </a:ln>
        </p:spPr>
        <p:txBody>
          <a:bodyPr anchorCtr="0" anchor="ctr" bIns="0" lIns="0" spcFirstLastPara="1" rIns="0" wrap="square" tIns="0">
            <a:noAutofit/>
          </a:bodyPr>
          <a:lstStyle/>
          <a:p>
            <a:pPr indent="0" lvl="0" marL="0" marR="0" rtl="0" algn="l">
              <a:lnSpc>
                <a:spcPct val="150051"/>
              </a:lnSpc>
              <a:spcBef>
                <a:spcPts val="0"/>
              </a:spcBef>
              <a:spcAft>
                <a:spcPts val="0"/>
              </a:spcAft>
              <a:buClr>
                <a:srgbClr val="0F172A"/>
              </a:buClr>
              <a:buSzPts val="975"/>
              <a:buFont typeface="Inter"/>
              <a:buNone/>
            </a:pPr>
            <a:r>
              <a:rPr b="0" i="0" lang="en-US" sz="975" u="none" cap="none" strike="noStrike">
                <a:solidFill>
                  <a:srgbClr val="0F172A"/>
                </a:solidFill>
                <a:latin typeface="Inter"/>
                <a:ea typeface="Inter"/>
                <a:cs typeface="Inter"/>
                <a:sym typeface="Inter"/>
              </a:rPr>
              <a:t>Fix Numeric Types</a:t>
            </a:r>
            <a:endParaRPr b="0" i="0" sz="975" u="none" cap="none" strike="noStrike">
              <a:solidFill>
                <a:schemeClr val="dk1"/>
              </a:solidFill>
              <a:latin typeface="Calibri"/>
              <a:ea typeface="Calibri"/>
              <a:cs typeface="Calibri"/>
              <a:sym typeface="Calibri"/>
            </a:endParaRPr>
          </a:p>
        </p:txBody>
      </p:sp>
      <p:sp>
        <p:nvSpPr>
          <p:cNvPr id="186" name="Google Shape;186;p4"/>
          <p:cNvSpPr/>
          <p:nvPr/>
        </p:nvSpPr>
        <p:spPr>
          <a:xfrm>
            <a:off x="2762101" y="2908846"/>
            <a:ext cx="1333500" cy="504825"/>
          </a:xfrm>
          <a:prstGeom prst="rect">
            <a:avLst/>
          </a:prstGeom>
          <a:noFill/>
          <a:ln>
            <a:noFill/>
          </a:ln>
        </p:spPr>
        <p:txBody>
          <a:bodyPr anchorCtr="0" anchor="ctr" bIns="0" lIns="0" spcFirstLastPara="1" rIns="0" wrap="square" tIns="0">
            <a:noAutofit/>
          </a:bodyPr>
          <a:lstStyle/>
          <a:p>
            <a:pPr indent="0" lvl="0" marL="0" marR="0" rtl="0" algn="l">
              <a:lnSpc>
                <a:spcPct val="150051"/>
              </a:lnSpc>
              <a:spcBef>
                <a:spcPts val="0"/>
              </a:spcBef>
              <a:spcAft>
                <a:spcPts val="0"/>
              </a:spcAft>
              <a:buClr>
                <a:srgbClr val="0F172A"/>
              </a:buClr>
              <a:buSzPts val="975"/>
              <a:buFont typeface="Calibri"/>
              <a:buNone/>
            </a:pPr>
            <a:r>
              <a:rPr b="0" i="0" lang="en-US" sz="975" u="none" cap="none" strike="noStrike">
                <a:solidFill>
                  <a:srgbClr val="0F172A"/>
                </a:solidFill>
                <a:latin typeface="Calibri"/>
                <a:ea typeface="Calibri"/>
                <a:cs typeface="Calibri"/>
                <a:sym typeface="Calibri"/>
              </a:rPr>
              <a:t>str.strip() → cast</a:t>
            </a:r>
            <a:endParaRPr b="0" i="0" sz="975" u="none" cap="none" strike="noStrike">
              <a:solidFill>
                <a:schemeClr val="dk1"/>
              </a:solidFill>
              <a:latin typeface="Calibri"/>
              <a:ea typeface="Calibri"/>
              <a:cs typeface="Calibri"/>
              <a:sym typeface="Calibri"/>
            </a:endParaRPr>
          </a:p>
        </p:txBody>
      </p:sp>
      <p:sp>
        <p:nvSpPr>
          <p:cNvPr id="187" name="Google Shape;187;p4"/>
          <p:cNvSpPr/>
          <p:nvPr/>
        </p:nvSpPr>
        <p:spPr>
          <a:xfrm>
            <a:off x="4286101" y="3087439"/>
            <a:ext cx="5288280" cy="142875"/>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2563EB"/>
              </a:buClr>
              <a:buSzPts val="900"/>
              <a:buFont typeface="Calibri"/>
              <a:buNone/>
            </a:pPr>
            <a:r>
              <a:rPr b="0" i="0" lang="en-US" sz="900" u="none" cap="none" strike="noStrike">
                <a:solidFill>
                  <a:srgbClr val="2563EB"/>
                </a:solidFill>
                <a:latin typeface="Calibri"/>
                <a:ea typeface="Calibri"/>
                <a:cs typeface="Calibri"/>
                <a:sym typeface="Calibri"/>
              </a:rPr>
              <a:t>Reviews → int; Installs, Price → float</a:t>
            </a:r>
            <a:endParaRPr b="0" i="0" sz="900" u="none" cap="none" strike="noStrike">
              <a:solidFill>
                <a:schemeClr val="dk1"/>
              </a:solidFill>
              <a:latin typeface="Calibri"/>
              <a:ea typeface="Calibri"/>
              <a:cs typeface="Calibri"/>
              <a:sym typeface="Calibri"/>
            </a:endParaRPr>
          </a:p>
        </p:txBody>
      </p:sp>
      <p:sp>
        <p:nvSpPr>
          <p:cNvPr id="188" name="Google Shape;188;p4"/>
          <p:cNvSpPr/>
          <p:nvPr/>
        </p:nvSpPr>
        <p:spPr>
          <a:xfrm>
            <a:off x="533400" y="3413671"/>
            <a:ext cx="228600" cy="319088"/>
          </a:xfrm>
          <a:prstGeom prst="rect">
            <a:avLst/>
          </a:prstGeom>
          <a:noFill/>
          <a:ln>
            <a:noFill/>
          </a:ln>
        </p:spPr>
        <p:txBody>
          <a:bodyPr anchorCtr="0" anchor="ctr" bIns="0" lIns="0" spcFirstLastPara="1" rIns="0" wrap="square" tIns="0">
            <a:noAutofit/>
          </a:bodyPr>
          <a:lstStyle/>
          <a:p>
            <a:pPr indent="0" lvl="0" marL="0" marR="0" rtl="0" algn="ctr">
              <a:lnSpc>
                <a:spcPct val="150051"/>
              </a:lnSpc>
              <a:spcBef>
                <a:spcPts val="0"/>
              </a:spcBef>
              <a:spcAft>
                <a:spcPts val="0"/>
              </a:spcAft>
              <a:buClr>
                <a:srgbClr val="0F172A"/>
              </a:buClr>
              <a:buSzPts val="975"/>
              <a:buFont typeface="Calibri"/>
              <a:buNone/>
            </a:pPr>
            <a:r>
              <a:rPr b="0" i="0" lang="en-US" sz="975" u="none" cap="none" strike="noStrike">
                <a:solidFill>
                  <a:srgbClr val="0F172A"/>
                </a:solidFill>
                <a:latin typeface="Calibri"/>
                <a:ea typeface="Calibri"/>
                <a:cs typeface="Calibri"/>
                <a:sym typeface="Calibri"/>
              </a:rPr>
              <a:t>07</a:t>
            </a:r>
            <a:endParaRPr b="0" i="0" sz="975" u="none" cap="none" strike="noStrike">
              <a:solidFill>
                <a:schemeClr val="dk1"/>
              </a:solidFill>
              <a:latin typeface="Calibri"/>
              <a:ea typeface="Calibri"/>
              <a:cs typeface="Calibri"/>
              <a:sym typeface="Calibri"/>
            </a:endParaRPr>
          </a:p>
        </p:txBody>
      </p:sp>
      <p:sp>
        <p:nvSpPr>
          <p:cNvPr id="189" name="Google Shape;189;p4"/>
          <p:cNvSpPr/>
          <p:nvPr/>
        </p:nvSpPr>
        <p:spPr>
          <a:xfrm>
            <a:off x="1009650" y="3413671"/>
            <a:ext cx="3122263" cy="319088"/>
          </a:xfrm>
          <a:prstGeom prst="rect">
            <a:avLst/>
          </a:prstGeom>
          <a:noFill/>
          <a:ln>
            <a:noFill/>
          </a:ln>
        </p:spPr>
        <p:txBody>
          <a:bodyPr anchorCtr="0" anchor="ctr" bIns="0" lIns="0" spcFirstLastPara="1" rIns="0" wrap="square" tIns="0">
            <a:noAutofit/>
          </a:bodyPr>
          <a:lstStyle/>
          <a:p>
            <a:pPr indent="0" lvl="0" marL="0" marR="0" rtl="0" algn="l">
              <a:lnSpc>
                <a:spcPct val="150051"/>
              </a:lnSpc>
              <a:spcBef>
                <a:spcPts val="0"/>
              </a:spcBef>
              <a:spcAft>
                <a:spcPts val="0"/>
              </a:spcAft>
              <a:buClr>
                <a:srgbClr val="0F172A"/>
              </a:buClr>
              <a:buSzPts val="975"/>
              <a:buFont typeface="Inter"/>
              <a:buNone/>
            </a:pPr>
            <a:r>
              <a:rPr b="0" i="0" lang="en-US" sz="975" u="none" cap="none" strike="noStrike">
                <a:solidFill>
                  <a:srgbClr val="0F172A"/>
                </a:solidFill>
                <a:latin typeface="Inter"/>
                <a:ea typeface="Inter"/>
                <a:cs typeface="Inter"/>
                <a:sym typeface="Inter"/>
              </a:rPr>
              <a:t>Build Categories Lookup</a:t>
            </a:r>
            <a:endParaRPr b="0" i="0" sz="975" u="none" cap="none" strike="noStrike">
              <a:solidFill>
                <a:schemeClr val="dk1"/>
              </a:solidFill>
              <a:latin typeface="Calibri"/>
              <a:ea typeface="Calibri"/>
              <a:cs typeface="Calibri"/>
              <a:sym typeface="Calibri"/>
            </a:endParaRPr>
          </a:p>
        </p:txBody>
      </p:sp>
      <p:sp>
        <p:nvSpPr>
          <p:cNvPr id="190" name="Google Shape;190;p4"/>
          <p:cNvSpPr/>
          <p:nvPr/>
        </p:nvSpPr>
        <p:spPr>
          <a:xfrm>
            <a:off x="2762101" y="3413671"/>
            <a:ext cx="1506379" cy="319088"/>
          </a:xfrm>
          <a:prstGeom prst="rect">
            <a:avLst/>
          </a:prstGeom>
          <a:noFill/>
          <a:ln>
            <a:noFill/>
          </a:ln>
        </p:spPr>
        <p:txBody>
          <a:bodyPr anchorCtr="0" anchor="ctr" bIns="0" lIns="0" spcFirstLastPara="1" rIns="0" wrap="square" tIns="0">
            <a:noAutofit/>
          </a:bodyPr>
          <a:lstStyle/>
          <a:p>
            <a:pPr indent="0" lvl="0" marL="0" marR="0" rtl="0" algn="l">
              <a:lnSpc>
                <a:spcPct val="150051"/>
              </a:lnSpc>
              <a:spcBef>
                <a:spcPts val="0"/>
              </a:spcBef>
              <a:spcAft>
                <a:spcPts val="0"/>
              </a:spcAft>
              <a:buClr>
                <a:srgbClr val="0F172A"/>
              </a:buClr>
              <a:buSzPts val="975"/>
              <a:buFont typeface="Calibri"/>
              <a:buNone/>
            </a:pPr>
            <a:r>
              <a:rPr b="0" i="0" lang="en-US" sz="975" u="none" cap="none" strike="noStrike">
                <a:solidFill>
                  <a:srgbClr val="0F172A"/>
                </a:solidFill>
                <a:latin typeface="Calibri"/>
                <a:ea typeface="Calibri"/>
                <a:cs typeface="Calibri"/>
                <a:sym typeface="Calibri"/>
              </a:rPr>
              <a:t>factorize()</a:t>
            </a:r>
            <a:endParaRPr b="0" i="0" sz="975" u="none" cap="none" strike="noStrike">
              <a:solidFill>
                <a:schemeClr val="dk1"/>
              </a:solidFill>
              <a:latin typeface="Calibri"/>
              <a:ea typeface="Calibri"/>
              <a:cs typeface="Calibri"/>
              <a:sym typeface="Calibri"/>
            </a:endParaRPr>
          </a:p>
        </p:txBody>
      </p:sp>
      <p:sp>
        <p:nvSpPr>
          <p:cNvPr id="191" name="Google Shape;191;p4"/>
          <p:cNvSpPr/>
          <p:nvPr/>
        </p:nvSpPr>
        <p:spPr>
          <a:xfrm>
            <a:off x="4286101" y="3499396"/>
            <a:ext cx="5059680" cy="142875"/>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2563EB"/>
              </a:buClr>
              <a:buSzPts val="900"/>
              <a:buFont typeface="Calibri"/>
              <a:buNone/>
            </a:pPr>
            <a:r>
              <a:rPr b="0" i="0" lang="en-US" sz="900" u="none" cap="none" strike="noStrike">
                <a:solidFill>
                  <a:srgbClr val="2563EB"/>
                </a:solidFill>
                <a:latin typeface="Calibri"/>
                <a:ea typeface="Calibri"/>
                <a:cs typeface="Calibri"/>
                <a:sym typeface="Calibri"/>
              </a:rPr>
              <a:t>33 unique categories → FK-ready IDs</a:t>
            </a:r>
            <a:endParaRPr b="0" i="0" sz="900" u="none" cap="none" strike="noStrike">
              <a:solidFill>
                <a:schemeClr val="dk1"/>
              </a:solidFill>
              <a:latin typeface="Calibri"/>
              <a:ea typeface="Calibri"/>
              <a:cs typeface="Calibri"/>
              <a:sym typeface="Calibri"/>
            </a:endParaRPr>
          </a:p>
        </p:txBody>
      </p:sp>
      <p:sp>
        <p:nvSpPr>
          <p:cNvPr id="192" name="Google Shape;192;p4"/>
          <p:cNvSpPr/>
          <p:nvPr/>
        </p:nvSpPr>
        <p:spPr>
          <a:xfrm>
            <a:off x="533400" y="3732758"/>
            <a:ext cx="228600" cy="319088"/>
          </a:xfrm>
          <a:prstGeom prst="rect">
            <a:avLst/>
          </a:prstGeom>
          <a:noFill/>
          <a:ln>
            <a:noFill/>
          </a:ln>
        </p:spPr>
        <p:txBody>
          <a:bodyPr anchorCtr="0" anchor="ctr" bIns="0" lIns="0" spcFirstLastPara="1" rIns="0" wrap="square" tIns="0">
            <a:noAutofit/>
          </a:bodyPr>
          <a:lstStyle/>
          <a:p>
            <a:pPr indent="0" lvl="0" marL="0" marR="0" rtl="0" algn="ctr">
              <a:lnSpc>
                <a:spcPct val="150051"/>
              </a:lnSpc>
              <a:spcBef>
                <a:spcPts val="0"/>
              </a:spcBef>
              <a:spcAft>
                <a:spcPts val="0"/>
              </a:spcAft>
              <a:buClr>
                <a:srgbClr val="0F172A"/>
              </a:buClr>
              <a:buSzPts val="975"/>
              <a:buFont typeface="Calibri"/>
              <a:buNone/>
            </a:pPr>
            <a:r>
              <a:rPr b="0" i="0" lang="en-US" sz="975" u="none" cap="none" strike="noStrike">
                <a:solidFill>
                  <a:srgbClr val="0F172A"/>
                </a:solidFill>
                <a:latin typeface="Calibri"/>
                <a:ea typeface="Calibri"/>
                <a:cs typeface="Calibri"/>
                <a:sym typeface="Calibri"/>
              </a:rPr>
              <a:t>08</a:t>
            </a:r>
            <a:endParaRPr b="0" i="0" sz="975" u="none" cap="none" strike="noStrike">
              <a:solidFill>
                <a:schemeClr val="dk1"/>
              </a:solidFill>
              <a:latin typeface="Calibri"/>
              <a:ea typeface="Calibri"/>
              <a:cs typeface="Calibri"/>
              <a:sym typeface="Calibri"/>
            </a:endParaRPr>
          </a:p>
        </p:txBody>
      </p:sp>
      <p:sp>
        <p:nvSpPr>
          <p:cNvPr id="193" name="Google Shape;193;p4"/>
          <p:cNvSpPr/>
          <p:nvPr/>
        </p:nvSpPr>
        <p:spPr>
          <a:xfrm>
            <a:off x="1009650" y="3732758"/>
            <a:ext cx="2195201" cy="319088"/>
          </a:xfrm>
          <a:prstGeom prst="rect">
            <a:avLst/>
          </a:prstGeom>
          <a:noFill/>
          <a:ln>
            <a:noFill/>
          </a:ln>
        </p:spPr>
        <p:txBody>
          <a:bodyPr anchorCtr="0" anchor="ctr" bIns="0" lIns="0" spcFirstLastPara="1" rIns="0" wrap="square" tIns="0">
            <a:noAutofit/>
          </a:bodyPr>
          <a:lstStyle/>
          <a:p>
            <a:pPr indent="0" lvl="0" marL="0" marR="0" rtl="0" algn="l">
              <a:lnSpc>
                <a:spcPct val="150051"/>
              </a:lnSpc>
              <a:spcBef>
                <a:spcPts val="0"/>
              </a:spcBef>
              <a:spcAft>
                <a:spcPts val="0"/>
              </a:spcAft>
              <a:buClr>
                <a:srgbClr val="0F172A"/>
              </a:buClr>
              <a:buSzPts val="975"/>
              <a:buFont typeface="Inter"/>
              <a:buNone/>
            </a:pPr>
            <a:r>
              <a:rPr b="0" i="0" lang="en-US" sz="975" u="none" cap="none" strike="noStrike">
                <a:solidFill>
                  <a:srgbClr val="0F172A"/>
                </a:solidFill>
                <a:latin typeface="Inter"/>
                <a:ea typeface="Inter"/>
                <a:cs typeface="Inter"/>
                <a:sym typeface="Inter"/>
              </a:rPr>
              <a:t>Final Validation</a:t>
            </a:r>
            <a:endParaRPr b="0" i="0" sz="975" u="none" cap="none" strike="noStrike">
              <a:solidFill>
                <a:schemeClr val="dk1"/>
              </a:solidFill>
              <a:latin typeface="Calibri"/>
              <a:ea typeface="Calibri"/>
              <a:cs typeface="Calibri"/>
              <a:sym typeface="Calibri"/>
            </a:endParaRPr>
          </a:p>
        </p:txBody>
      </p:sp>
      <p:sp>
        <p:nvSpPr>
          <p:cNvPr id="194" name="Google Shape;194;p4"/>
          <p:cNvSpPr/>
          <p:nvPr/>
        </p:nvSpPr>
        <p:spPr>
          <a:xfrm>
            <a:off x="2762101" y="3732758"/>
            <a:ext cx="2286476" cy="319088"/>
          </a:xfrm>
          <a:prstGeom prst="rect">
            <a:avLst/>
          </a:prstGeom>
          <a:noFill/>
          <a:ln>
            <a:noFill/>
          </a:ln>
        </p:spPr>
        <p:txBody>
          <a:bodyPr anchorCtr="0" anchor="ctr" bIns="0" lIns="0" spcFirstLastPara="1" rIns="0" wrap="square" tIns="0">
            <a:noAutofit/>
          </a:bodyPr>
          <a:lstStyle/>
          <a:p>
            <a:pPr indent="0" lvl="0" marL="0" marR="0" rtl="0" algn="l">
              <a:lnSpc>
                <a:spcPct val="150051"/>
              </a:lnSpc>
              <a:spcBef>
                <a:spcPts val="0"/>
              </a:spcBef>
              <a:spcAft>
                <a:spcPts val="0"/>
              </a:spcAft>
              <a:buClr>
                <a:srgbClr val="0F172A"/>
              </a:buClr>
              <a:buSzPts val="975"/>
              <a:buFont typeface="Calibri"/>
              <a:buNone/>
            </a:pPr>
            <a:r>
              <a:rPr b="0" i="0" lang="en-US" sz="975" u="none" cap="none" strike="noStrike">
                <a:solidFill>
                  <a:srgbClr val="0F172A"/>
                </a:solidFill>
                <a:latin typeface="Calibri"/>
                <a:ea typeface="Calibri"/>
                <a:cs typeface="Calibri"/>
                <a:sym typeface="Calibri"/>
              </a:rPr>
              <a:t>df.isnull().sum()</a:t>
            </a:r>
            <a:endParaRPr b="0" i="0" sz="975" u="none" cap="none" strike="noStrike">
              <a:solidFill>
                <a:schemeClr val="dk1"/>
              </a:solidFill>
              <a:latin typeface="Calibri"/>
              <a:ea typeface="Calibri"/>
              <a:cs typeface="Calibri"/>
              <a:sym typeface="Calibri"/>
            </a:endParaRPr>
          </a:p>
        </p:txBody>
      </p:sp>
      <p:sp>
        <p:nvSpPr>
          <p:cNvPr id="195" name="Google Shape;195;p4"/>
          <p:cNvSpPr/>
          <p:nvPr/>
        </p:nvSpPr>
        <p:spPr>
          <a:xfrm>
            <a:off x="4467076" y="3818483"/>
            <a:ext cx="2743200" cy="142875"/>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059669"/>
              </a:buClr>
              <a:buSzPts val="900"/>
              <a:buFont typeface="Calibri"/>
              <a:buNone/>
            </a:pPr>
            <a:r>
              <a:rPr b="0" i="0" lang="en-US" sz="900" u="none" cap="none" strike="noStrike">
                <a:solidFill>
                  <a:srgbClr val="059669"/>
                </a:solidFill>
                <a:latin typeface="Calibri"/>
                <a:ea typeface="Calibri"/>
                <a:cs typeface="Calibri"/>
                <a:sym typeface="Calibri"/>
              </a:rPr>
              <a:t>Zero nulls confirmed</a:t>
            </a:r>
            <a:endParaRPr b="0" i="0" sz="900" u="none" cap="none" strike="noStrike">
              <a:solidFill>
                <a:schemeClr val="dk1"/>
              </a:solidFill>
              <a:latin typeface="Calibri"/>
              <a:ea typeface="Calibri"/>
              <a:cs typeface="Calibri"/>
              <a:sym typeface="Calibri"/>
            </a:endParaRPr>
          </a:p>
        </p:txBody>
      </p:sp>
      <p:sp>
        <p:nvSpPr>
          <p:cNvPr id="196" name="Google Shape;196;p4"/>
          <p:cNvSpPr/>
          <p:nvPr/>
        </p:nvSpPr>
        <p:spPr>
          <a:xfrm>
            <a:off x="7376220" y="1018133"/>
            <a:ext cx="2117408" cy="198983"/>
          </a:xfrm>
          <a:prstGeom prst="rect">
            <a:avLst/>
          </a:prstGeom>
          <a:noFill/>
          <a:ln>
            <a:noFill/>
          </a:ln>
        </p:spPr>
        <p:txBody>
          <a:bodyPr anchorCtr="0" anchor="ctr" bIns="0" lIns="0" spcFirstLastPara="1" rIns="0" wrap="square" tIns="0">
            <a:noAutofit/>
          </a:bodyPr>
          <a:lstStyle/>
          <a:p>
            <a:pPr indent="0" lvl="0" marL="0" marR="0" rtl="0" algn="l">
              <a:lnSpc>
                <a:spcPct val="110035"/>
              </a:lnSpc>
              <a:spcBef>
                <a:spcPts val="0"/>
              </a:spcBef>
              <a:spcAft>
                <a:spcPts val="0"/>
              </a:spcAft>
              <a:buClr>
                <a:srgbClr val="0F172A"/>
              </a:buClr>
              <a:buSzPts val="1425"/>
              <a:buFont typeface="Inter"/>
              <a:buNone/>
            </a:pPr>
            <a:r>
              <a:rPr b="1" i="0" lang="en-US" sz="1425" u="none" cap="none" strike="noStrike">
                <a:solidFill>
                  <a:srgbClr val="0F172A"/>
                </a:solidFill>
                <a:latin typeface="Inter"/>
                <a:ea typeface="Inter"/>
                <a:cs typeface="Inter"/>
                <a:sym typeface="Inter"/>
              </a:rPr>
              <a:t>10,356</a:t>
            </a:r>
            <a:endParaRPr b="0" i="0" sz="1425" u="none" cap="none" strike="noStrike">
              <a:solidFill>
                <a:schemeClr val="dk1"/>
              </a:solidFill>
              <a:latin typeface="Calibri"/>
              <a:ea typeface="Calibri"/>
              <a:cs typeface="Calibri"/>
              <a:sym typeface="Calibri"/>
            </a:endParaRPr>
          </a:p>
        </p:txBody>
      </p:sp>
      <p:sp>
        <p:nvSpPr>
          <p:cNvPr id="197" name="Google Shape;197;p4"/>
          <p:cNvSpPr/>
          <p:nvPr/>
        </p:nvSpPr>
        <p:spPr>
          <a:xfrm>
            <a:off x="7376220" y="1236166"/>
            <a:ext cx="1539240" cy="98971"/>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94A3B8"/>
              </a:buClr>
              <a:buSzPts val="600"/>
              <a:buFont typeface="Inter"/>
              <a:buNone/>
            </a:pPr>
            <a:r>
              <a:rPr b="0" i="0" lang="en-US" sz="600" u="none" cap="none" strike="noStrike">
                <a:solidFill>
                  <a:srgbClr val="94A3B8"/>
                </a:solidFill>
                <a:latin typeface="Inter"/>
                <a:ea typeface="Inter"/>
                <a:cs typeface="Inter"/>
                <a:sym typeface="Inter"/>
              </a:rPr>
              <a:t>Final clean rows</a:t>
            </a:r>
            <a:endParaRPr b="0" i="0" sz="600" u="none" cap="none" strike="noStrike">
              <a:solidFill>
                <a:schemeClr val="dk1"/>
              </a:solidFill>
              <a:latin typeface="Calibri"/>
              <a:ea typeface="Calibri"/>
              <a:cs typeface="Calibri"/>
              <a:sym typeface="Calibri"/>
            </a:endParaRPr>
          </a:p>
        </p:txBody>
      </p:sp>
      <p:sp>
        <p:nvSpPr>
          <p:cNvPr id="198" name="Google Shape;198;p4"/>
          <p:cNvSpPr/>
          <p:nvPr/>
        </p:nvSpPr>
        <p:spPr>
          <a:xfrm>
            <a:off x="8860780" y="1018133"/>
            <a:ext cx="1251198" cy="198983"/>
          </a:xfrm>
          <a:prstGeom prst="rect">
            <a:avLst/>
          </a:prstGeom>
          <a:noFill/>
          <a:ln>
            <a:noFill/>
          </a:ln>
        </p:spPr>
        <p:txBody>
          <a:bodyPr anchorCtr="0" anchor="ctr" bIns="0" lIns="0" spcFirstLastPara="1" rIns="0" wrap="square" tIns="0">
            <a:noAutofit/>
          </a:bodyPr>
          <a:lstStyle/>
          <a:p>
            <a:pPr indent="0" lvl="0" marL="0" marR="0" rtl="0" algn="l">
              <a:lnSpc>
                <a:spcPct val="110035"/>
              </a:lnSpc>
              <a:spcBef>
                <a:spcPts val="0"/>
              </a:spcBef>
              <a:spcAft>
                <a:spcPts val="0"/>
              </a:spcAft>
              <a:buClr>
                <a:srgbClr val="0F172A"/>
              </a:buClr>
              <a:buSzPts val="1425"/>
              <a:buFont typeface="Inter"/>
              <a:buNone/>
            </a:pPr>
            <a:r>
              <a:rPr b="1" i="0" lang="en-US" sz="1425" u="none" cap="none" strike="noStrike">
                <a:solidFill>
                  <a:srgbClr val="0F172A"/>
                </a:solidFill>
                <a:latin typeface="Inter"/>
                <a:ea typeface="Inter"/>
                <a:cs typeface="Inter"/>
                <a:sym typeface="Inter"/>
              </a:rPr>
              <a:t>483</a:t>
            </a:r>
            <a:endParaRPr b="0" i="0" sz="1425" u="none" cap="none" strike="noStrike">
              <a:solidFill>
                <a:schemeClr val="dk1"/>
              </a:solidFill>
              <a:latin typeface="Calibri"/>
              <a:ea typeface="Calibri"/>
              <a:cs typeface="Calibri"/>
              <a:sym typeface="Calibri"/>
            </a:endParaRPr>
          </a:p>
        </p:txBody>
      </p:sp>
      <p:sp>
        <p:nvSpPr>
          <p:cNvPr id="199" name="Google Shape;199;p4"/>
          <p:cNvSpPr/>
          <p:nvPr/>
        </p:nvSpPr>
        <p:spPr>
          <a:xfrm>
            <a:off x="8860780" y="1236166"/>
            <a:ext cx="1722120" cy="98971"/>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94A3B8"/>
              </a:buClr>
              <a:buSzPts val="600"/>
              <a:buFont typeface="Inter"/>
              <a:buNone/>
            </a:pPr>
            <a:r>
              <a:rPr b="0" i="0" lang="en-US" sz="600" u="none" cap="none" strike="noStrike">
                <a:solidFill>
                  <a:srgbClr val="94A3B8"/>
                </a:solidFill>
                <a:latin typeface="Inter"/>
                <a:ea typeface="Inter"/>
                <a:cs typeface="Inter"/>
                <a:sym typeface="Inter"/>
              </a:rPr>
              <a:t>Duplicates removed</a:t>
            </a:r>
            <a:endParaRPr b="0" i="0" sz="600" u="none" cap="none" strike="noStrike">
              <a:solidFill>
                <a:schemeClr val="dk1"/>
              </a:solidFill>
              <a:latin typeface="Calibri"/>
              <a:ea typeface="Calibri"/>
              <a:cs typeface="Calibri"/>
              <a:sym typeface="Calibri"/>
            </a:endParaRPr>
          </a:p>
        </p:txBody>
      </p:sp>
      <p:sp>
        <p:nvSpPr>
          <p:cNvPr id="200" name="Google Shape;200;p4"/>
          <p:cNvSpPr/>
          <p:nvPr/>
        </p:nvSpPr>
        <p:spPr>
          <a:xfrm>
            <a:off x="10345341" y="1018133"/>
            <a:ext cx="1393508" cy="198983"/>
          </a:xfrm>
          <a:prstGeom prst="rect">
            <a:avLst/>
          </a:prstGeom>
          <a:noFill/>
          <a:ln>
            <a:noFill/>
          </a:ln>
        </p:spPr>
        <p:txBody>
          <a:bodyPr anchorCtr="0" anchor="ctr" bIns="0" lIns="0" spcFirstLastPara="1" rIns="0" wrap="square" tIns="0">
            <a:noAutofit/>
          </a:bodyPr>
          <a:lstStyle/>
          <a:p>
            <a:pPr indent="0" lvl="0" marL="0" marR="0" rtl="0" algn="l">
              <a:lnSpc>
                <a:spcPct val="110035"/>
              </a:lnSpc>
              <a:spcBef>
                <a:spcPts val="0"/>
              </a:spcBef>
              <a:spcAft>
                <a:spcPts val="0"/>
              </a:spcAft>
              <a:buClr>
                <a:srgbClr val="0F172A"/>
              </a:buClr>
              <a:buSzPts val="1425"/>
              <a:buFont typeface="Inter"/>
              <a:buNone/>
            </a:pPr>
            <a:r>
              <a:rPr b="1" i="0" lang="en-US" sz="1425" u="none" cap="none" strike="noStrike">
                <a:solidFill>
                  <a:srgbClr val="0F172A"/>
                </a:solidFill>
                <a:latin typeface="Inter"/>
                <a:ea typeface="Inter"/>
                <a:cs typeface="Inter"/>
                <a:sym typeface="Inter"/>
              </a:rPr>
              <a:t>4.19</a:t>
            </a:r>
            <a:endParaRPr b="0" i="0" sz="1425" u="none" cap="none" strike="noStrike">
              <a:solidFill>
                <a:schemeClr val="dk1"/>
              </a:solidFill>
              <a:latin typeface="Calibri"/>
              <a:ea typeface="Calibri"/>
              <a:cs typeface="Calibri"/>
              <a:sym typeface="Calibri"/>
            </a:endParaRPr>
          </a:p>
        </p:txBody>
      </p:sp>
      <p:sp>
        <p:nvSpPr>
          <p:cNvPr id="201" name="Google Shape;201;p4"/>
          <p:cNvSpPr/>
          <p:nvPr/>
        </p:nvSpPr>
        <p:spPr>
          <a:xfrm>
            <a:off x="10345341" y="1236166"/>
            <a:ext cx="1846659" cy="98971"/>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94A3B8"/>
              </a:buClr>
              <a:buSzPts val="600"/>
              <a:buFont typeface="Inter"/>
              <a:buNone/>
            </a:pPr>
            <a:r>
              <a:rPr b="0" i="0" lang="en-US" sz="600" u="none" cap="none" strike="noStrike">
                <a:solidFill>
                  <a:srgbClr val="94A3B8"/>
                </a:solidFill>
                <a:latin typeface="Inter"/>
                <a:ea typeface="Inter"/>
                <a:cs typeface="Inter"/>
                <a:sym typeface="Inter"/>
              </a:rPr>
              <a:t>Mean rating used for fill</a:t>
            </a:r>
            <a:endParaRPr b="0" i="0" sz="600" u="none" cap="none" strike="noStrike">
              <a:solidFill>
                <a:schemeClr val="dk1"/>
              </a:solidFill>
              <a:latin typeface="Calibri"/>
              <a:ea typeface="Calibri"/>
              <a:cs typeface="Calibri"/>
              <a:sym typeface="Calibri"/>
            </a:endParaRPr>
          </a:p>
        </p:txBody>
      </p:sp>
      <p:sp>
        <p:nvSpPr>
          <p:cNvPr id="202" name="Google Shape;202;p4"/>
          <p:cNvSpPr/>
          <p:nvPr/>
        </p:nvSpPr>
        <p:spPr>
          <a:xfrm>
            <a:off x="7552432" y="1449437"/>
            <a:ext cx="4129980" cy="142875"/>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0F172A"/>
              </a:buClr>
              <a:buSzPts val="750"/>
              <a:buFont typeface="Inter"/>
              <a:buNone/>
            </a:pPr>
            <a:r>
              <a:rPr b="1" i="0" lang="en-US" sz="750" u="none" cap="none" strike="noStrike">
                <a:solidFill>
                  <a:srgbClr val="0F172A"/>
                </a:solidFill>
                <a:latin typeface="Inter"/>
                <a:ea typeface="Inter"/>
                <a:cs typeface="Inter"/>
                <a:sym typeface="Inter"/>
              </a:rPr>
              <a:t>DATA QUALITY NOTES</a:t>
            </a:r>
            <a:endParaRPr b="0" i="0" sz="750" u="none" cap="none" strike="noStrike">
              <a:solidFill>
                <a:schemeClr val="dk1"/>
              </a:solidFill>
              <a:latin typeface="Calibri"/>
              <a:ea typeface="Calibri"/>
              <a:cs typeface="Calibri"/>
              <a:sym typeface="Calibri"/>
            </a:endParaRPr>
          </a:p>
        </p:txBody>
      </p:sp>
      <p:sp>
        <p:nvSpPr>
          <p:cNvPr id="203" name="Google Shape;203;p4"/>
          <p:cNvSpPr/>
          <p:nvPr/>
        </p:nvSpPr>
        <p:spPr>
          <a:xfrm>
            <a:off x="7423845" y="1716137"/>
            <a:ext cx="1261989" cy="119063"/>
          </a:xfrm>
          <a:prstGeom prst="rect">
            <a:avLst/>
          </a:prstGeom>
          <a:noFill/>
          <a:ln>
            <a:noFill/>
          </a:ln>
        </p:spPr>
        <p:txBody>
          <a:bodyPr anchorCtr="0" anchor="ctr" bIns="0" lIns="0" spcFirstLastPara="1" rIns="0" wrap="square" tIns="0">
            <a:noAutofit/>
          </a:bodyPr>
          <a:lstStyle/>
          <a:p>
            <a:pPr indent="0" lvl="0" marL="0" marR="0" rtl="0" algn="l">
              <a:lnSpc>
                <a:spcPct val="150095"/>
              </a:lnSpc>
              <a:spcBef>
                <a:spcPts val="0"/>
              </a:spcBef>
              <a:spcAft>
                <a:spcPts val="0"/>
              </a:spcAft>
              <a:buClr>
                <a:srgbClr val="7C3AED"/>
              </a:buClr>
              <a:buSzPts val="525"/>
              <a:buFont typeface="Calibri"/>
              <a:buNone/>
            </a:pPr>
            <a:r>
              <a:rPr b="0" i="0" lang="en-US" sz="525" u="none" cap="none" strike="noStrike">
                <a:solidFill>
                  <a:srgbClr val="7C3AED"/>
                </a:solidFill>
                <a:latin typeface="Calibri"/>
                <a:ea typeface="Calibri"/>
                <a:cs typeface="Calibri"/>
                <a:sym typeface="Calibri"/>
              </a:rPr>
              <a:t>Genres — excluded</a:t>
            </a:r>
            <a:endParaRPr b="0" i="0" sz="525" u="none" cap="none" strike="noStrike">
              <a:solidFill>
                <a:schemeClr val="dk1"/>
              </a:solidFill>
              <a:latin typeface="Calibri"/>
              <a:ea typeface="Calibri"/>
              <a:cs typeface="Calibri"/>
              <a:sym typeface="Calibri"/>
            </a:endParaRPr>
          </a:p>
        </p:txBody>
      </p:sp>
      <p:sp>
        <p:nvSpPr>
          <p:cNvPr id="204" name="Google Shape;204;p4"/>
          <p:cNvSpPr/>
          <p:nvPr/>
        </p:nvSpPr>
        <p:spPr>
          <a:xfrm>
            <a:off x="7376220" y="1854250"/>
            <a:ext cx="4129980" cy="266551"/>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475569"/>
              </a:buClr>
              <a:buSzPts val="675"/>
              <a:buFont typeface="Inter"/>
              <a:buNone/>
            </a:pPr>
            <a:r>
              <a:rPr b="0" i="0" lang="en-US" sz="675" u="none" cap="none" strike="noStrike">
                <a:solidFill>
                  <a:srgbClr val="475569"/>
                </a:solidFill>
                <a:latin typeface="Inter"/>
                <a:ea typeface="Inter"/>
                <a:cs typeface="Inter"/>
                <a:sym typeface="Inter"/>
              </a:rPr>
              <a:t>Multi-value strings (e.g. "Tools;Education") require a junction table; kept out of the 3-table schema.</a:t>
            </a:r>
            <a:endParaRPr b="0" i="0" sz="675" u="none" cap="none" strike="noStrike">
              <a:solidFill>
                <a:schemeClr val="dk1"/>
              </a:solidFill>
              <a:latin typeface="Calibri"/>
              <a:ea typeface="Calibri"/>
              <a:cs typeface="Calibri"/>
              <a:sym typeface="Calibri"/>
            </a:endParaRPr>
          </a:p>
        </p:txBody>
      </p:sp>
      <p:sp>
        <p:nvSpPr>
          <p:cNvPr id="205" name="Google Shape;205;p4"/>
          <p:cNvSpPr/>
          <p:nvPr/>
        </p:nvSpPr>
        <p:spPr>
          <a:xfrm>
            <a:off x="7423845" y="2235101"/>
            <a:ext cx="1578079" cy="119063"/>
          </a:xfrm>
          <a:prstGeom prst="rect">
            <a:avLst/>
          </a:prstGeom>
          <a:noFill/>
          <a:ln>
            <a:noFill/>
          </a:ln>
        </p:spPr>
        <p:txBody>
          <a:bodyPr anchorCtr="0" anchor="ctr" bIns="0" lIns="0" spcFirstLastPara="1" rIns="0" wrap="square" tIns="0">
            <a:noAutofit/>
          </a:bodyPr>
          <a:lstStyle/>
          <a:p>
            <a:pPr indent="0" lvl="0" marL="0" marR="0" rtl="0" algn="l">
              <a:lnSpc>
                <a:spcPct val="150095"/>
              </a:lnSpc>
              <a:spcBef>
                <a:spcPts val="0"/>
              </a:spcBef>
              <a:spcAft>
                <a:spcPts val="0"/>
              </a:spcAft>
              <a:buClr>
                <a:srgbClr val="7C3AED"/>
              </a:buClr>
              <a:buSzPts val="525"/>
              <a:buFont typeface="Calibri"/>
              <a:buNone/>
            </a:pPr>
            <a:r>
              <a:rPr b="0" i="0" lang="en-US" sz="525" u="none" cap="none" strike="noStrike">
                <a:solidFill>
                  <a:srgbClr val="7C3AED"/>
                </a:solidFill>
                <a:latin typeface="Calibri"/>
                <a:ea typeface="Calibri"/>
                <a:cs typeface="Calibri"/>
                <a:sym typeface="Calibri"/>
              </a:rPr>
              <a:t>Installs — text → int</a:t>
            </a:r>
            <a:endParaRPr b="0" i="0" sz="525" u="none" cap="none" strike="noStrike">
              <a:solidFill>
                <a:schemeClr val="dk1"/>
              </a:solidFill>
              <a:latin typeface="Calibri"/>
              <a:ea typeface="Calibri"/>
              <a:cs typeface="Calibri"/>
              <a:sym typeface="Calibri"/>
            </a:endParaRPr>
          </a:p>
        </p:txBody>
      </p:sp>
      <p:sp>
        <p:nvSpPr>
          <p:cNvPr id="206" name="Google Shape;206;p4"/>
          <p:cNvSpPr/>
          <p:nvPr/>
        </p:nvSpPr>
        <p:spPr>
          <a:xfrm>
            <a:off x="7376220" y="2373213"/>
            <a:ext cx="4815780" cy="146596"/>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475569"/>
              </a:buClr>
              <a:buSzPts val="675"/>
              <a:buFont typeface="Inter"/>
              <a:buNone/>
            </a:pPr>
            <a:r>
              <a:rPr b="0" i="0" lang="en-US" sz="675" u="none" cap="none" strike="noStrike">
                <a:solidFill>
                  <a:srgbClr val="475569"/>
                </a:solidFill>
                <a:latin typeface="Inter"/>
                <a:ea typeface="Inter"/>
                <a:cs typeface="Inter"/>
                <a:sym typeface="Inter"/>
              </a:rPr>
              <a:t>Values stored as "10,000+"; commas and "+" stripped then cast to integer.</a:t>
            </a:r>
            <a:endParaRPr b="0" i="0" sz="675" u="none" cap="none" strike="noStrike">
              <a:solidFill>
                <a:schemeClr val="dk1"/>
              </a:solidFill>
              <a:latin typeface="Calibri"/>
              <a:ea typeface="Calibri"/>
              <a:cs typeface="Calibri"/>
              <a:sym typeface="Calibri"/>
            </a:endParaRPr>
          </a:p>
        </p:txBody>
      </p:sp>
      <p:sp>
        <p:nvSpPr>
          <p:cNvPr id="207" name="Google Shape;207;p4"/>
          <p:cNvSpPr/>
          <p:nvPr/>
        </p:nvSpPr>
        <p:spPr>
          <a:xfrm>
            <a:off x="7423845" y="2634109"/>
            <a:ext cx="1499031" cy="119063"/>
          </a:xfrm>
          <a:prstGeom prst="rect">
            <a:avLst/>
          </a:prstGeom>
          <a:noFill/>
          <a:ln>
            <a:noFill/>
          </a:ln>
        </p:spPr>
        <p:txBody>
          <a:bodyPr anchorCtr="0" anchor="ctr" bIns="0" lIns="0" spcFirstLastPara="1" rIns="0" wrap="square" tIns="0">
            <a:noAutofit/>
          </a:bodyPr>
          <a:lstStyle/>
          <a:p>
            <a:pPr indent="0" lvl="0" marL="0" marR="0" rtl="0" algn="l">
              <a:lnSpc>
                <a:spcPct val="150095"/>
              </a:lnSpc>
              <a:spcBef>
                <a:spcPts val="0"/>
              </a:spcBef>
              <a:spcAft>
                <a:spcPts val="0"/>
              </a:spcAft>
              <a:buClr>
                <a:srgbClr val="7C3AED"/>
              </a:buClr>
              <a:buSzPts val="525"/>
              <a:buFont typeface="Calibri"/>
              <a:buNone/>
            </a:pPr>
            <a:r>
              <a:rPr b="0" i="0" lang="en-US" sz="525" u="none" cap="none" strike="noStrike">
                <a:solidFill>
                  <a:srgbClr val="7C3AED"/>
                </a:solidFill>
                <a:latin typeface="Calibri"/>
                <a:ea typeface="Calibri"/>
                <a:cs typeface="Calibri"/>
                <a:sym typeface="Calibri"/>
              </a:rPr>
              <a:t>Price — text → float</a:t>
            </a:r>
            <a:endParaRPr b="0" i="0" sz="525" u="none" cap="none" strike="noStrike">
              <a:solidFill>
                <a:schemeClr val="dk1"/>
              </a:solidFill>
              <a:latin typeface="Calibri"/>
              <a:ea typeface="Calibri"/>
              <a:cs typeface="Calibri"/>
              <a:sym typeface="Calibri"/>
            </a:endParaRPr>
          </a:p>
        </p:txBody>
      </p:sp>
      <p:sp>
        <p:nvSpPr>
          <p:cNvPr id="208" name="Google Shape;208;p4"/>
          <p:cNvSpPr/>
          <p:nvPr/>
        </p:nvSpPr>
        <p:spPr>
          <a:xfrm>
            <a:off x="7376220" y="2772221"/>
            <a:ext cx="4815780" cy="146596"/>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475569"/>
              </a:buClr>
              <a:buSzPts val="675"/>
              <a:buFont typeface="Inter"/>
              <a:buNone/>
            </a:pPr>
            <a:r>
              <a:rPr b="0" i="0" lang="en-US" sz="675" u="none" cap="none" strike="noStrike">
                <a:solidFill>
                  <a:srgbClr val="475569"/>
                </a:solidFill>
                <a:latin typeface="Inter"/>
                <a:ea typeface="Inter"/>
                <a:cs typeface="Inter"/>
                <a:sym typeface="Inter"/>
              </a:rPr>
              <a:t>Values stored as "$4.99"; leading "$" stripped then cast to float.</a:t>
            </a:r>
            <a:endParaRPr b="0" i="0" sz="675" u="none" cap="none" strike="noStrike">
              <a:solidFill>
                <a:schemeClr val="dk1"/>
              </a:solidFill>
              <a:latin typeface="Calibri"/>
              <a:ea typeface="Calibri"/>
              <a:cs typeface="Calibri"/>
              <a:sym typeface="Calibri"/>
            </a:endParaRPr>
          </a:p>
        </p:txBody>
      </p:sp>
      <p:sp>
        <p:nvSpPr>
          <p:cNvPr id="209" name="Google Shape;209;p4"/>
          <p:cNvSpPr/>
          <p:nvPr/>
        </p:nvSpPr>
        <p:spPr>
          <a:xfrm>
            <a:off x="7423845" y="3033117"/>
            <a:ext cx="1656806" cy="119063"/>
          </a:xfrm>
          <a:prstGeom prst="rect">
            <a:avLst/>
          </a:prstGeom>
          <a:noFill/>
          <a:ln>
            <a:noFill/>
          </a:ln>
        </p:spPr>
        <p:txBody>
          <a:bodyPr anchorCtr="0" anchor="ctr" bIns="0" lIns="0" spcFirstLastPara="1" rIns="0" wrap="square" tIns="0">
            <a:noAutofit/>
          </a:bodyPr>
          <a:lstStyle/>
          <a:p>
            <a:pPr indent="0" lvl="0" marL="0" marR="0" rtl="0" algn="l">
              <a:lnSpc>
                <a:spcPct val="150095"/>
              </a:lnSpc>
              <a:spcBef>
                <a:spcPts val="0"/>
              </a:spcBef>
              <a:spcAft>
                <a:spcPts val="0"/>
              </a:spcAft>
              <a:buClr>
                <a:srgbClr val="7C3AED"/>
              </a:buClr>
              <a:buSzPts val="525"/>
              <a:buFont typeface="Calibri"/>
              <a:buNone/>
            </a:pPr>
            <a:r>
              <a:rPr b="0" i="0" lang="en-US" sz="525" u="none" cap="none" strike="noStrike">
                <a:solidFill>
                  <a:srgbClr val="7C3AED"/>
                </a:solidFill>
                <a:latin typeface="Calibri"/>
                <a:ea typeface="Calibri"/>
                <a:cs typeface="Calibri"/>
                <a:sym typeface="Calibri"/>
              </a:rPr>
              <a:t>Rating nulls — imputed</a:t>
            </a:r>
            <a:endParaRPr b="0" i="0" sz="525" u="none" cap="none" strike="noStrike">
              <a:solidFill>
                <a:schemeClr val="dk1"/>
              </a:solidFill>
              <a:latin typeface="Calibri"/>
              <a:ea typeface="Calibri"/>
              <a:cs typeface="Calibri"/>
              <a:sym typeface="Calibri"/>
            </a:endParaRPr>
          </a:p>
        </p:txBody>
      </p:sp>
      <p:sp>
        <p:nvSpPr>
          <p:cNvPr id="210" name="Google Shape;210;p4"/>
          <p:cNvSpPr/>
          <p:nvPr/>
        </p:nvSpPr>
        <p:spPr>
          <a:xfrm>
            <a:off x="7376220" y="3171230"/>
            <a:ext cx="4815780" cy="119955"/>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475569"/>
              </a:buClr>
              <a:buSzPts val="675"/>
              <a:buFont typeface="Inter"/>
              <a:buNone/>
            </a:pPr>
            <a:r>
              <a:rPr b="0" i="0" lang="en-US" sz="675" u="none" cap="none" strike="noStrike">
                <a:solidFill>
                  <a:srgbClr val="475569"/>
                </a:solidFill>
                <a:latin typeface="Inter"/>
                <a:ea typeface="Inter"/>
                <a:cs typeface="Inter"/>
                <a:sym typeface="Inter"/>
              </a:rPr>
              <a:t>1,474 missing ratings filled with column mean (4.19) to preserve row count for joins.</a:t>
            </a:r>
            <a:endParaRPr b="0" i="0" sz="675" u="none" cap="none" strike="noStrike">
              <a:solidFill>
                <a:schemeClr val="dk1"/>
              </a:solidFill>
              <a:latin typeface="Calibri"/>
              <a:ea typeface="Calibri"/>
              <a:cs typeface="Calibri"/>
              <a:sym typeface="Calibri"/>
            </a:endParaRPr>
          </a:p>
        </p:txBody>
      </p:sp>
      <p:sp>
        <p:nvSpPr>
          <p:cNvPr id="211" name="Google Shape;211;p4"/>
          <p:cNvSpPr/>
          <p:nvPr/>
        </p:nvSpPr>
        <p:spPr>
          <a:xfrm>
            <a:off x="7669113" y="3670846"/>
            <a:ext cx="4522887" cy="185738"/>
          </a:xfrm>
          <a:prstGeom prst="rect">
            <a:avLst/>
          </a:prstGeom>
          <a:noFill/>
          <a:ln>
            <a:noFill/>
          </a:ln>
        </p:spPr>
        <p:txBody>
          <a:bodyPr anchorCtr="0" anchor="ctr" bIns="0" lIns="0" spcFirstLastPara="1" rIns="0" wrap="square" tIns="0">
            <a:noAutofit/>
          </a:bodyPr>
          <a:lstStyle/>
          <a:p>
            <a:pPr indent="0" lvl="0" marL="0" marR="0" rtl="0" algn="l">
              <a:lnSpc>
                <a:spcPct val="150051"/>
              </a:lnSpc>
              <a:spcBef>
                <a:spcPts val="0"/>
              </a:spcBef>
              <a:spcAft>
                <a:spcPts val="0"/>
              </a:spcAft>
              <a:buClr>
                <a:srgbClr val="065F46"/>
              </a:buClr>
              <a:buSzPts val="975"/>
              <a:buFont typeface="Inter"/>
              <a:buNone/>
            </a:pPr>
            <a:r>
              <a:rPr b="1" i="0" lang="en-US" sz="975" u="none" cap="none" strike="noStrike">
                <a:solidFill>
                  <a:srgbClr val="065F46"/>
                </a:solidFill>
                <a:latin typeface="Inter"/>
                <a:ea typeface="Inter"/>
                <a:cs typeface="Inter"/>
                <a:sym typeface="Inter"/>
              </a:rPr>
              <a:t>Pipeline Complete — Schema-Ready</a:t>
            </a:r>
            <a:endParaRPr b="0" i="0" sz="975" u="none" cap="none" strike="noStrike">
              <a:solidFill>
                <a:schemeClr val="dk1"/>
              </a:solidFill>
              <a:latin typeface="Calibri"/>
              <a:ea typeface="Calibri"/>
              <a:cs typeface="Calibri"/>
              <a:sym typeface="Calibri"/>
            </a:endParaRPr>
          </a:p>
        </p:txBody>
      </p:sp>
      <p:sp>
        <p:nvSpPr>
          <p:cNvPr id="212" name="Google Shape;212;p4"/>
          <p:cNvSpPr/>
          <p:nvPr/>
        </p:nvSpPr>
        <p:spPr>
          <a:xfrm>
            <a:off x="7669113" y="3866108"/>
            <a:ext cx="4522887" cy="157163"/>
          </a:xfrm>
          <a:prstGeom prst="rect">
            <a:avLst/>
          </a:prstGeom>
          <a:noFill/>
          <a:ln>
            <a:noFill/>
          </a:ln>
        </p:spPr>
        <p:txBody>
          <a:bodyPr anchorCtr="0" anchor="ctr" bIns="0" lIns="0" spcFirstLastPara="1" rIns="0" wrap="square" tIns="0">
            <a:noAutofit/>
          </a:bodyPr>
          <a:lstStyle/>
          <a:p>
            <a:pPr indent="0" lvl="0" marL="0" marR="0" rtl="0" algn="l">
              <a:lnSpc>
                <a:spcPct val="150060"/>
              </a:lnSpc>
              <a:spcBef>
                <a:spcPts val="0"/>
              </a:spcBef>
              <a:spcAft>
                <a:spcPts val="0"/>
              </a:spcAft>
              <a:buClr>
                <a:srgbClr val="047857"/>
              </a:buClr>
              <a:buSzPts val="825"/>
              <a:buFont typeface="Inter"/>
              <a:buNone/>
            </a:pPr>
            <a:r>
              <a:rPr b="0" i="0" lang="en-US" sz="825" u="none" cap="none" strike="noStrike">
                <a:solidFill>
                  <a:srgbClr val="047857"/>
                </a:solidFill>
                <a:latin typeface="Inter"/>
                <a:ea typeface="Inter"/>
                <a:cs typeface="Inter"/>
                <a:sym typeface="Inter"/>
              </a:rPr>
              <a:t>10,356 rows × 13 columns · Zero nulls · All FK relationships intact</a:t>
            </a:r>
            <a:endParaRPr b="0" i="0" sz="825" u="none" cap="none" strike="noStrike">
              <a:solidFill>
                <a:schemeClr val="dk1"/>
              </a:solidFill>
              <a:latin typeface="Calibri"/>
              <a:ea typeface="Calibri"/>
              <a:cs typeface="Calibri"/>
              <a:sym typeface="Calibri"/>
            </a:endParaRPr>
          </a:p>
        </p:txBody>
      </p:sp>
      <p:pic>
        <p:nvPicPr>
          <p:cNvPr descr="preencoded.png" id="213" name="Google Shape;213;p4"/>
          <p:cNvPicPr preferRelativeResize="0"/>
          <p:nvPr/>
        </p:nvPicPr>
        <p:blipFill rotWithShape="1">
          <a:blip r:embed="rId42">
            <a:alphaModFix/>
          </a:blip>
          <a:srcRect b="0" l="0" r="0" t="0"/>
          <a:stretch/>
        </p:blipFill>
        <p:spPr>
          <a:xfrm>
            <a:off x="533400" y="4285200"/>
            <a:ext cx="11148998" cy="2500725"/>
          </a:xfrm>
          <a:prstGeom prst="rect">
            <a:avLst/>
          </a:prstGeom>
          <a:noFill/>
          <a:ln>
            <a:noFill/>
          </a:ln>
        </p:spPr>
      </p:pic>
      <p:pic>
        <p:nvPicPr>
          <p:cNvPr descr="preencoded.png" id="214" name="Google Shape;214;p4"/>
          <p:cNvPicPr preferRelativeResize="0"/>
          <p:nvPr/>
        </p:nvPicPr>
        <p:blipFill rotWithShape="1">
          <a:blip r:embed="rId43">
            <a:alphaModFix/>
          </a:blip>
          <a:srcRect b="0" l="0" r="0" t="0"/>
          <a:stretch/>
        </p:blipFill>
        <p:spPr>
          <a:xfrm>
            <a:off x="628650" y="4370921"/>
            <a:ext cx="381000" cy="381000"/>
          </a:xfrm>
          <a:prstGeom prst="rect">
            <a:avLst/>
          </a:prstGeom>
          <a:noFill/>
          <a:ln>
            <a:noFill/>
          </a:ln>
        </p:spPr>
      </p:pic>
      <p:pic>
        <p:nvPicPr>
          <p:cNvPr descr="preencoded.png" id="215" name="Google Shape;215;p4"/>
          <p:cNvPicPr preferRelativeResize="0"/>
          <p:nvPr/>
        </p:nvPicPr>
        <p:blipFill rotWithShape="1">
          <a:blip r:embed="rId44">
            <a:alphaModFix/>
          </a:blip>
          <a:srcRect b="0" l="0" r="0" t="0"/>
          <a:stretch/>
        </p:blipFill>
        <p:spPr>
          <a:xfrm>
            <a:off x="700088" y="4466171"/>
            <a:ext cx="238125" cy="190500"/>
          </a:xfrm>
          <a:prstGeom prst="rect">
            <a:avLst/>
          </a:prstGeom>
          <a:noFill/>
          <a:ln>
            <a:noFill/>
          </a:ln>
        </p:spPr>
      </p:pic>
      <p:sp>
        <p:nvSpPr>
          <p:cNvPr id="216" name="Google Shape;216;p4"/>
          <p:cNvSpPr/>
          <p:nvPr/>
        </p:nvSpPr>
        <p:spPr>
          <a:xfrm>
            <a:off x="1197300" y="4418471"/>
            <a:ext cx="4896000" cy="2859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0F172A"/>
              </a:buClr>
              <a:buSzPts val="1500"/>
              <a:buFont typeface="Inter"/>
              <a:buNone/>
            </a:pPr>
            <a:r>
              <a:rPr b="1" lang="en-US" sz="1500">
                <a:solidFill>
                  <a:srgbClr val="0F172A"/>
                </a:solidFill>
                <a:latin typeface="Inter"/>
                <a:ea typeface="Inter"/>
                <a:cs typeface="Inter"/>
                <a:sym typeface="Inter"/>
              </a:rPr>
              <a:t>Challenges</a:t>
            </a:r>
            <a:endParaRPr b="0" i="0" sz="1500" u="none" cap="none" strike="noStrike">
              <a:solidFill>
                <a:schemeClr val="dk1"/>
              </a:solidFill>
              <a:latin typeface="Calibri"/>
              <a:ea typeface="Calibri"/>
              <a:cs typeface="Calibri"/>
              <a:sym typeface="Calibri"/>
            </a:endParaRPr>
          </a:p>
        </p:txBody>
      </p:sp>
      <p:sp>
        <p:nvSpPr>
          <p:cNvPr id="217" name="Google Shape;217;p4"/>
          <p:cNvSpPr txBox="1"/>
          <p:nvPr/>
        </p:nvSpPr>
        <p:spPr>
          <a:xfrm>
            <a:off x="914400" y="4984400"/>
            <a:ext cx="10395300" cy="10314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SzPts val="1100"/>
              <a:buFont typeface="Inter"/>
              <a:buChar char="●"/>
            </a:pPr>
            <a:r>
              <a:rPr lang="en-US" sz="1100">
                <a:latin typeface="Inter"/>
                <a:ea typeface="Inter"/>
                <a:cs typeface="Inter"/>
                <a:sym typeface="Inter"/>
              </a:rPr>
              <a:t>Missing ratings had to be imputed to preserve the dataset size by using the mean().</a:t>
            </a:r>
            <a:endParaRPr sz="1100">
              <a:latin typeface="Inter"/>
              <a:ea typeface="Inter"/>
              <a:cs typeface="Inter"/>
              <a:sym typeface="Inter"/>
            </a:endParaRPr>
          </a:p>
          <a:p>
            <a:pPr indent="-298450" lvl="0" marL="457200" rtl="0" algn="l">
              <a:spcBef>
                <a:spcPts val="0"/>
              </a:spcBef>
              <a:spcAft>
                <a:spcPts val="0"/>
              </a:spcAft>
              <a:buSzPts val="1100"/>
              <a:buFont typeface="Inter"/>
              <a:buChar char="●"/>
            </a:pPr>
            <a:r>
              <a:rPr lang="en-US" sz="1100">
                <a:latin typeface="Inter"/>
                <a:ea typeface="Inter"/>
                <a:cs typeface="Inter"/>
                <a:sym typeface="Inter"/>
              </a:rPr>
              <a:t>Special characters and emojis in app names/reviews. </a:t>
            </a:r>
            <a:endParaRPr sz="1100">
              <a:latin typeface="Inter"/>
              <a:ea typeface="Inter"/>
              <a:cs typeface="Inter"/>
              <a:sym typeface="Inter"/>
            </a:endParaRPr>
          </a:p>
          <a:p>
            <a:pPr indent="-298450" lvl="0" marL="457200" rtl="0" algn="l">
              <a:spcBef>
                <a:spcPts val="0"/>
              </a:spcBef>
              <a:spcAft>
                <a:spcPts val="0"/>
              </a:spcAft>
              <a:buSzPts val="1100"/>
              <a:buFont typeface="Inter"/>
              <a:buChar char="●"/>
            </a:pPr>
            <a:r>
              <a:rPr lang="en-US" sz="1100">
                <a:latin typeface="Inter"/>
                <a:ea typeface="Inter"/>
                <a:cs typeface="Inter"/>
                <a:sym typeface="Inter"/>
              </a:rPr>
              <a:t>Data type conversion issues.</a:t>
            </a:r>
            <a:endParaRPr sz="1100">
              <a:latin typeface="Inter"/>
              <a:ea typeface="Inter"/>
              <a:cs typeface="Inter"/>
              <a:sym typeface="Inter"/>
            </a:endParaRPr>
          </a:p>
          <a:p>
            <a:pPr indent="-298450" lvl="0" marL="457200" rtl="0" algn="l">
              <a:spcBef>
                <a:spcPts val="0"/>
              </a:spcBef>
              <a:spcAft>
                <a:spcPts val="0"/>
              </a:spcAft>
              <a:buSzPts val="1100"/>
              <a:buFont typeface="Inter"/>
              <a:buChar char="●"/>
            </a:pPr>
            <a:r>
              <a:rPr lang="en-US" sz="1100">
                <a:latin typeface="Inter"/>
                <a:ea typeface="Inter"/>
                <a:cs typeface="Inter"/>
                <a:sym typeface="Inter"/>
              </a:rPr>
              <a:t>Creating consistent category IDs. </a:t>
            </a:r>
            <a:endParaRPr sz="1100">
              <a:latin typeface="Inter"/>
              <a:ea typeface="Inter"/>
              <a:cs typeface="Inter"/>
              <a:sym typeface="Inter"/>
            </a:endParaRPr>
          </a:p>
          <a:p>
            <a:pPr indent="-298450" lvl="0" marL="457200" rtl="0" algn="l">
              <a:spcBef>
                <a:spcPts val="0"/>
              </a:spcBef>
              <a:spcAft>
                <a:spcPts val="0"/>
              </a:spcAft>
              <a:buSzPts val="1100"/>
              <a:buFont typeface="Inter"/>
              <a:buChar char="●"/>
            </a:pPr>
            <a:r>
              <a:rPr lang="en-US" sz="1100">
                <a:latin typeface="Inter"/>
                <a:ea typeface="Inter"/>
                <a:cs typeface="Inter"/>
                <a:sym typeface="Inter"/>
              </a:rPr>
              <a:t>Matching reviews with the correct apps.</a:t>
            </a:r>
            <a:endParaRPr sz="1100">
              <a:latin typeface="Inter"/>
              <a:ea typeface="Inter"/>
              <a:cs typeface="Inter"/>
              <a:sym typeface="Inter"/>
            </a:endParaRPr>
          </a:p>
        </p:txBody>
      </p:sp>
      <p:pic>
        <p:nvPicPr>
          <p:cNvPr id="218" name="Google Shape;218;p4"/>
          <p:cNvPicPr preferRelativeResize="0"/>
          <p:nvPr/>
        </p:nvPicPr>
        <p:blipFill>
          <a:blip r:embed="rId45">
            <a:alphaModFix/>
          </a:blip>
          <a:stretch>
            <a:fillRect/>
          </a:stretch>
        </p:blipFill>
        <p:spPr>
          <a:xfrm>
            <a:off x="9047364" y="4598206"/>
            <a:ext cx="1766400" cy="189064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3" name="Shape 223"/>
        <p:cNvGrpSpPr/>
        <p:nvPr/>
      </p:nvGrpSpPr>
      <p:grpSpPr>
        <a:xfrm>
          <a:off x="0" y="0"/>
          <a:ext cx="0" cy="0"/>
          <a:chOff x="0" y="0"/>
          <a:chExt cx="0" cy="0"/>
        </a:xfrm>
      </p:grpSpPr>
      <p:pic>
        <p:nvPicPr>
          <p:cNvPr descr="preencoded.png" id="224" name="Google Shape;224;p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225" name="Google Shape;225;p5"/>
          <p:cNvPicPr preferRelativeResize="0"/>
          <p:nvPr/>
        </p:nvPicPr>
        <p:blipFill rotWithShape="1">
          <a:blip r:embed="rId4">
            <a:alphaModFix/>
          </a:blip>
          <a:srcRect b="0" l="0" r="0" t="0"/>
          <a:stretch/>
        </p:blipFill>
        <p:spPr>
          <a:xfrm>
            <a:off x="0" y="0"/>
            <a:ext cx="12192000" cy="6858000"/>
          </a:xfrm>
          <a:prstGeom prst="rect">
            <a:avLst/>
          </a:prstGeom>
          <a:noFill/>
          <a:ln>
            <a:noFill/>
          </a:ln>
        </p:spPr>
      </p:pic>
      <p:pic>
        <p:nvPicPr>
          <p:cNvPr descr="preencoded.png" id="226" name="Google Shape;226;p5"/>
          <p:cNvPicPr preferRelativeResize="0"/>
          <p:nvPr/>
        </p:nvPicPr>
        <p:blipFill rotWithShape="1">
          <a:blip r:embed="rId5">
            <a:alphaModFix/>
          </a:blip>
          <a:srcRect b="0" l="0" r="0" t="0"/>
          <a:stretch/>
        </p:blipFill>
        <p:spPr>
          <a:xfrm>
            <a:off x="571500" y="304800"/>
            <a:ext cx="11049000" cy="670471"/>
          </a:xfrm>
          <a:prstGeom prst="rect">
            <a:avLst/>
          </a:prstGeom>
          <a:noFill/>
          <a:ln>
            <a:noFill/>
          </a:ln>
        </p:spPr>
      </p:pic>
      <p:pic>
        <p:nvPicPr>
          <p:cNvPr descr="preencoded.png" id="227" name="Google Shape;227;p5"/>
          <p:cNvPicPr preferRelativeResize="0"/>
          <p:nvPr/>
        </p:nvPicPr>
        <p:blipFill rotWithShape="1">
          <a:blip r:embed="rId6">
            <a:alphaModFix/>
          </a:blip>
          <a:srcRect b="0" l="0" r="0" t="0"/>
          <a:stretch/>
        </p:blipFill>
        <p:spPr>
          <a:xfrm>
            <a:off x="571500" y="1156246"/>
            <a:ext cx="4162425" cy="5396954"/>
          </a:xfrm>
          <a:prstGeom prst="rect">
            <a:avLst/>
          </a:prstGeom>
          <a:noFill/>
          <a:ln>
            <a:noFill/>
          </a:ln>
        </p:spPr>
      </p:pic>
      <p:pic>
        <p:nvPicPr>
          <p:cNvPr descr="preencoded.png" id="228" name="Google Shape;228;p5"/>
          <p:cNvPicPr preferRelativeResize="0"/>
          <p:nvPr/>
        </p:nvPicPr>
        <p:blipFill rotWithShape="1">
          <a:blip r:embed="rId7">
            <a:alphaModFix/>
          </a:blip>
          <a:srcRect b="0" l="0" r="0" t="0"/>
          <a:stretch/>
        </p:blipFill>
        <p:spPr>
          <a:xfrm>
            <a:off x="5038725" y="3959572"/>
            <a:ext cx="6581775" cy="2593777"/>
          </a:xfrm>
          <a:prstGeom prst="rect">
            <a:avLst/>
          </a:prstGeom>
          <a:noFill/>
          <a:ln>
            <a:noFill/>
          </a:ln>
        </p:spPr>
      </p:pic>
      <p:pic>
        <p:nvPicPr>
          <p:cNvPr descr="preencoded.png" id="229" name="Google Shape;229;p5"/>
          <p:cNvPicPr preferRelativeResize="0"/>
          <p:nvPr/>
        </p:nvPicPr>
        <p:blipFill rotWithShape="1">
          <a:blip r:embed="rId8">
            <a:alphaModFix/>
          </a:blip>
          <a:srcRect b="0" l="0" r="0" t="0"/>
          <a:stretch/>
        </p:blipFill>
        <p:spPr>
          <a:xfrm>
            <a:off x="5153025" y="4054822"/>
            <a:ext cx="3004096" cy="338138"/>
          </a:xfrm>
          <a:prstGeom prst="rect">
            <a:avLst/>
          </a:prstGeom>
          <a:noFill/>
          <a:ln>
            <a:noFill/>
          </a:ln>
        </p:spPr>
      </p:pic>
      <p:pic>
        <p:nvPicPr>
          <p:cNvPr descr="preencoded.png" id="230" name="Google Shape;230;p5"/>
          <p:cNvPicPr preferRelativeResize="0"/>
          <p:nvPr/>
        </p:nvPicPr>
        <p:blipFill rotWithShape="1">
          <a:blip r:embed="rId9">
            <a:alphaModFix/>
          </a:blip>
          <a:srcRect b="0" l="0" r="0" t="0"/>
          <a:stretch/>
        </p:blipFill>
        <p:spPr>
          <a:xfrm>
            <a:off x="8157121" y="4054822"/>
            <a:ext cx="1494830" cy="338138"/>
          </a:xfrm>
          <a:prstGeom prst="rect">
            <a:avLst/>
          </a:prstGeom>
          <a:noFill/>
          <a:ln>
            <a:noFill/>
          </a:ln>
        </p:spPr>
      </p:pic>
      <p:pic>
        <p:nvPicPr>
          <p:cNvPr descr="preencoded.png" id="231" name="Google Shape;231;p5"/>
          <p:cNvPicPr preferRelativeResize="0"/>
          <p:nvPr/>
        </p:nvPicPr>
        <p:blipFill rotWithShape="1">
          <a:blip r:embed="rId10">
            <a:alphaModFix/>
          </a:blip>
          <a:srcRect b="0" l="0" r="0" t="0"/>
          <a:stretch/>
        </p:blipFill>
        <p:spPr>
          <a:xfrm>
            <a:off x="9651950" y="4054822"/>
            <a:ext cx="1854250" cy="338138"/>
          </a:xfrm>
          <a:prstGeom prst="rect">
            <a:avLst/>
          </a:prstGeom>
          <a:noFill/>
          <a:ln>
            <a:noFill/>
          </a:ln>
        </p:spPr>
      </p:pic>
      <p:pic>
        <p:nvPicPr>
          <p:cNvPr descr="preencoded.png" id="232" name="Google Shape;232;p5"/>
          <p:cNvPicPr preferRelativeResize="0"/>
          <p:nvPr/>
        </p:nvPicPr>
        <p:blipFill rotWithShape="1">
          <a:blip r:embed="rId11">
            <a:alphaModFix/>
          </a:blip>
          <a:srcRect b="0" l="0" r="0" t="0"/>
          <a:stretch/>
        </p:blipFill>
        <p:spPr>
          <a:xfrm>
            <a:off x="5153025" y="4392960"/>
            <a:ext cx="3004096" cy="367308"/>
          </a:xfrm>
          <a:prstGeom prst="rect">
            <a:avLst/>
          </a:prstGeom>
          <a:noFill/>
          <a:ln>
            <a:noFill/>
          </a:ln>
        </p:spPr>
      </p:pic>
      <p:pic>
        <p:nvPicPr>
          <p:cNvPr descr="preencoded.png" id="233" name="Google Shape;233;p5"/>
          <p:cNvPicPr preferRelativeResize="0"/>
          <p:nvPr/>
        </p:nvPicPr>
        <p:blipFill rotWithShape="1">
          <a:blip r:embed="rId12">
            <a:alphaModFix/>
          </a:blip>
          <a:srcRect b="0" l="0" r="0" t="0"/>
          <a:stretch/>
        </p:blipFill>
        <p:spPr>
          <a:xfrm>
            <a:off x="8157121" y="4392960"/>
            <a:ext cx="1494830" cy="367308"/>
          </a:xfrm>
          <a:prstGeom prst="rect">
            <a:avLst/>
          </a:prstGeom>
          <a:noFill/>
          <a:ln>
            <a:noFill/>
          </a:ln>
        </p:spPr>
      </p:pic>
      <p:pic>
        <p:nvPicPr>
          <p:cNvPr descr="preencoded.png" id="234" name="Google Shape;234;p5"/>
          <p:cNvPicPr preferRelativeResize="0"/>
          <p:nvPr/>
        </p:nvPicPr>
        <p:blipFill rotWithShape="1">
          <a:blip r:embed="rId13">
            <a:alphaModFix/>
          </a:blip>
          <a:srcRect b="0" l="0" r="0" t="0"/>
          <a:stretch/>
        </p:blipFill>
        <p:spPr>
          <a:xfrm>
            <a:off x="9651950" y="4392960"/>
            <a:ext cx="1854250" cy="367308"/>
          </a:xfrm>
          <a:prstGeom prst="rect">
            <a:avLst/>
          </a:prstGeom>
          <a:noFill/>
          <a:ln>
            <a:noFill/>
          </a:ln>
        </p:spPr>
      </p:pic>
      <p:pic>
        <p:nvPicPr>
          <p:cNvPr descr="preencoded.png" id="235" name="Google Shape;235;p5"/>
          <p:cNvPicPr preferRelativeResize="0"/>
          <p:nvPr/>
        </p:nvPicPr>
        <p:blipFill rotWithShape="1">
          <a:blip r:embed="rId14">
            <a:alphaModFix/>
          </a:blip>
          <a:srcRect b="0" l="0" r="0" t="0"/>
          <a:stretch/>
        </p:blipFill>
        <p:spPr>
          <a:xfrm>
            <a:off x="5153025" y="4760268"/>
            <a:ext cx="3004096" cy="367308"/>
          </a:xfrm>
          <a:prstGeom prst="rect">
            <a:avLst/>
          </a:prstGeom>
          <a:noFill/>
          <a:ln>
            <a:noFill/>
          </a:ln>
        </p:spPr>
      </p:pic>
      <p:pic>
        <p:nvPicPr>
          <p:cNvPr descr="preencoded.png" id="236" name="Google Shape;236;p5"/>
          <p:cNvPicPr preferRelativeResize="0"/>
          <p:nvPr/>
        </p:nvPicPr>
        <p:blipFill rotWithShape="1">
          <a:blip r:embed="rId15">
            <a:alphaModFix/>
          </a:blip>
          <a:srcRect b="0" l="0" r="0" t="0"/>
          <a:stretch/>
        </p:blipFill>
        <p:spPr>
          <a:xfrm>
            <a:off x="8157121" y="4760268"/>
            <a:ext cx="1494830" cy="367308"/>
          </a:xfrm>
          <a:prstGeom prst="rect">
            <a:avLst/>
          </a:prstGeom>
          <a:noFill/>
          <a:ln>
            <a:noFill/>
          </a:ln>
        </p:spPr>
      </p:pic>
      <p:pic>
        <p:nvPicPr>
          <p:cNvPr descr="preencoded.png" id="237" name="Google Shape;237;p5"/>
          <p:cNvPicPr preferRelativeResize="0"/>
          <p:nvPr/>
        </p:nvPicPr>
        <p:blipFill rotWithShape="1">
          <a:blip r:embed="rId16">
            <a:alphaModFix/>
          </a:blip>
          <a:srcRect b="0" l="0" r="0" t="0"/>
          <a:stretch/>
        </p:blipFill>
        <p:spPr>
          <a:xfrm>
            <a:off x="9651950" y="4760268"/>
            <a:ext cx="1854250" cy="367308"/>
          </a:xfrm>
          <a:prstGeom prst="rect">
            <a:avLst/>
          </a:prstGeom>
          <a:noFill/>
          <a:ln>
            <a:noFill/>
          </a:ln>
        </p:spPr>
      </p:pic>
      <p:pic>
        <p:nvPicPr>
          <p:cNvPr descr="preencoded.png" id="238" name="Google Shape;238;p5"/>
          <p:cNvPicPr preferRelativeResize="0"/>
          <p:nvPr/>
        </p:nvPicPr>
        <p:blipFill rotWithShape="1">
          <a:blip r:embed="rId17">
            <a:alphaModFix/>
          </a:blip>
          <a:srcRect b="0" l="0" r="0" t="0"/>
          <a:stretch/>
        </p:blipFill>
        <p:spPr>
          <a:xfrm>
            <a:off x="5153025" y="5127575"/>
            <a:ext cx="3004096" cy="367308"/>
          </a:xfrm>
          <a:prstGeom prst="rect">
            <a:avLst/>
          </a:prstGeom>
          <a:noFill/>
          <a:ln>
            <a:noFill/>
          </a:ln>
        </p:spPr>
      </p:pic>
      <p:pic>
        <p:nvPicPr>
          <p:cNvPr descr="preencoded.png" id="239" name="Google Shape;239;p5"/>
          <p:cNvPicPr preferRelativeResize="0"/>
          <p:nvPr/>
        </p:nvPicPr>
        <p:blipFill rotWithShape="1">
          <a:blip r:embed="rId18">
            <a:alphaModFix/>
          </a:blip>
          <a:srcRect b="0" l="0" r="0" t="0"/>
          <a:stretch/>
        </p:blipFill>
        <p:spPr>
          <a:xfrm>
            <a:off x="8157121" y="5127575"/>
            <a:ext cx="1494830" cy="367308"/>
          </a:xfrm>
          <a:prstGeom prst="rect">
            <a:avLst/>
          </a:prstGeom>
          <a:noFill/>
          <a:ln>
            <a:noFill/>
          </a:ln>
        </p:spPr>
      </p:pic>
      <p:pic>
        <p:nvPicPr>
          <p:cNvPr descr="preencoded.png" id="240" name="Google Shape;240;p5"/>
          <p:cNvPicPr preferRelativeResize="0"/>
          <p:nvPr/>
        </p:nvPicPr>
        <p:blipFill rotWithShape="1">
          <a:blip r:embed="rId19">
            <a:alphaModFix/>
          </a:blip>
          <a:srcRect b="0" l="0" r="0" t="0"/>
          <a:stretch/>
        </p:blipFill>
        <p:spPr>
          <a:xfrm>
            <a:off x="9651950" y="5127575"/>
            <a:ext cx="1854250" cy="367308"/>
          </a:xfrm>
          <a:prstGeom prst="rect">
            <a:avLst/>
          </a:prstGeom>
          <a:noFill/>
          <a:ln>
            <a:noFill/>
          </a:ln>
        </p:spPr>
      </p:pic>
      <p:pic>
        <p:nvPicPr>
          <p:cNvPr descr="preencoded.png" id="241" name="Google Shape;241;p5"/>
          <p:cNvPicPr preferRelativeResize="0"/>
          <p:nvPr/>
        </p:nvPicPr>
        <p:blipFill rotWithShape="1">
          <a:blip r:embed="rId14">
            <a:alphaModFix/>
          </a:blip>
          <a:srcRect b="0" l="0" r="0" t="0"/>
          <a:stretch/>
        </p:blipFill>
        <p:spPr>
          <a:xfrm>
            <a:off x="5153025" y="5494883"/>
            <a:ext cx="3004096" cy="367308"/>
          </a:xfrm>
          <a:prstGeom prst="rect">
            <a:avLst/>
          </a:prstGeom>
          <a:noFill/>
          <a:ln>
            <a:noFill/>
          </a:ln>
        </p:spPr>
      </p:pic>
      <p:pic>
        <p:nvPicPr>
          <p:cNvPr descr="preencoded.png" id="242" name="Google Shape;242;p5"/>
          <p:cNvPicPr preferRelativeResize="0"/>
          <p:nvPr/>
        </p:nvPicPr>
        <p:blipFill rotWithShape="1">
          <a:blip r:embed="rId15">
            <a:alphaModFix/>
          </a:blip>
          <a:srcRect b="0" l="0" r="0" t="0"/>
          <a:stretch/>
        </p:blipFill>
        <p:spPr>
          <a:xfrm>
            <a:off x="8157121" y="5494883"/>
            <a:ext cx="1494830" cy="367308"/>
          </a:xfrm>
          <a:prstGeom prst="rect">
            <a:avLst/>
          </a:prstGeom>
          <a:noFill/>
          <a:ln>
            <a:noFill/>
          </a:ln>
        </p:spPr>
      </p:pic>
      <p:pic>
        <p:nvPicPr>
          <p:cNvPr descr="preencoded.png" id="243" name="Google Shape;243;p5"/>
          <p:cNvPicPr preferRelativeResize="0"/>
          <p:nvPr/>
        </p:nvPicPr>
        <p:blipFill rotWithShape="1">
          <a:blip r:embed="rId16">
            <a:alphaModFix/>
          </a:blip>
          <a:srcRect b="0" l="0" r="0" t="0"/>
          <a:stretch/>
        </p:blipFill>
        <p:spPr>
          <a:xfrm>
            <a:off x="9651950" y="5494883"/>
            <a:ext cx="1854250" cy="367308"/>
          </a:xfrm>
          <a:prstGeom prst="rect">
            <a:avLst/>
          </a:prstGeom>
          <a:noFill/>
          <a:ln>
            <a:noFill/>
          </a:ln>
        </p:spPr>
      </p:pic>
      <p:sp>
        <p:nvSpPr>
          <p:cNvPr id="244" name="Google Shape;244;p5"/>
          <p:cNvSpPr/>
          <p:nvPr/>
        </p:nvSpPr>
        <p:spPr>
          <a:xfrm>
            <a:off x="762000" y="304800"/>
            <a:ext cx="11430000" cy="365671"/>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F172A"/>
              </a:buClr>
              <a:buSzPts val="2400"/>
              <a:buFont typeface="Inter"/>
              <a:buNone/>
            </a:pPr>
            <a:r>
              <a:rPr b="1" i="0" lang="en-US" sz="2400" u="none" cap="none" strike="noStrike">
                <a:solidFill>
                  <a:srgbClr val="0F172A"/>
                </a:solidFill>
                <a:latin typeface="Inter"/>
                <a:ea typeface="Inter"/>
                <a:cs typeface="Inter"/>
                <a:sym typeface="Inter"/>
              </a:rPr>
              <a:t>Q1: Categories with Highest Average Ratings</a:t>
            </a:r>
            <a:endParaRPr b="0" i="0" sz="2400" u="none" cap="none" strike="noStrike">
              <a:solidFill>
                <a:schemeClr val="dk1"/>
              </a:solidFill>
              <a:latin typeface="Calibri"/>
              <a:ea typeface="Calibri"/>
              <a:cs typeface="Calibri"/>
              <a:sym typeface="Calibri"/>
            </a:endParaRPr>
          </a:p>
        </p:txBody>
      </p:sp>
      <p:sp>
        <p:nvSpPr>
          <p:cNvPr id="245" name="Google Shape;245;p5"/>
          <p:cNvSpPr/>
          <p:nvPr/>
        </p:nvSpPr>
        <p:spPr>
          <a:xfrm>
            <a:off x="876300" y="2771775"/>
            <a:ext cx="2476500" cy="200025"/>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2563EB"/>
              </a:buClr>
              <a:buSzPts val="1050"/>
              <a:buFont typeface="Inter"/>
              <a:buNone/>
            </a:pPr>
            <a:r>
              <a:rPr b="1" i="0" lang="en-US" sz="1050" u="none" cap="none" strike="noStrike">
                <a:solidFill>
                  <a:srgbClr val="2563EB"/>
                </a:solidFill>
                <a:latin typeface="Inter"/>
                <a:ea typeface="Inter"/>
                <a:cs typeface="Inter"/>
                <a:sym typeface="Inter"/>
              </a:rPr>
              <a:t>NARROW SPREAD</a:t>
            </a:r>
            <a:endParaRPr b="0" i="0" sz="1050" u="none" cap="none" strike="noStrike">
              <a:solidFill>
                <a:schemeClr val="dk1"/>
              </a:solidFill>
              <a:latin typeface="Calibri"/>
              <a:ea typeface="Calibri"/>
              <a:cs typeface="Calibri"/>
              <a:sym typeface="Calibri"/>
            </a:endParaRPr>
          </a:p>
        </p:txBody>
      </p:sp>
      <p:sp>
        <p:nvSpPr>
          <p:cNvPr id="246" name="Google Shape;246;p5"/>
          <p:cNvSpPr/>
          <p:nvPr/>
        </p:nvSpPr>
        <p:spPr>
          <a:xfrm>
            <a:off x="876300" y="3086100"/>
            <a:ext cx="6888480" cy="670471"/>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F172A"/>
              </a:buClr>
              <a:buSzPts val="4800"/>
              <a:buFont typeface="Inter"/>
              <a:buNone/>
            </a:pPr>
            <a:r>
              <a:rPr b="1" i="0" lang="en-US" sz="4800" u="none" cap="none" strike="noStrike">
                <a:solidFill>
                  <a:srgbClr val="0F172A"/>
                </a:solidFill>
                <a:latin typeface="Inter"/>
                <a:ea typeface="Inter"/>
                <a:cs typeface="Inter"/>
                <a:sym typeface="Inter"/>
              </a:rPr>
              <a:t>EDUCATION</a:t>
            </a:r>
            <a:endParaRPr b="0" i="0" sz="4800" u="none" cap="none" strike="noStrike">
              <a:solidFill>
                <a:schemeClr val="dk1"/>
              </a:solidFill>
              <a:latin typeface="Calibri"/>
              <a:ea typeface="Calibri"/>
              <a:cs typeface="Calibri"/>
              <a:sym typeface="Calibri"/>
            </a:endParaRPr>
          </a:p>
        </p:txBody>
      </p:sp>
      <p:sp>
        <p:nvSpPr>
          <p:cNvPr id="247" name="Google Shape;247;p5"/>
          <p:cNvSpPr/>
          <p:nvPr/>
        </p:nvSpPr>
        <p:spPr>
          <a:xfrm>
            <a:off x="876300" y="3908971"/>
            <a:ext cx="3552825" cy="10287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475569"/>
              </a:buClr>
              <a:buSzPts val="1350"/>
              <a:buFont typeface="Inter"/>
              <a:buNone/>
            </a:pPr>
            <a:r>
              <a:rPr b="0" i="0" lang="en-US" sz="1150" u="none" cap="none" strike="noStrike">
                <a:solidFill>
                  <a:srgbClr val="475569"/>
                </a:solidFill>
                <a:latin typeface="Inter"/>
                <a:ea typeface="Inter"/>
                <a:cs typeface="Inter"/>
                <a:sym typeface="Inter"/>
              </a:rPr>
              <a:t>Leading all 33 categories with a </a:t>
            </a:r>
            <a:r>
              <a:rPr b="1" i="0" lang="en-US" sz="1150" u="none" cap="none" strike="noStrike">
                <a:solidFill>
                  <a:srgbClr val="475569"/>
                </a:solidFill>
                <a:latin typeface="Inter"/>
                <a:ea typeface="Inter"/>
                <a:cs typeface="Inter"/>
                <a:sym typeface="Inter"/>
              </a:rPr>
              <a:t>4.38</a:t>
            </a:r>
            <a:r>
              <a:rPr b="0" i="0" lang="en-US" sz="1150" u="none" cap="none" strike="noStrike">
                <a:solidFill>
                  <a:srgbClr val="475569"/>
                </a:solidFill>
                <a:latin typeface="Inter"/>
                <a:ea typeface="Inter"/>
                <a:cs typeface="Inter"/>
                <a:sym typeface="Inter"/>
              </a:rPr>
              <a:t> average rating </a:t>
            </a:r>
            <a:r>
              <a:rPr lang="en-US" sz="1150">
                <a:solidFill>
                  <a:srgbClr val="475569"/>
                </a:solidFill>
                <a:latin typeface="Inter"/>
                <a:ea typeface="Inter"/>
                <a:cs typeface="Inter"/>
                <a:sym typeface="Inter"/>
              </a:rPr>
              <a:t>,</a:t>
            </a:r>
            <a:r>
              <a:rPr b="0" i="0" lang="en-US" sz="1150" u="none" cap="none" strike="noStrike">
                <a:solidFill>
                  <a:srgbClr val="475569"/>
                </a:solidFill>
                <a:latin typeface="Inter"/>
                <a:ea typeface="Inter"/>
                <a:cs typeface="Inter"/>
                <a:sym typeface="Inter"/>
              </a:rPr>
              <a:t> but the full range across categories is just ~0.4. Within-category spread often exceeds that, so execution matters more than category choice.</a:t>
            </a:r>
            <a:endParaRPr b="0" i="0" sz="1150" u="none" cap="none" strike="noStrike">
              <a:solidFill>
                <a:schemeClr val="dk1"/>
              </a:solidFill>
              <a:latin typeface="Calibri"/>
              <a:ea typeface="Calibri"/>
              <a:cs typeface="Calibri"/>
              <a:sym typeface="Calibri"/>
            </a:endParaRPr>
          </a:p>
        </p:txBody>
      </p:sp>
      <p:sp>
        <p:nvSpPr>
          <p:cNvPr id="248" name="Google Shape;248;p5"/>
          <p:cNvSpPr/>
          <p:nvPr/>
        </p:nvSpPr>
        <p:spPr>
          <a:xfrm>
            <a:off x="5267325" y="4054822"/>
            <a:ext cx="2851696" cy="338138"/>
          </a:xfrm>
          <a:prstGeom prst="rect">
            <a:avLst/>
          </a:prstGeom>
          <a:noFill/>
          <a:ln>
            <a:noFill/>
          </a:ln>
        </p:spPr>
        <p:txBody>
          <a:bodyPr anchorCtr="0" anchor="ctr" bIns="0" lIns="0" spcFirstLastPara="1" rIns="0" wrap="square" tIns="0">
            <a:noAutofit/>
          </a:bodyPr>
          <a:lstStyle/>
          <a:p>
            <a:pPr indent="0" lvl="0" marL="0" marR="0" rtl="0" algn="l">
              <a:lnSpc>
                <a:spcPct val="150051"/>
              </a:lnSpc>
              <a:spcBef>
                <a:spcPts val="0"/>
              </a:spcBef>
              <a:spcAft>
                <a:spcPts val="0"/>
              </a:spcAft>
              <a:buClr>
                <a:srgbClr val="475569"/>
              </a:buClr>
              <a:buSzPts val="975"/>
              <a:buFont typeface="Inter"/>
              <a:buNone/>
            </a:pPr>
            <a:r>
              <a:rPr b="1" i="0" lang="en-US" sz="975" u="none" cap="none" strike="noStrike">
                <a:solidFill>
                  <a:srgbClr val="475569"/>
                </a:solidFill>
                <a:latin typeface="Inter"/>
                <a:ea typeface="Inter"/>
                <a:cs typeface="Inter"/>
                <a:sym typeface="Inter"/>
              </a:rPr>
              <a:t>CATEGORY</a:t>
            </a:r>
            <a:endParaRPr b="0" i="0" sz="975" u="none" cap="none" strike="noStrike">
              <a:solidFill>
                <a:schemeClr val="dk1"/>
              </a:solidFill>
              <a:latin typeface="Calibri"/>
              <a:ea typeface="Calibri"/>
              <a:cs typeface="Calibri"/>
              <a:sym typeface="Calibri"/>
            </a:endParaRPr>
          </a:p>
        </p:txBody>
      </p:sp>
      <p:sp>
        <p:nvSpPr>
          <p:cNvPr id="249" name="Google Shape;249;p5"/>
          <p:cNvSpPr/>
          <p:nvPr/>
        </p:nvSpPr>
        <p:spPr>
          <a:xfrm>
            <a:off x="8271421" y="4054822"/>
            <a:ext cx="1342430" cy="338138"/>
          </a:xfrm>
          <a:prstGeom prst="rect">
            <a:avLst/>
          </a:prstGeom>
          <a:noFill/>
          <a:ln>
            <a:noFill/>
          </a:ln>
        </p:spPr>
        <p:txBody>
          <a:bodyPr anchorCtr="0" anchor="ctr" bIns="0" lIns="0" spcFirstLastPara="1" rIns="0" wrap="square" tIns="0">
            <a:noAutofit/>
          </a:bodyPr>
          <a:lstStyle/>
          <a:p>
            <a:pPr indent="0" lvl="0" marL="0" marR="0" rtl="0" algn="l">
              <a:lnSpc>
                <a:spcPct val="150051"/>
              </a:lnSpc>
              <a:spcBef>
                <a:spcPts val="0"/>
              </a:spcBef>
              <a:spcAft>
                <a:spcPts val="0"/>
              </a:spcAft>
              <a:buClr>
                <a:srgbClr val="475569"/>
              </a:buClr>
              <a:buSzPts val="975"/>
              <a:buFont typeface="Inter"/>
              <a:buNone/>
            </a:pPr>
            <a:r>
              <a:rPr b="1" i="0" lang="en-US" sz="975" u="none" cap="none" strike="noStrike">
                <a:solidFill>
                  <a:srgbClr val="475569"/>
                </a:solidFill>
                <a:latin typeface="Inter"/>
                <a:ea typeface="Inter"/>
                <a:cs typeface="Inter"/>
                <a:sym typeface="Inter"/>
              </a:rPr>
              <a:t>AVG_RATING</a:t>
            </a:r>
            <a:endParaRPr b="0" i="0" sz="975" u="none" cap="none" strike="noStrike">
              <a:solidFill>
                <a:schemeClr val="dk1"/>
              </a:solidFill>
              <a:latin typeface="Calibri"/>
              <a:ea typeface="Calibri"/>
              <a:cs typeface="Calibri"/>
              <a:sym typeface="Calibri"/>
            </a:endParaRPr>
          </a:p>
        </p:txBody>
      </p:sp>
      <p:sp>
        <p:nvSpPr>
          <p:cNvPr id="250" name="Google Shape;250;p5"/>
          <p:cNvSpPr/>
          <p:nvPr/>
        </p:nvSpPr>
        <p:spPr>
          <a:xfrm>
            <a:off x="9766250" y="4054822"/>
            <a:ext cx="1769725" cy="338138"/>
          </a:xfrm>
          <a:prstGeom prst="rect">
            <a:avLst/>
          </a:prstGeom>
          <a:noFill/>
          <a:ln>
            <a:noFill/>
          </a:ln>
        </p:spPr>
        <p:txBody>
          <a:bodyPr anchorCtr="0" anchor="ctr" bIns="0" lIns="0" spcFirstLastPara="1" rIns="0" wrap="square" tIns="0">
            <a:noAutofit/>
          </a:bodyPr>
          <a:lstStyle/>
          <a:p>
            <a:pPr indent="0" lvl="0" marL="0" marR="0" rtl="0" algn="l">
              <a:lnSpc>
                <a:spcPct val="150051"/>
              </a:lnSpc>
              <a:spcBef>
                <a:spcPts val="0"/>
              </a:spcBef>
              <a:spcAft>
                <a:spcPts val="0"/>
              </a:spcAft>
              <a:buClr>
                <a:srgbClr val="475569"/>
              </a:buClr>
              <a:buSzPts val="975"/>
              <a:buFont typeface="Inter"/>
              <a:buNone/>
            </a:pPr>
            <a:r>
              <a:rPr b="1" i="0" lang="en-US" sz="975" u="none" cap="none" strike="noStrike">
                <a:solidFill>
                  <a:srgbClr val="475569"/>
                </a:solidFill>
                <a:latin typeface="Inter"/>
                <a:ea typeface="Inter"/>
                <a:cs typeface="Inter"/>
                <a:sym typeface="Inter"/>
              </a:rPr>
              <a:t>RATING_STDDEV</a:t>
            </a:r>
            <a:endParaRPr b="0" i="0" sz="975" u="none" cap="none" strike="noStrike">
              <a:solidFill>
                <a:schemeClr val="dk1"/>
              </a:solidFill>
              <a:latin typeface="Calibri"/>
              <a:ea typeface="Calibri"/>
              <a:cs typeface="Calibri"/>
              <a:sym typeface="Calibri"/>
            </a:endParaRPr>
          </a:p>
        </p:txBody>
      </p:sp>
      <p:sp>
        <p:nvSpPr>
          <p:cNvPr id="251" name="Google Shape;251;p5"/>
          <p:cNvSpPr/>
          <p:nvPr/>
        </p:nvSpPr>
        <p:spPr>
          <a:xfrm>
            <a:off x="5267325" y="4392960"/>
            <a:ext cx="2851696" cy="367308"/>
          </a:xfrm>
          <a:prstGeom prst="rect">
            <a:avLst/>
          </a:prstGeom>
          <a:noFill/>
          <a:ln>
            <a:noFill/>
          </a:ln>
        </p:spPr>
        <p:txBody>
          <a:bodyPr anchorCtr="0" anchor="ctr" bIns="0" lIns="0" spcFirstLastPara="1" rIns="0" wrap="square" tIns="0">
            <a:noAutofit/>
          </a:bodyPr>
          <a:lstStyle/>
          <a:p>
            <a:pPr indent="0" lvl="0" marL="0" marR="0" rtl="0" algn="l">
              <a:lnSpc>
                <a:spcPct val="150044"/>
              </a:lnSpc>
              <a:spcBef>
                <a:spcPts val="0"/>
              </a:spcBef>
              <a:spcAft>
                <a:spcPts val="0"/>
              </a:spcAft>
              <a:buClr>
                <a:srgbClr val="0F172A"/>
              </a:buClr>
              <a:buSzPts val="1125"/>
              <a:buFont typeface="Inter"/>
              <a:buNone/>
            </a:pPr>
            <a:r>
              <a:rPr b="0" i="0" lang="en-US" sz="1125" u="none" cap="none" strike="noStrike">
                <a:solidFill>
                  <a:srgbClr val="0F172A"/>
                </a:solidFill>
                <a:latin typeface="Inter"/>
                <a:ea typeface="Inter"/>
                <a:cs typeface="Inter"/>
                <a:sym typeface="Inter"/>
              </a:rPr>
              <a:t>EDUCATION</a:t>
            </a:r>
            <a:endParaRPr b="0" i="0" sz="1125" u="none" cap="none" strike="noStrike">
              <a:solidFill>
                <a:schemeClr val="dk1"/>
              </a:solidFill>
              <a:latin typeface="Calibri"/>
              <a:ea typeface="Calibri"/>
              <a:cs typeface="Calibri"/>
              <a:sym typeface="Calibri"/>
            </a:endParaRPr>
          </a:p>
        </p:txBody>
      </p:sp>
      <p:sp>
        <p:nvSpPr>
          <p:cNvPr id="252" name="Google Shape;252;p5"/>
          <p:cNvSpPr/>
          <p:nvPr/>
        </p:nvSpPr>
        <p:spPr>
          <a:xfrm>
            <a:off x="8271421" y="4478982"/>
            <a:ext cx="1390650" cy="180975"/>
          </a:xfrm>
          <a:prstGeom prst="rect">
            <a:avLst/>
          </a:prstGeom>
          <a:noFill/>
          <a:ln>
            <a:noFill/>
          </a:ln>
        </p:spPr>
        <p:txBody>
          <a:bodyPr anchorCtr="0" anchor="ctr" bIns="0" lIns="0" spcFirstLastPara="1" rIns="0" wrap="square" tIns="0">
            <a:noAutofit/>
          </a:bodyPr>
          <a:lstStyle/>
          <a:p>
            <a:pPr indent="0" lvl="0" marL="0" marR="0" rtl="0" algn="l">
              <a:lnSpc>
                <a:spcPct val="150044"/>
              </a:lnSpc>
              <a:spcBef>
                <a:spcPts val="0"/>
              </a:spcBef>
              <a:spcAft>
                <a:spcPts val="0"/>
              </a:spcAft>
              <a:buClr>
                <a:srgbClr val="2563EB"/>
              </a:buClr>
              <a:buSzPts val="1125"/>
              <a:buFont typeface="Inter"/>
              <a:buNone/>
            </a:pPr>
            <a:r>
              <a:rPr b="1" i="0" lang="en-US" sz="1125" u="none" cap="none" strike="noStrike">
                <a:solidFill>
                  <a:srgbClr val="2563EB"/>
                </a:solidFill>
                <a:latin typeface="Inter"/>
                <a:ea typeface="Inter"/>
                <a:cs typeface="Inter"/>
                <a:sym typeface="Inter"/>
              </a:rPr>
              <a:t>4.389</a:t>
            </a:r>
            <a:endParaRPr b="0" i="0" sz="1125" u="none" cap="none" strike="noStrike">
              <a:solidFill>
                <a:schemeClr val="dk1"/>
              </a:solidFill>
              <a:latin typeface="Calibri"/>
              <a:ea typeface="Calibri"/>
              <a:cs typeface="Calibri"/>
              <a:sym typeface="Calibri"/>
            </a:endParaRPr>
          </a:p>
        </p:txBody>
      </p:sp>
      <p:sp>
        <p:nvSpPr>
          <p:cNvPr id="253" name="Google Shape;253;p5"/>
          <p:cNvSpPr/>
          <p:nvPr/>
        </p:nvSpPr>
        <p:spPr>
          <a:xfrm>
            <a:off x="9766250" y="4392960"/>
            <a:ext cx="1701850" cy="367308"/>
          </a:xfrm>
          <a:prstGeom prst="rect">
            <a:avLst/>
          </a:prstGeom>
          <a:noFill/>
          <a:ln>
            <a:noFill/>
          </a:ln>
        </p:spPr>
        <p:txBody>
          <a:bodyPr anchorCtr="0" anchor="ctr" bIns="0" lIns="0" spcFirstLastPara="1" rIns="0" wrap="square" tIns="0">
            <a:noAutofit/>
          </a:bodyPr>
          <a:lstStyle/>
          <a:p>
            <a:pPr indent="0" lvl="0" marL="0" marR="0" rtl="0" algn="l">
              <a:lnSpc>
                <a:spcPct val="150044"/>
              </a:lnSpc>
              <a:spcBef>
                <a:spcPts val="0"/>
              </a:spcBef>
              <a:spcAft>
                <a:spcPts val="0"/>
              </a:spcAft>
              <a:buClr>
                <a:srgbClr val="0F172A"/>
              </a:buClr>
              <a:buSzPts val="1125"/>
              <a:buFont typeface="Calibri"/>
              <a:buNone/>
            </a:pPr>
            <a:r>
              <a:rPr b="0" i="0" lang="en-US" sz="1125" u="none" cap="none" strike="noStrike">
                <a:solidFill>
                  <a:srgbClr val="0F172A"/>
                </a:solidFill>
                <a:latin typeface="Calibri"/>
                <a:ea typeface="Calibri"/>
                <a:cs typeface="Calibri"/>
                <a:sym typeface="Calibri"/>
              </a:rPr>
              <a:t>0.252</a:t>
            </a:r>
            <a:endParaRPr b="0" i="0" sz="1125" u="none" cap="none" strike="noStrike">
              <a:solidFill>
                <a:schemeClr val="dk1"/>
              </a:solidFill>
              <a:latin typeface="Calibri"/>
              <a:ea typeface="Calibri"/>
              <a:cs typeface="Calibri"/>
              <a:sym typeface="Calibri"/>
            </a:endParaRPr>
          </a:p>
        </p:txBody>
      </p:sp>
      <p:sp>
        <p:nvSpPr>
          <p:cNvPr id="254" name="Google Shape;254;p5"/>
          <p:cNvSpPr/>
          <p:nvPr/>
        </p:nvSpPr>
        <p:spPr>
          <a:xfrm>
            <a:off x="5267325" y="4760268"/>
            <a:ext cx="3085863" cy="367308"/>
          </a:xfrm>
          <a:prstGeom prst="rect">
            <a:avLst/>
          </a:prstGeom>
          <a:noFill/>
          <a:ln>
            <a:noFill/>
          </a:ln>
        </p:spPr>
        <p:txBody>
          <a:bodyPr anchorCtr="0" anchor="ctr" bIns="0" lIns="0" spcFirstLastPara="1" rIns="0" wrap="square" tIns="0">
            <a:noAutofit/>
          </a:bodyPr>
          <a:lstStyle/>
          <a:p>
            <a:pPr indent="0" lvl="0" marL="0" marR="0" rtl="0" algn="l">
              <a:lnSpc>
                <a:spcPct val="150044"/>
              </a:lnSpc>
              <a:spcBef>
                <a:spcPts val="0"/>
              </a:spcBef>
              <a:spcAft>
                <a:spcPts val="0"/>
              </a:spcAft>
              <a:buClr>
                <a:srgbClr val="0F172A"/>
              </a:buClr>
              <a:buSzPts val="1125"/>
              <a:buFont typeface="Inter"/>
              <a:buNone/>
            </a:pPr>
            <a:r>
              <a:rPr b="0" i="0" lang="en-US" sz="1125" u="none" cap="none" strike="noStrike">
                <a:solidFill>
                  <a:srgbClr val="0F172A"/>
                </a:solidFill>
                <a:latin typeface="Inter"/>
                <a:ea typeface="Inter"/>
                <a:cs typeface="Inter"/>
                <a:sym typeface="Inter"/>
              </a:rPr>
              <a:t>BOOKS_AND_REFERENCE</a:t>
            </a:r>
            <a:endParaRPr b="0" i="0" sz="1125" u="none" cap="none" strike="noStrike">
              <a:solidFill>
                <a:schemeClr val="dk1"/>
              </a:solidFill>
              <a:latin typeface="Calibri"/>
              <a:ea typeface="Calibri"/>
              <a:cs typeface="Calibri"/>
              <a:sym typeface="Calibri"/>
            </a:endParaRPr>
          </a:p>
        </p:txBody>
      </p:sp>
      <p:sp>
        <p:nvSpPr>
          <p:cNvPr id="255" name="Google Shape;255;p5"/>
          <p:cNvSpPr/>
          <p:nvPr/>
        </p:nvSpPr>
        <p:spPr>
          <a:xfrm>
            <a:off x="8271421" y="4846290"/>
            <a:ext cx="1390650" cy="180975"/>
          </a:xfrm>
          <a:prstGeom prst="rect">
            <a:avLst/>
          </a:prstGeom>
          <a:noFill/>
          <a:ln>
            <a:noFill/>
          </a:ln>
        </p:spPr>
        <p:txBody>
          <a:bodyPr anchorCtr="0" anchor="ctr" bIns="0" lIns="0" spcFirstLastPara="1" rIns="0" wrap="square" tIns="0">
            <a:noAutofit/>
          </a:bodyPr>
          <a:lstStyle/>
          <a:p>
            <a:pPr indent="0" lvl="0" marL="0" marR="0" rtl="0" algn="l">
              <a:lnSpc>
                <a:spcPct val="150044"/>
              </a:lnSpc>
              <a:spcBef>
                <a:spcPts val="0"/>
              </a:spcBef>
              <a:spcAft>
                <a:spcPts val="0"/>
              </a:spcAft>
              <a:buClr>
                <a:srgbClr val="2563EB"/>
              </a:buClr>
              <a:buSzPts val="1125"/>
              <a:buFont typeface="Inter"/>
              <a:buNone/>
            </a:pPr>
            <a:r>
              <a:rPr b="1" i="0" lang="en-US" sz="1125" u="none" cap="none" strike="noStrike">
                <a:solidFill>
                  <a:srgbClr val="2563EB"/>
                </a:solidFill>
                <a:latin typeface="Inter"/>
                <a:ea typeface="Inter"/>
                <a:cs typeface="Inter"/>
                <a:sym typeface="Inter"/>
              </a:rPr>
              <a:t>4.346</a:t>
            </a:r>
            <a:endParaRPr b="0" i="0" sz="1125" u="none" cap="none" strike="noStrike">
              <a:solidFill>
                <a:schemeClr val="dk1"/>
              </a:solidFill>
              <a:latin typeface="Calibri"/>
              <a:ea typeface="Calibri"/>
              <a:cs typeface="Calibri"/>
              <a:sym typeface="Calibri"/>
            </a:endParaRPr>
          </a:p>
        </p:txBody>
      </p:sp>
      <p:sp>
        <p:nvSpPr>
          <p:cNvPr id="256" name="Google Shape;256;p5"/>
          <p:cNvSpPr/>
          <p:nvPr/>
        </p:nvSpPr>
        <p:spPr>
          <a:xfrm>
            <a:off x="9766250" y="4760268"/>
            <a:ext cx="1701850" cy="367308"/>
          </a:xfrm>
          <a:prstGeom prst="rect">
            <a:avLst/>
          </a:prstGeom>
          <a:noFill/>
          <a:ln>
            <a:noFill/>
          </a:ln>
        </p:spPr>
        <p:txBody>
          <a:bodyPr anchorCtr="0" anchor="ctr" bIns="0" lIns="0" spcFirstLastPara="1" rIns="0" wrap="square" tIns="0">
            <a:noAutofit/>
          </a:bodyPr>
          <a:lstStyle/>
          <a:p>
            <a:pPr indent="0" lvl="0" marL="0" marR="0" rtl="0" algn="l">
              <a:lnSpc>
                <a:spcPct val="150044"/>
              </a:lnSpc>
              <a:spcBef>
                <a:spcPts val="0"/>
              </a:spcBef>
              <a:spcAft>
                <a:spcPts val="0"/>
              </a:spcAft>
              <a:buClr>
                <a:srgbClr val="0F172A"/>
              </a:buClr>
              <a:buSzPts val="1125"/>
              <a:buFont typeface="Calibri"/>
              <a:buNone/>
            </a:pPr>
            <a:r>
              <a:rPr b="0" i="0" lang="en-US" sz="1125" u="none" cap="none" strike="noStrike">
                <a:solidFill>
                  <a:srgbClr val="0F172A"/>
                </a:solidFill>
                <a:latin typeface="Calibri"/>
                <a:ea typeface="Calibri"/>
                <a:cs typeface="Calibri"/>
                <a:sym typeface="Calibri"/>
              </a:rPr>
              <a:t>0.429</a:t>
            </a:r>
            <a:endParaRPr b="0" i="0" sz="1125" u="none" cap="none" strike="noStrike">
              <a:solidFill>
                <a:schemeClr val="dk1"/>
              </a:solidFill>
              <a:latin typeface="Calibri"/>
              <a:ea typeface="Calibri"/>
              <a:cs typeface="Calibri"/>
              <a:sym typeface="Calibri"/>
            </a:endParaRPr>
          </a:p>
        </p:txBody>
      </p:sp>
      <p:sp>
        <p:nvSpPr>
          <p:cNvPr id="257" name="Google Shape;257;p5"/>
          <p:cNvSpPr/>
          <p:nvPr/>
        </p:nvSpPr>
        <p:spPr>
          <a:xfrm>
            <a:off x="5267325" y="5127575"/>
            <a:ext cx="2851696" cy="367308"/>
          </a:xfrm>
          <a:prstGeom prst="rect">
            <a:avLst/>
          </a:prstGeom>
          <a:noFill/>
          <a:ln>
            <a:noFill/>
          </a:ln>
        </p:spPr>
        <p:txBody>
          <a:bodyPr anchorCtr="0" anchor="ctr" bIns="0" lIns="0" spcFirstLastPara="1" rIns="0" wrap="square" tIns="0">
            <a:noAutofit/>
          </a:bodyPr>
          <a:lstStyle/>
          <a:p>
            <a:pPr indent="0" lvl="0" marL="0" marR="0" rtl="0" algn="l">
              <a:lnSpc>
                <a:spcPct val="150044"/>
              </a:lnSpc>
              <a:spcBef>
                <a:spcPts val="0"/>
              </a:spcBef>
              <a:spcAft>
                <a:spcPts val="0"/>
              </a:spcAft>
              <a:buClr>
                <a:srgbClr val="0F172A"/>
              </a:buClr>
              <a:buSzPts val="1125"/>
              <a:buFont typeface="Inter"/>
              <a:buNone/>
            </a:pPr>
            <a:r>
              <a:rPr b="0" i="0" lang="en-US" sz="1125" u="none" cap="none" strike="noStrike">
                <a:solidFill>
                  <a:srgbClr val="0F172A"/>
                </a:solidFill>
                <a:latin typeface="Inter"/>
                <a:ea typeface="Inter"/>
                <a:cs typeface="Inter"/>
                <a:sym typeface="Inter"/>
              </a:rPr>
              <a:t>ART_AND_DESIGN</a:t>
            </a:r>
            <a:endParaRPr b="0" i="0" sz="1125" u="none" cap="none" strike="noStrike">
              <a:solidFill>
                <a:schemeClr val="dk1"/>
              </a:solidFill>
              <a:latin typeface="Calibri"/>
              <a:ea typeface="Calibri"/>
              <a:cs typeface="Calibri"/>
              <a:sym typeface="Calibri"/>
            </a:endParaRPr>
          </a:p>
        </p:txBody>
      </p:sp>
      <p:sp>
        <p:nvSpPr>
          <p:cNvPr id="258" name="Google Shape;258;p5"/>
          <p:cNvSpPr/>
          <p:nvPr/>
        </p:nvSpPr>
        <p:spPr>
          <a:xfrm>
            <a:off x="8271421" y="5213598"/>
            <a:ext cx="1390650" cy="180975"/>
          </a:xfrm>
          <a:prstGeom prst="rect">
            <a:avLst/>
          </a:prstGeom>
          <a:noFill/>
          <a:ln>
            <a:noFill/>
          </a:ln>
        </p:spPr>
        <p:txBody>
          <a:bodyPr anchorCtr="0" anchor="ctr" bIns="0" lIns="0" spcFirstLastPara="1" rIns="0" wrap="square" tIns="0">
            <a:noAutofit/>
          </a:bodyPr>
          <a:lstStyle/>
          <a:p>
            <a:pPr indent="0" lvl="0" marL="0" marR="0" rtl="0" algn="l">
              <a:lnSpc>
                <a:spcPct val="150044"/>
              </a:lnSpc>
              <a:spcBef>
                <a:spcPts val="0"/>
              </a:spcBef>
              <a:spcAft>
                <a:spcPts val="0"/>
              </a:spcAft>
              <a:buClr>
                <a:srgbClr val="2563EB"/>
              </a:buClr>
              <a:buSzPts val="1125"/>
              <a:buFont typeface="Inter"/>
              <a:buNone/>
            </a:pPr>
            <a:r>
              <a:rPr b="1" i="0" lang="en-US" sz="1125" u="none" cap="none" strike="noStrike">
                <a:solidFill>
                  <a:srgbClr val="2563EB"/>
                </a:solidFill>
                <a:latin typeface="Inter"/>
                <a:ea typeface="Inter"/>
                <a:cs typeface="Inter"/>
                <a:sym typeface="Inter"/>
              </a:rPr>
              <a:t>4.321</a:t>
            </a:r>
            <a:endParaRPr b="0" i="0" sz="1125" u="none" cap="none" strike="noStrike">
              <a:solidFill>
                <a:schemeClr val="dk1"/>
              </a:solidFill>
              <a:latin typeface="Calibri"/>
              <a:ea typeface="Calibri"/>
              <a:cs typeface="Calibri"/>
              <a:sym typeface="Calibri"/>
            </a:endParaRPr>
          </a:p>
        </p:txBody>
      </p:sp>
      <p:sp>
        <p:nvSpPr>
          <p:cNvPr id="259" name="Google Shape;259;p5"/>
          <p:cNvSpPr/>
          <p:nvPr/>
        </p:nvSpPr>
        <p:spPr>
          <a:xfrm>
            <a:off x="9766250" y="5127575"/>
            <a:ext cx="1701850" cy="367308"/>
          </a:xfrm>
          <a:prstGeom prst="rect">
            <a:avLst/>
          </a:prstGeom>
          <a:noFill/>
          <a:ln>
            <a:noFill/>
          </a:ln>
        </p:spPr>
        <p:txBody>
          <a:bodyPr anchorCtr="0" anchor="ctr" bIns="0" lIns="0" spcFirstLastPara="1" rIns="0" wrap="square" tIns="0">
            <a:noAutofit/>
          </a:bodyPr>
          <a:lstStyle/>
          <a:p>
            <a:pPr indent="0" lvl="0" marL="0" marR="0" rtl="0" algn="l">
              <a:lnSpc>
                <a:spcPct val="150044"/>
              </a:lnSpc>
              <a:spcBef>
                <a:spcPts val="0"/>
              </a:spcBef>
              <a:spcAft>
                <a:spcPts val="0"/>
              </a:spcAft>
              <a:buClr>
                <a:srgbClr val="0F172A"/>
              </a:buClr>
              <a:buSzPts val="1125"/>
              <a:buFont typeface="Calibri"/>
              <a:buNone/>
            </a:pPr>
            <a:r>
              <a:rPr b="0" i="0" lang="en-US" sz="1125" u="none" cap="none" strike="noStrike">
                <a:solidFill>
                  <a:srgbClr val="0F172A"/>
                </a:solidFill>
                <a:latin typeface="Calibri"/>
                <a:ea typeface="Calibri"/>
                <a:cs typeface="Calibri"/>
                <a:sym typeface="Calibri"/>
              </a:rPr>
              <a:t>0.354</a:t>
            </a:r>
            <a:endParaRPr b="0" i="0" sz="1125" u="none" cap="none" strike="noStrike">
              <a:solidFill>
                <a:schemeClr val="dk1"/>
              </a:solidFill>
              <a:latin typeface="Calibri"/>
              <a:ea typeface="Calibri"/>
              <a:cs typeface="Calibri"/>
              <a:sym typeface="Calibri"/>
            </a:endParaRPr>
          </a:p>
        </p:txBody>
      </p:sp>
      <p:sp>
        <p:nvSpPr>
          <p:cNvPr id="260" name="Google Shape;260;p5"/>
          <p:cNvSpPr/>
          <p:nvPr/>
        </p:nvSpPr>
        <p:spPr>
          <a:xfrm>
            <a:off x="5267325" y="5494883"/>
            <a:ext cx="2851696" cy="367308"/>
          </a:xfrm>
          <a:prstGeom prst="rect">
            <a:avLst/>
          </a:prstGeom>
          <a:noFill/>
          <a:ln>
            <a:noFill/>
          </a:ln>
        </p:spPr>
        <p:txBody>
          <a:bodyPr anchorCtr="0" anchor="ctr" bIns="0" lIns="0" spcFirstLastPara="1" rIns="0" wrap="square" tIns="0">
            <a:noAutofit/>
          </a:bodyPr>
          <a:lstStyle/>
          <a:p>
            <a:pPr indent="0" lvl="0" marL="0" marR="0" rtl="0" algn="l">
              <a:lnSpc>
                <a:spcPct val="150044"/>
              </a:lnSpc>
              <a:spcBef>
                <a:spcPts val="0"/>
              </a:spcBef>
              <a:spcAft>
                <a:spcPts val="0"/>
              </a:spcAft>
              <a:buClr>
                <a:srgbClr val="0F172A"/>
              </a:buClr>
              <a:buSzPts val="1125"/>
              <a:buFont typeface="Inter"/>
              <a:buNone/>
            </a:pPr>
            <a:r>
              <a:rPr b="0" i="0" lang="en-US" sz="1125" u="none" cap="none" strike="noStrike">
                <a:solidFill>
                  <a:srgbClr val="0F172A"/>
                </a:solidFill>
                <a:latin typeface="Inter"/>
                <a:ea typeface="Inter"/>
                <a:cs typeface="Inter"/>
                <a:sym typeface="Inter"/>
              </a:rPr>
              <a:t>PERSONALIZATION</a:t>
            </a:r>
            <a:endParaRPr b="0" i="0" sz="1125" u="none" cap="none" strike="noStrike">
              <a:solidFill>
                <a:schemeClr val="dk1"/>
              </a:solidFill>
              <a:latin typeface="Calibri"/>
              <a:ea typeface="Calibri"/>
              <a:cs typeface="Calibri"/>
              <a:sym typeface="Calibri"/>
            </a:endParaRPr>
          </a:p>
        </p:txBody>
      </p:sp>
      <p:sp>
        <p:nvSpPr>
          <p:cNvPr id="261" name="Google Shape;261;p5"/>
          <p:cNvSpPr/>
          <p:nvPr/>
        </p:nvSpPr>
        <p:spPr>
          <a:xfrm>
            <a:off x="8271421" y="5580906"/>
            <a:ext cx="1390650" cy="180975"/>
          </a:xfrm>
          <a:prstGeom prst="rect">
            <a:avLst/>
          </a:prstGeom>
          <a:noFill/>
          <a:ln>
            <a:noFill/>
          </a:ln>
        </p:spPr>
        <p:txBody>
          <a:bodyPr anchorCtr="0" anchor="ctr" bIns="0" lIns="0" spcFirstLastPara="1" rIns="0" wrap="square" tIns="0">
            <a:noAutofit/>
          </a:bodyPr>
          <a:lstStyle/>
          <a:p>
            <a:pPr indent="0" lvl="0" marL="0" marR="0" rtl="0" algn="l">
              <a:lnSpc>
                <a:spcPct val="150044"/>
              </a:lnSpc>
              <a:spcBef>
                <a:spcPts val="0"/>
              </a:spcBef>
              <a:spcAft>
                <a:spcPts val="0"/>
              </a:spcAft>
              <a:buClr>
                <a:srgbClr val="2563EB"/>
              </a:buClr>
              <a:buSzPts val="1125"/>
              <a:buFont typeface="Inter"/>
              <a:buNone/>
            </a:pPr>
            <a:r>
              <a:rPr b="1" i="0" lang="en-US" sz="1125" u="none" cap="none" strike="noStrike">
                <a:solidFill>
                  <a:srgbClr val="2563EB"/>
                </a:solidFill>
                <a:latin typeface="Inter"/>
                <a:ea typeface="Inter"/>
                <a:cs typeface="Inter"/>
                <a:sym typeface="Inter"/>
              </a:rPr>
              <a:t>4.305</a:t>
            </a:r>
            <a:endParaRPr b="0" i="0" sz="1125" u="none" cap="none" strike="noStrike">
              <a:solidFill>
                <a:schemeClr val="dk1"/>
              </a:solidFill>
              <a:latin typeface="Calibri"/>
              <a:ea typeface="Calibri"/>
              <a:cs typeface="Calibri"/>
              <a:sym typeface="Calibri"/>
            </a:endParaRPr>
          </a:p>
        </p:txBody>
      </p:sp>
      <p:sp>
        <p:nvSpPr>
          <p:cNvPr id="262" name="Google Shape;262;p5"/>
          <p:cNvSpPr/>
          <p:nvPr/>
        </p:nvSpPr>
        <p:spPr>
          <a:xfrm>
            <a:off x="9766250" y="5494883"/>
            <a:ext cx="1701850" cy="367308"/>
          </a:xfrm>
          <a:prstGeom prst="rect">
            <a:avLst/>
          </a:prstGeom>
          <a:noFill/>
          <a:ln>
            <a:noFill/>
          </a:ln>
        </p:spPr>
        <p:txBody>
          <a:bodyPr anchorCtr="0" anchor="ctr" bIns="0" lIns="0" spcFirstLastPara="1" rIns="0" wrap="square" tIns="0">
            <a:noAutofit/>
          </a:bodyPr>
          <a:lstStyle/>
          <a:p>
            <a:pPr indent="0" lvl="0" marL="0" marR="0" rtl="0" algn="l">
              <a:lnSpc>
                <a:spcPct val="150044"/>
              </a:lnSpc>
              <a:spcBef>
                <a:spcPts val="0"/>
              </a:spcBef>
              <a:spcAft>
                <a:spcPts val="0"/>
              </a:spcAft>
              <a:buClr>
                <a:srgbClr val="0F172A"/>
              </a:buClr>
              <a:buSzPts val="1125"/>
              <a:buFont typeface="Calibri"/>
              <a:buNone/>
            </a:pPr>
            <a:r>
              <a:rPr b="0" i="0" lang="en-US" sz="1125" u="none" cap="none" strike="noStrike">
                <a:solidFill>
                  <a:srgbClr val="0F172A"/>
                </a:solidFill>
                <a:latin typeface="Calibri"/>
                <a:ea typeface="Calibri"/>
                <a:cs typeface="Calibri"/>
                <a:sym typeface="Calibri"/>
              </a:rPr>
              <a:t>0.321</a:t>
            </a:r>
            <a:endParaRPr b="0" i="0" sz="1125" u="none" cap="none" strike="noStrike">
              <a:solidFill>
                <a:schemeClr val="dk1"/>
              </a:solidFill>
              <a:latin typeface="Calibri"/>
              <a:ea typeface="Calibri"/>
              <a:cs typeface="Calibri"/>
              <a:sym typeface="Calibri"/>
            </a:endParaRPr>
          </a:p>
        </p:txBody>
      </p:sp>
      <p:sp>
        <p:nvSpPr>
          <p:cNvPr id="263" name="Google Shape;263;p5"/>
          <p:cNvSpPr/>
          <p:nvPr/>
        </p:nvSpPr>
        <p:spPr>
          <a:xfrm>
            <a:off x="5267325" y="5862191"/>
            <a:ext cx="2851696" cy="367308"/>
          </a:xfrm>
          <a:prstGeom prst="rect">
            <a:avLst/>
          </a:prstGeom>
          <a:noFill/>
          <a:ln>
            <a:noFill/>
          </a:ln>
        </p:spPr>
        <p:txBody>
          <a:bodyPr anchorCtr="0" anchor="ctr" bIns="0" lIns="0" spcFirstLastPara="1" rIns="0" wrap="square" tIns="0">
            <a:noAutofit/>
          </a:bodyPr>
          <a:lstStyle/>
          <a:p>
            <a:pPr indent="0" lvl="0" marL="0" marR="0" rtl="0" algn="l">
              <a:lnSpc>
                <a:spcPct val="150044"/>
              </a:lnSpc>
              <a:spcBef>
                <a:spcPts val="0"/>
              </a:spcBef>
              <a:spcAft>
                <a:spcPts val="0"/>
              </a:spcAft>
              <a:buClr>
                <a:srgbClr val="0F172A"/>
              </a:buClr>
              <a:buSzPts val="1125"/>
              <a:buFont typeface="Inter"/>
              <a:buNone/>
            </a:pPr>
            <a:r>
              <a:rPr b="0" i="0" lang="en-US" sz="1125" u="none" cap="none" strike="noStrike">
                <a:solidFill>
                  <a:srgbClr val="0F172A"/>
                </a:solidFill>
                <a:latin typeface="Inter"/>
                <a:ea typeface="Inter"/>
                <a:cs typeface="Inter"/>
                <a:sym typeface="Inter"/>
              </a:rPr>
              <a:t>PARENTING</a:t>
            </a:r>
            <a:endParaRPr b="0" i="0" sz="1125" u="none" cap="none" strike="noStrike">
              <a:solidFill>
                <a:schemeClr val="dk1"/>
              </a:solidFill>
              <a:latin typeface="Calibri"/>
              <a:ea typeface="Calibri"/>
              <a:cs typeface="Calibri"/>
              <a:sym typeface="Calibri"/>
            </a:endParaRPr>
          </a:p>
        </p:txBody>
      </p:sp>
      <p:sp>
        <p:nvSpPr>
          <p:cNvPr id="264" name="Google Shape;264;p5"/>
          <p:cNvSpPr/>
          <p:nvPr/>
        </p:nvSpPr>
        <p:spPr>
          <a:xfrm>
            <a:off x="8271421" y="5948214"/>
            <a:ext cx="1390650" cy="180975"/>
          </a:xfrm>
          <a:prstGeom prst="rect">
            <a:avLst/>
          </a:prstGeom>
          <a:noFill/>
          <a:ln>
            <a:noFill/>
          </a:ln>
        </p:spPr>
        <p:txBody>
          <a:bodyPr anchorCtr="0" anchor="ctr" bIns="0" lIns="0" spcFirstLastPara="1" rIns="0" wrap="square" tIns="0">
            <a:noAutofit/>
          </a:bodyPr>
          <a:lstStyle/>
          <a:p>
            <a:pPr indent="0" lvl="0" marL="0" marR="0" rtl="0" algn="l">
              <a:lnSpc>
                <a:spcPct val="150044"/>
              </a:lnSpc>
              <a:spcBef>
                <a:spcPts val="0"/>
              </a:spcBef>
              <a:spcAft>
                <a:spcPts val="0"/>
              </a:spcAft>
              <a:buClr>
                <a:srgbClr val="2563EB"/>
              </a:buClr>
              <a:buSzPts val="1125"/>
              <a:buFont typeface="Inter"/>
              <a:buNone/>
            </a:pPr>
            <a:r>
              <a:rPr b="1" i="0" lang="en-US" sz="1125" u="none" cap="none" strike="noStrike">
                <a:solidFill>
                  <a:srgbClr val="2563EB"/>
                </a:solidFill>
                <a:latin typeface="Inter"/>
                <a:ea typeface="Inter"/>
                <a:cs typeface="Inter"/>
                <a:sym typeface="Inter"/>
              </a:rPr>
              <a:t>4.282</a:t>
            </a:r>
            <a:endParaRPr b="0" i="0" sz="1125" u="none" cap="none" strike="noStrike">
              <a:solidFill>
                <a:schemeClr val="dk1"/>
              </a:solidFill>
              <a:latin typeface="Calibri"/>
              <a:ea typeface="Calibri"/>
              <a:cs typeface="Calibri"/>
              <a:sym typeface="Calibri"/>
            </a:endParaRPr>
          </a:p>
        </p:txBody>
      </p:sp>
      <p:sp>
        <p:nvSpPr>
          <p:cNvPr id="265" name="Google Shape;265;p5"/>
          <p:cNvSpPr/>
          <p:nvPr/>
        </p:nvSpPr>
        <p:spPr>
          <a:xfrm>
            <a:off x="9766250" y="5862191"/>
            <a:ext cx="1701850" cy="367308"/>
          </a:xfrm>
          <a:prstGeom prst="rect">
            <a:avLst/>
          </a:prstGeom>
          <a:noFill/>
          <a:ln>
            <a:noFill/>
          </a:ln>
        </p:spPr>
        <p:txBody>
          <a:bodyPr anchorCtr="0" anchor="ctr" bIns="0" lIns="0" spcFirstLastPara="1" rIns="0" wrap="square" tIns="0">
            <a:noAutofit/>
          </a:bodyPr>
          <a:lstStyle/>
          <a:p>
            <a:pPr indent="0" lvl="0" marL="0" marR="0" rtl="0" algn="l">
              <a:lnSpc>
                <a:spcPct val="150044"/>
              </a:lnSpc>
              <a:spcBef>
                <a:spcPts val="0"/>
              </a:spcBef>
              <a:spcAft>
                <a:spcPts val="0"/>
              </a:spcAft>
              <a:buClr>
                <a:srgbClr val="0F172A"/>
              </a:buClr>
              <a:buSzPts val="1125"/>
              <a:buFont typeface="Calibri"/>
              <a:buNone/>
            </a:pPr>
            <a:r>
              <a:rPr b="0" i="0" lang="en-US" sz="1125" u="none" cap="none" strike="noStrike">
                <a:solidFill>
                  <a:srgbClr val="0F172A"/>
                </a:solidFill>
                <a:latin typeface="Calibri"/>
                <a:ea typeface="Calibri"/>
                <a:cs typeface="Calibri"/>
                <a:sym typeface="Calibri"/>
              </a:rPr>
              <a:t>0.401</a:t>
            </a:r>
            <a:endParaRPr b="0" i="0" sz="1125" u="none" cap="none" strike="noStrike">
              <a:solidFill>
                <a:schemeClr val="dk1"/>
              </a:solidFill>
              <a:latin typeface="Calibri"/>
              <a:ea typeface="Calibri"/>
              <a:cs typeface="Calibri"/>
              <a:sym typeface="Calibri"/>
            </a:endParaRPr>
          </a:p>
        </p:txBody>
      </p:sp>
      <p:sp>
        <p:nvSpPr>
          <p:cNvPr id="266" name="Google Shape;266;p5"/>
          <p:cNvSpPr/>
          <p:nvPr/>
        </p:nvSpPr>
        <p:spPr>
          <a:xfrm>
            <a:off x="5076825" y="6286649"/>
            <a:ext cx="6429375" cy="171450"/>
          </a:xfrm>
          <a:prstGeom prst="rect">
            <a:avLst/>
          </a:prstGeom>
          <a:noFill/>
          <a:ln>
            <a:noFill/>
          </a:ln>
        </p:spPr>
        <p:txBody>
          <a:bodyPr anchorCtr="0" anchor="ctr" bIns="0" lIns="0" spcFirstLastPara="1" rIns="0" wrap="square" tIns="0">
            <a:noAutofit/>
          </a:bodyPr>
          <a:lstStyle/>
          <a:p>
            <a:pPr indent="0" lvl="0" marL="0" marR="0" rtl="0" algn="r">
              <a:lnSpc>
                <a:spcPct val="150000"/>
              </a:lnSpc>
              <a:spcBef>
                <a:spcPts val="0"/>
              </a:spcBef>
              <a:spcAft>
                <a:spcPts val="0"/>
              </a:spcAft>
              <a:buClr>
                <a:srgbClr val="94A3B8"/>
              </a:buClr>
              <a:buSzPts val="900"/>
              <a:buFont typeface="Inter"/>
              <a:buNone/>
            </a:pPr>
            <a:r>
              <a:rPr b="0" i="0" lang="en-US" sz="900" u="none" cap="none" strike="noStrike">
                <a:solidFill>
                  <a:srgbClr val="94A3B8"/>
                </a:solidFill>
                <a:latin typeface="Inter"/>
                <a:ea typeface="Inter"/>
                <a:cs typeface="Inter"/>
                <a:sym typeface="Inter"/>
              </a:rPr>
              <a:t>Displaying top 5 of 33 results</a:t>
            </a:r>
            <a:endParaRPr b="0" i="0" sz="900" u="none" cap="none" strike="noStrike">
              <a:solidFill>
                <a:schemeClr val="dk1"/>
              </a:solidFill>
              <a:latin typeface="Calibri"/>
              <a:ea typeface="Calibri"/>
              <a:cs typeface="Calibri"/>
              <a:sym typeface="Calibri"/>
            </a:endParaRPr>
          </a:p>
        </p:txBody>
      </p:sp>
      <p:sp>
        <p:nvSpPr>
          <p:cNvPr id="267" name="Google Shape;267;p5"/>
          <p:cNvSpPr/>
          <p:nvPr/>
        </p:nvSpPr>
        <p:spPr>
          <a:xfrm>
            <a:off x="5038725" y="1156246"/>
            <a:ext cx="6581775" cy="2650927"/>
          </a:xfrm>
          <a:prstGeom prst="roundRect">
            <a:avLst>
              <a:gd fmla="val 4000" name="adj"/>
            </a:avLst>
          </a:prstGeom>
          <a:solidFill>
            <a:srgbClr val="E2E8F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268" name="Google Shape;268;p5"/>
          <p:cNvSpPr/>
          <p:nvPr/>
        </p:nvSpPr>
        <p:spPr>
          <a:xfrm>
            <a:off x="5191125" y="1356246"/>
            <a:ext cx="6280000" cy="2001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0F172A"/>
              </a:buClr>
              <a:buSzPts val="1050"/>
              <a:buFont typeface="Inter"/>
              <a:buNone/>
            </a:pPr>
            <a:r>
              <a:rPr b="1" i="0" lang="en-US" sz="1050" u="none" cap="none" strike="noStrike">
                <a:solidFill>
                  <a:srgbClr val="0F172A"/>
                </a:solidFill>
                <a:latin typeface="Inter"/>
                <a:ea typeface="Inter"/>
                <a:cs typeface="Inter"/>
                <a:sym typeface="Inter"/>
              </a:rPr>
              <a:t>BUSINESS QUESTION</a:t>
            </a:r>
            <a:endParaRPr/>
          </a:p>
        </p:txBody>
      </p:sp>
      <p:sp>
        <p:nvSpPr>
          <p:cNvPr id="269" name="Google Shape;269;p5"/>
          <p:cNvSpPr/>
          <p:nvPr/>
        </p:nvSpPr>
        <p:spPr>
          <a:xfrm>
            <a:off x="5191125" y="1586246"/>
            <a:ext cx="6204000" cy="50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125"/>
              <a:buFont typeface="Arial"/>
              <a:buNone/>
            </a:pPr>
            <a:r>
              <a:rPr b="0" i="0" lang="en-US" sz="1125" u="none" cap="none" strike="noStrike">
                <a:solidFill>
                  <a:srgbClr val="475569"/>
                </a:solidFill>
                <a:latin typeface="Calibri"/>
                <a:ea typeface="Calibri"/>
                <a:cs typeface="Calibri"/>
                <a:sym typeface="Calibri"/>
              </a:rPr>
              <a:t>Which categories should we prioritize for consistently higher ratings?</a:t>
            </a:r>
            <a:endParaRPr/>
          </a:p>
        </p:txBody>
      </p:sp>
      <p:sp>
        <p:nvSpPr>
          <p:cNvPr id="270" name="Google Shape;270;p5"/>
          <p:cNvSpPr/>
          <p:nvPr/>
        </p:nvSpPr>
        <p:spPr>
          <a:xfrm>
            <a:off x="5191125" y="2236246"/>
            <a:ext cx="6280000" cy="2001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100"/>
              <a:buFont typeface="Arial"/>
              <a:buNone/>
            </a:pPr>
            <a:r>
              <a:rPr b="1" i="0" lang="en-US" sz="1100" u="none" cap="none" strike="noStrike">
                <a:solidFill>
                  <a:srgbClr val="64748B"/>
                </a:solidFill>
                <a:latin typeface="Inter"/>
                <a:ea typeface="Inter"/>
                <a:cs typeface="Inter"/>
                <a:sym typeface="Inter"/>
              </a:rPr>
              <a:t>SO WHAT</a:t>
            </a:r>
            <a:endParaRPr/>
          </a:p>
        </p:txBody>
      </p:sp>
      <p:sp>
        <p:nvSpPr>
          <p:cNvPr id="271" name="Google Shape;271;p5"/>
          <p:cNvSpPr/>
          <p:nvPr/>
        </p:nvSpPr>
        <p:spPr>
          <a:xfrm>
            <a:off x="5191125" y="2466246"/>
            <a:ext cx="6204000" cy="65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250"/>
              <a:buFont typeface="Arial"/>
              <a:buNone/>
            </a:pPr>
            <a:r>
              <a:rPr b="0" i="0" lang="en-US" sz="1250" u="none" cap="none" strike="noStrike">
                <a:solidFill>
                  <a:srgbClr val="0F172A"/>
                </a:solidFill>
                <a:latin typeface="Calibri"/>
                <a:ea typeface="Calibri"/>
                <a:cs typeface="Calibri"/>
                <a:sym typeface="Calibri"/>
              </a:rPr>
              <a:t>Category choice won’t reliably lift ratings on its own</a:t>
            </a:r>
            <a:r>
              <a:rPr lang="en-US" sz="1250">
                <a:solidFill>
                  <a:srgbClr val="0F172A"/>
                </a:solidFill>
                <a:latin typeface="Calibri"/>
                <a:ea typeface="Calibri"/>
                <a:cs typeface="Calibri"/>
                <a:sym typeface="Calibri"/>
              </a:rPr>
              <a:t>,</a:t>
            </a:r>
            <a:r>
              <a:rPr b="0" i="0" lang="en-US" sz="1250" u="none" cap="none" strike="noStrike">
                <a:solidFill>
                  <a:srgbClr val="0F172A"/>
                </a:solidFill>
                <a:latin typeface="Calibri"/>
                <a:ea typeface="Calibri"/>
                <a:cs typeface="Calibri"/>
                <a:sym typeface="Calibri"/>
              </a:rPr>
              <a:t> treat it as a minor factor, not a growth lever.</a:t>
            </a:r>
            <a:endParaRPr/>
          </a:p>
        </p:txBody>
      </p:sp>
      <p:sp>
        <p:nvSpPr>
          <p:cNvPr id="272" name="Google Shape;272;p5"/>
          <p:cNvSpPr/>
          <p:nvPr/>
        </p:nvSpPr>
        <p:spPr>
          <a:xfrm>
            <a:off x="5191125" y="3196246"/>
            <a:ext cx="900000" cy="260000"/>
          </a:xfrm>
          <a:prstGeom prst="roundRect">
            <a:avLst>
              <a:gd fmla="val 30000" name="adj"/>
            </a:avLst>
          </a:prstGeom>
          <a:solidFill>
            <a:srgbClr val="EEF2F6"/>
          </a:solid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475569"/>
                </a:solidFill>
                <a:latin typeface="Calibri"/>
                <a:ea typeface="Calibri"/>
                <a:cs typeface="Calibri"/>
                <a:sym typeface="Calibri"/>
              </a:rPr>
              <a:t>GROUP BY</a:t>
            </a:r>
            <a:endParaRPr/>
          </a:p>
        </p:txBody>
      </p:sp>
      <p:sp>
        <p:nvSpPr>
          <p:cNvPr id="273" name="Google Shape;273;p5"/>
          <p:cNvSpPr/>
          <p:nvPr/>
        </p:nvSpPr>
        <p:spPr>
          <a:xfrm>
            <a:off x="6151125" y="3196246"/>
            <a:ext cx="700000" cy="260000"/>
          </a:xfrm>
          <a:prstGeom prst="roundRect">
            <a:avLst>
              <a:gd fmla="val 30000" name="adj"/>
            </a:avLst>
          </a:prstGeom>
          <a:solidFill>
            <a:srgbClr val="EEF2F6"/>
          </a:solid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475569"/>
                </a:solidFill>
                <a:latin typeface="Calibri"/>
                <a:ea typeface="Calibri"/>
                <a:cs typeface="Calibri"/>
                <a:sym typeface="Calibri"/>
              </a:rPr>
              <a:t>HAVING</a:t>
            </a:r>
            <a:endParaRPr/>
          </a:p>
        </p:txBody>
      </p:sp>
      <p:sp>
        <p:nvSpPr>
          <p:cNvPr id="274" name="Google Shape;274;p5"/>
          <p:cNvSpPr/>
          <p:nvPr/>
        </p:nvSpPr>
        <p:spPr>
          <a:xfrm>
            <a:off x="6911125" y="3196246"/>
            <a:ext cx="900000" cy="260000"/>
          </a:xfrm>
          <a:prstGeom prst="roundRect">
            <a:avLst>
              <a:gd fmla="val 30000" name="adj"/>
            </a:avLst>
          </a:prstGeom>
          <a:solidFill>
            <a:srgbClr val="EEF2F6"/>
          </a:solid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475569"/>
                </a:solidFill>
                <a:latin typeface="Calibri"/>
                <a:ea typeface="Calibri"/>
                <a:cs typeface="Calibri"/>
                <a:sym typeface="Calibri"/>
              </a:rPr>
              <a:t>ORDER BY</a:t>
            </a:r>
            <a:endParaRPr/>
          </a:p>
        </p:txBody>
      </p:sp>
      <p:sp>
        <p:nvSpPr>
          <p:cNvPr id="275" name="Google Shape;275;p5"/>
          <p:cNvSpPr/>
          <p:nvPr/>
        </p:nvSpPr>
        <p:spPr>
          <a:xfrm>
            <a:off x="7871125" y="3196246"/>
            <a:ext cx="1500000" cy="260000"/>
          </a:xfrm>
          <a:prstGeom prst="roundRect">
            <a:avLst>
              <a:gd fmla="val 30000" name="adj"/>
            </a:avLst>
          </a:prstGeom>
          <a:solidFill>
            <a:srgbClr val="EEF2F6"/>
          </a:solid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475569"/>
                </a:solidFill>
                <a:latin typeface="Calibri"/>
                <a:ea typeface="Calibri"/>
                <a:cs typeface="Calibri"/>
                <a:sym typeface="Calibri"/>
              </a:rPr>
              <a:t>AVG · STDDEV</a:t>
            </a:r>
            <a:endParaRPr/>
          </a:p>
        </p:txBody>
      </p:sp>
      <p:pic>
        <p:nvPicPr>
          <p:cNvPr id="276" name="Google Shape;276;p5"/>
          <p:cNvPicPr preferRelativeResize="0"/>
          <p:nvPr/>
        </p:nvPicPr>
        <p:blipFill>
          <a:blip r:embed="rId20">
            <a:alphaModFix/>
          </a:blip>
          <a:stretch>
            <a:fillRect/>
          </a:stretch>
        </p:blipFill>
        <p:spPr>
          <a:xfrm>
            <a:off x="1128800" y="5539000"/>
            <a:ext cx="2926170" cy="27593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1" name="Shape 281"/>
        <p:cNvGrpSpPr/>
        <p:nvPr/>
      </p:nvGrpSpPr>
      <p:grpSpPr>
        <a:xfrm>
          <a:off x="0" y="0"/>
          <a:ext cx="0" cy="0"/>
          <a:chOff x="0" y="0"/>
          <a:chExt cx="0" cy="0"/>
        </a:xfrm>
      </p:grpSpPr>
      <p:pic>
        <p:nvPicPr>
          <p:cNvPr descr="preencoded.png" id="282" name="Google Shape;282;p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283" name="Google Shape;283;p6"/>
          <p:cNvPicPr preferRelativeResize="0"/>
          <p:nvPr/>
        </p:nvPicPr>
        <p:blipFill rotWithShape="1">
          <a:blip r:embed="rId4">
            <a:alphaModFix/>
          </a:blip>
          <a:srcRect b="0" l="0" r="0" t="0"/>
          <a:stretch/>
        </p:blipFill>
        <p:spPr>
          <a:xfrm>
            <a:off x="0" y="0"/>
            <a:ext cx="12192000" cy="6858000"/>
          </a:xfrm>
          <a:prstGeom prst="rect">
            <a:avLst/>
          </a:prstGeom>
          <a:noFill/>
          <a:ln>
            <a:noFill/>
          </a:ln>
        </p:spPr>
      </p:pic>
      <p:pic>
        <p:nvPicPr>
          <p:cNvPr descr="preencoded.png" id="284" name="Google Shape;284;p6"/>
          <p:cNvPicPr preferRelativeResize="0"/>
          <p:nvPr/>
        </p:nvPicPr>
        <p:blipFill rotWithShape="1">
          <a:blip r:embed="rId5">
            <a:alphaModFix/>
          </a:blip>
          <a:srcRect b="0" l="0" r="0" t="0"/>
          <a:stretch/>
        </p:blipFill>
        <p:spPr>
          <a:xfrm>
            <a:off x="571500" y="381000"/>
            <a:ext cx="11049000" cy="670471"/>
          </a:xfrm>
          <a:prstGeom prst="rect">
            <a:avLst/>
          </a:prstGeom>
          <a:noFill/>
          <a:ln>
            <a:noFill/>
          </a:ln>
        </p:spPr>
      </p:pic>
      <p:pic>
        <p:nvPicPr>
          <p:cNvPr descr="preencoded.png" id="285" name="Google Shape;285;p6"/>
          <p:cNvPicPr preferRelativeResize="0"/>
          <p:nvPr/>
        </p:nvPicPr>
        <p:blipFill rotWithShape="1">
          <a:blip r:embed="rId6">
            <a:alphaModFix/>
          </a:blip>
          <a:srcRect b="0" l="0" r="0" t="0"/>
          <a:stretch/>
        </p:blipFill>
        <p:spPr>
          <a:xfrm>
            <a:off x="571500" y="6243638"/>
            <a:ext cx="4640460" cy="385763"/>
          </a:xfrm>
          <a:prstGeom prst="rect">
            <a:avLst/>
          </a:prstGeom>
          <a:noFill/>
          <a:ln>
            <a:noFill/>
          </a:ln>
        </p:spPr>
      </p:pic>
      <p:pic>
        <p:nvPicPr>
          <p:cNvPr descr="preencoded.png" id="286" name="Google Shape;286;p6"/>
          <p:cNvPicPr preferRelativeResize="0"/>
          <p:nvPr/>
        </p:nvPicPr>
        <p:blipFill rotWithShape="1">
          <a:blip r:embed="rId7">
            <a:alphaModFix/>
          </a:blip>
          <a:srcRect b="0" l="0" r="0" t="0"/>
          <a:stretch/>
        </p:blipFill>
        <p:spPr>
          <a:xfrm>
            <a:off x="1333500" y="6338888"/>
            <a:ext cx="800100" cy="195263"/>
          </a:xfrm>
          <a:prstGeom prst="rect">
            <a:avLst/>
          </a:prstGeom>
          <a:noFill/>
          <a:ln>
            <a:noFill/>
          </a:ln>
        </p:spPr>
      </p:pic>
      <p:pic>
        <p:nvPicPr>
          <p:cNvPr descr="preencoded.png" id="287" name="Google Shape;287;p6"/>
          <p:cNvPicPr preferRelativeResize="0"/>
          <p:nvPr/>
        </p:nvPicPr>
        <p:blipFill rotWithShape="1">
          <a:blip r:embed="rId8">
            <a:alphaModFix/>
          </a:blip>
          <a:srcRect b="0" l="0" r="0" t="0"/>
          <a:stretch/>
        </p:blipFill>
        <p:spPr>
          <a:xfrm>
            <a:off x="2209800" y="6338888"/>
            <a:ext cx="666750" cy="195263"/>
          </a:xfrm>
          <a:prstGeom prst="rect">
            <a:avLst/>
          </a:prstGeom>
          <a:noFill/>
          <a:ln>
            <a:noFill/>
          </a:ln>
        </p:spPr>
      </p:pic>
      <p:pic>
        <p:nvPicPr>
          <p:cNvPr descr="preencoded.png" id="288" name="Google Shape;288;p6"/>
          <p:cNvPicPr preferRelativeResize="0"/>
          <p:nvPr/>
        </p:nvPicPr>
        <p:blipFill rotWithShape="1">
          <a:blip r:embed="rId9">
            <a:alphaModFix/>
          </a:blip>
          <a:srcRect b="0" l="0" r="0" t="0"/>
          <a:stretch/>
        </p:blipFill>
        <p:spPr>
          <a:xfrm>
            <a:off x="2952750" y="6338888"/>
            <a:ext cx="466725" cy="195263"/>
          </a:xfrm>
          <a:prstGeom prst="rect">
            <a:avLst/>
          </a:prstGeom>
          <a:noFill/>
          <a:ln>
            <a:noFill/>
          </a:ln>
        </p:spPr>
      </p:pic>
      <p:pic>
        <p:nvPicPr>
          <p:cNvPr descr="preencoded.png" id="289" name="Google Shape;289;p6"/>
          <p:cNvPicPr preferRelativeResize="0"/>
          <p:nvPr/>
        </p:nvPicPr>
        <p:blipFill rotWithShape="1">
          <a:blip r:embed="rId10">
            <a:alphaModFix/>
          </a:blip>
          <a:srcRect b="0" l="0" r="0" t="0"/>
          <a:stretch/>
        </p:blipFill>
        <p:spPr>
          <a:xfrm>
            <a:off x="3495675" y="6338888"/>
            <a:ext cx="866775" cy="195263"/>
          </a:xfrm>
          <a:prstGeom prst="rect">
            <a:avLst/>
          </a:prstGeom>
          <a:noFill/>
          <a:ln>
            <a:noFill/>
          </a:ln>
        </p:spPr>
      </p:pic>
      <p:pic>
        <p:nvPicPr>
          <p:cNvPr descr="preencoded.png" id="290" name="Google Shape;290;p6"/>
          <p:cNvPicPr preferRelativeResize="0"/>
          <p:nvPr/>
        </p:nvPicPr>
        <p:blipFill rotWithShape="1">
          <a:blip r:embed="rId11">
            <a:alphaModFix/>
          </a:blip>
          <a:srcRect b="0" l="0" r="0" t="0"/>
          <a:stretch/>
        </p:blipFill>
        <p:spPr>
          <a:xfrm>
            <a:off x="5393824" y="1417681"/>
            <a:ext cx="6218039" cy="2972692"/>
          </a:xfrm>
          <a:prstGeom prst="rect">
            <a:avLst/>
          </a:prstGeom>
          <a:noFill/>
          <a:ln>
            <a:noFill/>
          </a:ln>
        </p:spPr>
      </p:pic>
      <p:pic>
        <p:nvPicPr>
          <p:cNvPr descr="preencoded.png" id="291" name="Google Shape;291;p6"/>
          <p:cNvPicPr preferRelativeResize="0"/>
          <p:nvPr/>
        </p:nvPicPr>
        <p:blipFill rotWithShape="1">
          <a:blip r:embed="rId12">
            <a:alphaModFix/>
          </a:blip>
          <a:srcRect b="0" l="0" r="0" t="0"/>
          <a:stretch/>
        </p:blipFill>
        <p:spPr>
          <a:xfrm>
            <a:off x="5402474" y="1735881"/>
            <a:ext cx="6200775" cy="2619375"/>
          </a:xfrm>
          <a:prstGeom prst="rect">
            <a:avLst/>
          </a:prstGeom>
          <a:noFill/>
          <a:ln>
            <a:noFill/>
          </a:ln>
        </p:spPr>
      </p:pic>
      <p:pic>
        <p:nvPicPr>
          <p:cNvPr descr="preencoded.png" id="292" name="Google Shape;292;p6"/>
          <p:cNvPicPr preferRelativeResize="0"/>
          <p:nvPr/>
        </p:nvPicPr>
        <p:blipFill rotWithShape="1">
          <a:blip r:embed="rId13">
            <a:alphaModFix/>
          </a:blip>
          <a:srcRect b="0" l="0" r="0" t="0"/>
          <a:stretch/>
        </p:blipFill>
        <p:spPr>
          <a:xfrm>
            <a:off x="5422761" y="4646824"/>
            <a:ext cx="1792932" cy="1190476"/>
          </a:xfrm>
          <a:prstGeom prst="rect">
            <a:avLst/>
          </a:prstGeom>
          <a:noFill/>
          <a:ln>
            <a:noFill/>
          </a:ln>
        </p:spPr>
      </p:pic>
      <p:pic>
        <p:nvPicPr>
          <p:cNvPr descr="preencoded.png" id="293" name="Google Shape;293;p6"/>
          <p:cNvPicPr preferRelativeResize="0"/>
          <p:nvPr/>
        </p:nvPicPr>
        <p:blipFill rotWithShape="1">
          <a:blip r:embed="rId14">
            <a:alphaModFix/>
          </a:blip>
          <a:srcRect b="0" l="0" r="0" t="0"/>
          <a:stretch/>
        </p:blipFill>
        <p:spPr>
          <a:xfrm>
            <a:off x="7329993" y="4646824"/>
            <a:ext cx="1792932" cy="1190476"/>
          </a:xfrm>
          <a:prstGeom prst="rect">
            <a:avLst/>
          </a:prstGeom>
          <a:noFill/>
          <a:ln>
            <a:noFill/>
          </a:ln>
        </p:spPr>
      </p:pic>
      <p:pic>
        <p:nvPicPr>
          <p:cNvPr descr="preencoded.png" id="294" name="Google Shape;294;p6"/>
          <p:cNvPicPr preferRelativeResize="0"/>
          <p:nvPr/>
        </p:nvPicPr>
        <p:blipFill rotWithShape="1">
          <a:blip r:embed="rId15">
            <a:alphaModFix/>
          </a:blip>
          <a:srcRect b="0" l="0" r="0" t="0"/>
          <a:stretch/>
        </p:blipFill>
        <p:spPr>
          <a:xfrm>
            <a:off x="9237226" y="4646824"/>
            <a:ext cx="2403425" cy="1190476"/>
          </a:xfrm>
          <a:prstGeom prst="rect">
            <a:avLst/>
          </a:prstGeom>
          <a:noFill/>
          <a:ln>
            <a:noFill/>
          </a:ln>
        </p:spPr>
      </p:pic>
      <p:pic>
        <p:nvPicPr>
          <p:cNvPr descr="preencoded.png" id="295" name="Google Shape;295;p6"/>
          <p:cNvPicPr preferRelativeResize="0"/>
          <p:nvPr/>
        </p:nvPicPr>
        <p:blipFill rotWithShape="1">
          <a:blip r:embed="rId16">
            <a:alphaModFix/>
          </a:blip>
          <a:srcRect b="0" l="0" r="0" t="0"/>
          <a:stretch/>
        </p:blipFill>
        <p:spPr>
          <a:xfrm>
            <a:off x="9370576" y="4772435"/>
            <a:ext cx="130969" cy="110728"/>
          </a:xfrm>
          <a:prstGeom prst="rect">
            <a:avLst/>
          </a:prstGeom>
          <a:noFill/>
          <a:ln>
            <a:noFill/>
          </a:ln>
        </p:spPr>
      </p:pic>
      <p:sp>
        <p:nvSpPr>
          <p:cNvPr id="296" name="Google Shape;296;p6"/>
          <p:cNvSpPr/>
          <p:nvPr/>
        </p:nvSpPr>
        <p:spPr>
          <a:xfrm>
            <a:off x="762000" y="381000"/>
            <a:ext cx="11430000" cy="365671"/>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F172A"/>
              </a:buClr>
              <a:buSzPts val="2400"/>
              <a:buFont typeface="Inter"/>
              <a:buNone/>
            </a:pPr>
            <a:r>
              <a:rPr b="1" i="0" lang="en-US" sz="2400" u="none" cap="none" strike="noStrike">
                <a:solidFill>
                  <a:srgbClr val="0F172A"/>
                </a:solidFill>
                <a:latin typeface="Inter"/>
                <a:ea typeface="Inter"/>
                <a:cs typeface="Inter"/>
                <a:sym typeface="Inter"/>
              </a:rPr>
              <a:t>Q2: Sentiment Analysis — Free vs Paid Apps</a:t>
            </a:r>
            <a:endParaRPr b="0" i="0" sz="2400" u="none" cap="none" strike="noStrike">
              <a:solidFill>
                <a:schemeClr val="dk1"/>
              </a:solidFill>
              <a:latin typeface="Calibri"/>
              <a:ea typeface="Calibri"/>
              <a:cs typeface="Calibri"/>
              <a:sym typeface="Calibri"/>
            </a:endParaRPr>
          </a:p>
        </p:txBody>
      </p:sp>
      <p:sp>
        <p:nvSpPr>
          <p:cNvPr id="297" name="Google Shape;297;p6"/>
          <p:cNvSpPr/>
          <p:nvPr/>
        </p:nvSpPr>
        <p:spPr>
          <a:xfrm>
            <a:off x="704850" y="6350794"/>
            <a:ext cx="1310700" cy="1716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94A3B8"/>
              </a:buClr>
              <a:buSzPts val="900"/>
              <a:buFont typeface="Inter"/>
              <a:buNone/>
            </a:pPr>
            <a:r>
              <a:rPr b="0" i="0" lang="en-US" sz="900" u="none" cap="none" strike="noStrike">
                <a:solidFill>
                  <a:srgbClr val="94A3B8"/>
                </a:solidFill>
                <a:latin typeface="Inter"/>
                <a:ea typeface="Inter"/>
                <a:cs typeface="Inter"/>
                <a:sym typeface="Inter"/>
              </a:rPr>
              <a:t>Features:</a:t>
            </a:r>
            <a:endParaRPr b="0" i="0" sz="900" u="none" cap="none" strike="noStrike">
              <a:solidFill>
                <a:schemeClr val="dk1"/>
              </a:solidFill>
              <a:latin typeface="Calibri"/>
              <a:ea typeface="Calibri"/>
              <a:cs typeface="Calibri"/>
              <a:sym typeface="Calibri"/>
            </a:endParaRPr>
          </a:p>
        </p:txBody>
      </p:sp>
      <p:sp>
        <p:nvSpPr>
          <p:cNvPr id="298" name="Google Shape;298;p6"/>
          <p:cNvSpPr/>
          <p:nvPr/>
        </p:nvSpPr>
        <p:spPr>
          <a:xfrm>
            <a:off x="1400175" y="6338888"/>
            <a:ext cx="1124100" cy="195300"/>
          </a:xfrm>
          <a:prstGeom prst="rect">
            <a:avLst/>
          </a:prstGeom>
          <a:noFill/>
          <a:ln>
            <a:noFill/>
          </a:ln>
        </p:spPr>
        <p:txBody>
          <a:bodyPr anchorCtr="0" anchor="ctr" bIns="0" lIns="0" spcFirstLastPara="1" rIns="0" wrap="square" tIns="0">
            <a:noAutofit/>
          </a:bodyPr>
          <a:lstStyle/>
          <a:p>
            <a:pPr indent="0" lvl="0" marL="0" marR="0" rtl="0" algn="l">
              <a:lnSpc>
                <a:spcPct val="150060"/>
              </a:lnSpc>
              <a:spcBef>
                <a:spcPts val="0"/>
              </a:spcBef>
              <a:spcAft>
                <a:spcPts val="0"/>
              </a:spcAft>
              <a:buClr>
                <a:srgbClr val="2563EB"/>
              </a:buClr>
              <a:buSzPts val="825"/>
              <a:buFont typeface="Calibri"/>
              <a:buNone/>
            </a:pPr>
            <a:r>
              <a:rPr b="0" i="0" lang="en-US" sz="825" u="none" cap="none" strike="noStrike">
                <a:solidFill>
                  <a:srgbClr val="2563EB"/>
                </a:solidFill>
                <a:latin typeface="Calibri"/>
                <a:ea typeface="Calibri"/>
                <a:cs typeface="Calibri"/>
                <a:sym typeface="Calibri"/>
              </a:rPr>
              <a:t>INNER JOIN</a:t>
            </a:r>
            <a:endParaRPr b="0" i="0" sz="825" u="none" cap="none" strike="noStrike">
              <a:solidFill>
                <a:schemeClr val="dk1"/>
              </a:solidFill>
              <a:latin typeface="Calibri"/>
              <a:ea typeface="Calibri"/>
              <a:cs typeface="Calibri"/>
              <a:sym typeface="Calibri"/>
            </a:endParaRPr>
          </a:p>
        </p:txBody>
      </p:sp>
      <p:sp>
        <p:nvSpPr>
          <p:cNvPr id="299" name="Google Shape;299;p6"/>
          <p:cNvSpPr/>
          <p:nvPr/>
        </p:nvSpPr>
        <p:spPr>
          <a:xfrm>
            <a:off x="2276475" y="6338888"/>
            <a:ext cx="880800" cy="195300"/>
          </a:xfrm>
          <a:prstGeom prst="rect">
            <a:avLst/>
          </a:prstGeom>
          <a:noFill/>
          <a:ln>
            <a:noFill/>
          </a:ln>
        </p:spPr>
        <p:txBody>
          <a:bodyPr anchorCtr="0" anchor="ctr" bIns="0" lIns="0" spcFirstLastPara="1" rIns="0" wrap="square" tIns="0">
            <a:noAutofit/>
          </a:bodyPr>
          <a:lstStyle/>
          <a:p>
            <a:pPr indent="0" lvl="0" marL="0" marR="0" rtl="0" algn="l">
              <a:lnSpc>
                <a:spcPct val="150060"/>
              </a:lnSpc>
              <a:spcBef>
                <a:spcPts val="0"/>
              </a:spcBef>
              <a:spcAft>
                <a:spcPts val="0"/>
              </a:spcAft>
              <a:buClr>
                <a:srgbClr val="2563EB"/>
              </a:buClr>
              <a:buSzPts val="825"/>
              <a:buFont typeface="Calibri"/>
              <a:buNone/>
            </a:pPr>
            <a:r>
              <a:rPr b="0" i="0" lang="en-US" sz="825" u="none" cap="none" strike="noStrike">
                <a:solidFill>
                  <a:srgbClr val="2563EB"/>
                </a:solidFill>
                <a:latin typeface="Calibri"/>
                <a:ea typeface="Calibri"/>
                <a:cs typeface="Calibri"/>
                <a:sym typeface="Calibri"/>
              </a:rPr>
              <a:t>GROUP BY</a:t>
            </a:r>
            <a:endParaRPr b="0" i="0" sz="825" u="none" cap="none" strike="noStrike">
              <a:solidFill>
                <a:schemeClr val="dk1"/>
              </a:solidFill>
              <a:latin typeface="Calibri"/>
              <a:ea typeface="Calibri"/>
              <a:cs typeface="Calibri"/>
              <a:sym typeface="Calibri"/>
            </a:endParaRPr>
          </a:p>
        </p:txBody>
      </p:sp>
      <p:sp>
        <p:nvSpPr>
          <p:cNvPr id="300" name="Google Shape;300;p6"/>
          <p:cNvSpPr/>
          <p:nvPr/>
        </p:nvSpPr>
        <p:spPr>
          <a:xfrm>
            <a:off x="3019425" y="6338888"/>
            <a:ext cx="525300" cy="195300"/>
          </a:xfrm>
          <a:prstGeom prst="rect">
            <a:avLst/>
          </a:prstGeom>
          <a:noFill/>
          <a:ln>
            <a:noFill/>
          </a:ln>
        </p:spPr>
        <p:txBody>
          <a:bodyPr anchorCtr="0" anchor="ctr" bIns="0" lIns="0" spcFirstLastPara="1" rIns="0" wrap="square" tIns="0">
            <a:noAutofit/>
          </a:bodyPr>
          <a:lstStyle/>
          <a:p>
            <a:pPr indent="0" lvl="0" marL="0" marR="0" rtl="0" algn="l">
              <a:lnSpc>
                <a:spcPct val="150060"/>
              </a:lnSpc>
              <a:spcBef>
                <a:spcPts val="0"/>
              </a:spcBef>
              <a:spcAft>
                <a:spcPts val="0"/>
              </a:spcAft>
              <a:buClr>
                <a:srgbClr val="2563EB"/>
              </a:buClr>
              <a:buSzPts val="825"/>
              <a:buFont typeface="Calibri"/>
              <a:buNone/>
            </a:pPr>
            <a:r>
              <a:rPr b="0" i="0" lang="en-US" sz="825" u="none" cap="none" strike="noStrike">
                <a:solidFill>
                  <a:srgbClr val="2563EB"/>
                </a:solidFill>
                <a:latin typeface="Calibri"/>
                <a:ea typeface="Calibri"/>
                <a:cs typeface="Calibri"/>
                <a:sym typeface="Calibri"/>
              </a:rPr>
              <a:t>AVG()</a:t>
            </a:r>
            <a:endParaRPr b="0" i="0" sz="825" u="none" cap="none" strike="noStrike">
              <a:solidFill>
                <a:schemeClr val="dk1"/>
              </a:solidFill>
              <a:latin typeface="Calibri"/>
              <a:ea typeface="Calibri"/>
              <a:cs typeface="Calibri"/>
              <a:sym typeface="Calibri"/>
            </a:endParaRPr>
          </a:p>
        </p:txBody>
      </p:sp>
      <p:sp>
        <p:nvSpPr>
          <p:cNvPr id="301" name="Google Shape;301;p6"/>
          <p:cNvSpPr/>
          <p:nvPr/>
        </p:nvSpPr>
        <p:spPr>
          <a:xfrm>
            <a:off x="3562350" y="6338888"/>
            <a:ext cx="1246500" cy="195300"/>
          </a:xfrm>
          <a:prstGeom prst="rect">
            <a:avLst/>
          </a:prstGeom>
          <a:noFill/>
          <a:ln>
            <a:noFill/>
          </a:ln>
        </p:spPr>
        <p:txBody>
          <a:bodyPr anchorCtr="0" anchor="ctr" bIns="0" lIns="0" spcFirstLastPara="1" rIns="0" wrap="square" tIns="0">
            <a:noAutofit/>
          </a:bodyPr>
          <a:lstStyle/>
          <a:p>
            <a:pPr indent="0" lvl="0" marL="0" marR="0" rtl="0" algn="l">
              <a:lnSpc>
                <a:spcPct val="150060"/>
              </a:lnSpc>
              <a:spcBef>
                <a:spcPts val="0"/>
              </a:spcBef>
              <a:spcAft>
                <a:spcPts val="0"/>
              </a:spcAft>
              <a:buClr>
                <a:srgbClr val="2563EB"/>
              </a:buClr>
              <a:buSzPts val="825"/>
              <a:buFont typeface="Calibri"/>
              <a:buNone/>
            </a:pPr>
            <a:r>
              <a:rPr b="0" i="0" lang="en-US" sz="825" u="none" cap="none" strike="noStrike">
                <a:solidFill>
                  <a:srgbClr val="2563EB"/>
                </a:solidFill>
                <a:latin typeface="Calibri"/>
                <a:ea typeface="Calibri"/>
                <a:cs typeface="Calibri"/>
                <a:sym typeface="Calibri"/>
              </a:rPr>
              <a:t>Cross-table</a:t>
            </a:r>
            <a:endParaRPr b="0" i="0" sz="825" u="none" cap="none" strike="noStrike">
              <a:solidFill>
                <a:schemeClr val="dk1"/>
              </a:solidFill>
              <a:latin typeface="Calibri"/>
              <a:ea typeface="Calibri"/>
              <a:cs typeface="Calibri"/>
              <a:sym typeface="Calibri"/>
            </a:endParaRPr>
          </a:p>
        </p:txBody>
      </p:sp>
      <p:sp>
        <p:nvSpPr>
          <p:cNvPr id="302" name="Google Shape;302;p6"/>
          <p:cNvSpPr/>
          <p:nvPr/>
        </p:nvSpPr>
        <p:spPr>
          <a:xfrm>
            <a:off x="5540911" y="1582518"/>
            <a:ext cx="5836800" cy="2001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0F172A"/>
              </a:buClr>
              <a:buSzPts val="1050"/>
              <a:buFont typeface="Inter"/>
              <a:buNone/>
            </a:pPr>
            <a:r>
              <a:rPr b="1" i="0" lang="en-US" sz="1050" u="none" cap="none" strike="noStrike">
                <a:solidFill>
                  <a:srgbClr val="0F172A"/>
                </a:solidFill>
                <a:latin typeface="Inter"/>
                <a:ea typeface="Inter"/>
                <a:cs typeface="Inter"/>
                <a:sym typeface="Inter"/>
              </a:rPr>
              <a:t>Avg Sentiment Polarity: Free vs Paid</a:t>
            </a:r>
            <a:endParaRPr b="0" i="0" sz="1050" u="none" cap="none" strike="noStrike">
              <a:solidFill>
                <a:schemeClr val="dk1"/>
              </a:solidFill>
              <a:latin typeface="Calibri"/>
              <a:ea typeface="Calibri"/>
              <a:cs typeface="Calibri"/>
              <a:sym typeface="Calibri"/>
            </a:endParaRPr>
          </a:p>
        </p:txBody>
      </p:sp>
      <p:sp>
        <p:nvSpPr>
          <p:cNvPr id="303" name="Google Shape;303;p6"/>
          <p:cNvSpPr/>
          <p:nvPr/>
        </p:nvSpPr>
        <p:spPr>
          <a:xfrm>
            <a:off x="5556111" y="4742074"/>
            <a:ext cx="1602300" cy="157200"/>
          </a:xfrm>
          <a:prstGeom prst="rect">
            <a:avLst/>
          </a:prstGeom>
          <a:noFill/>
          <a:ln>
            <a:noFill/>
          </a:ln>
        </p:spPr>
        <p:txBody>
          <a:bodyPr anchorCtr="0" anchor="ctr" bIns="0" lIns="0" spcFirstLastPara="1" rIns="0" wrap="square" tIns="0">
            <a:noAutofit/>
          </a:bodyPr>
          <a:lstStyle/>
          <a:p>
            <a:pPr indent="0" lvl="0" marL="0" marR="0" rtl="0" algn="l">
              <a:lnSpc>
                <a:spcPct val="150060"/>
              </a:lnSpc>
              <a:spcBef>
                <a:spcPts val="0"/>
              </a:spcBef>
              <a:spcAft>
                <a:spcPts val="0"/>
              </a:spcAft>
              <a:buClr>
                <a:srgbClr val="94A3B8"/>
              </a:buClr>
              <a:buSzPts val="825"/>
              <a:buFont typeface="Inter"/>
              <a:buNone/>
            </a:pPr>
            <a:r>
              <a:rPr b="1" i="0" lang="en-US" sz="825" u="none" cap="none" strike="noStrike">
                <a:solidFill>
                  <a:srgbClr val="94A3B8"/>
                </a:solidFill>
                <a:latin typeface="Inter"/>
                <a:ea typeface="Inter"/>
                <a:cs typeface="Inter"/>
                <a:sym typeface="Inter"/>
              </a:rPr>
              <a:t>FREE APPS</a:t>
            </a:r>
            <a:endParaRPr b="0" i="0" sz="825" u="none" cap="none" strike="noStrike">
              <a:solidFill>
                <a:schemeClr val="dk1"/>
              </a:solidFill>
              <a:latin typeface="Calibri"/>
              <a:ea typeface="Calibri"/>
              <a:cs typeface="Calibri"/>
              <a:sym typeface="Calibri"/>
            </a:endParaRPr>
          </a:p>
        </p:txBody>
      </p:sp>
      <p:sp>
        <p:nvSpPr>
          <p:cNvPr id="304" name="Google Shape;304;p6"/>
          <p:cNvSpPr/>
          <p:nvPr/>
        </p:nvSpPr>
        <p:spPr>
          <a:xfrm>
            <a:off x="5556111" y="4927811"/>
            <a:ext cx="2032500" cy="2514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F172A"/>
              </a:buClr>
              <a:buSzPts val="1650"/>
              <a:buFont typeface="Calibri"/>
              <a:buNone/>
            </a:pPr>
            <a:r>
              <a:rPr b="0" i="0" lang="en-US" sz="1650" u="none" cap="none" strike="noStrike">
                <a:solidFill>
                  <a:srgbClr val="0F172A"/>
                </a:solidFill>
                <a:latin typeface="Calibri"/>
                <a:ea typeface="Calibri"/>
                <a:cs typeface="Calibri"/>
                <a:sym typeface="Calibri"/>
              </a:rPr>
              <a:t>0.263</a:t>
            </a:r>
            <a:endParaRPr b="0" i="0" sz="1650" u="none" cap="none" strike="noStrike">
              <a:solidFill>
                <a:schemeClr val="dk1"/>
              </a:solidFill>
              <a:latin typeface="Calibri"/>
              <a:ea typeface="Calibri"/>
              <a:cs typeface="Calibri"/>
              <a:sym typeface="Calibri"/>
            </a:endParaRPr>
          </a:p>
        </p:txBody>
      </p:sp>
      <p:sp>
        <p:nvSpPr>
          <p:cNvPr id="305" name="Google Shape;305;p6"/>
          <p:cNvSpPr/>
          <p:nvPr/>
        </p:nvSpPr>
        <p:spPr>
          <a:xfrm>
            <a:off x="5556111" y="5198232"/>
            <a:ext cx="2842200" cy="157200"/>
          </a:xfrm>
          <a:prstGeom prst="rect">
            <a:avLst/>
          </a:prstGeom>
          <a:noFill/>
          <a:ln>
            <a:noFill/>
          </a:ln>
        </p:spPr>
        <p:txBody>
          <a:bodyPr anchorCtr="0" anchor="ctr" bIns="0" lIns="0" spcFirstLastPara="1" rIns="0" wrap="square" tIns="0">
            <a:noAutofit/>
          </a:bodyPr>
          <a:lstStyle/>
          <a:p>
            <a:pPr indent="0" lvl="0" marL="0" marR="0" rtl="0" algn="l">
              <a:lnSpc>
                <a:spcPct val="150060"/>
              </a:lnSpc>
              <a:spcBef>
                <a:spcPts val="0"/>
              </a:spcBef>
              <a:spcAft>
                <a:spcPts val="0"/>
              </a:spcAft>
              <a:buClr>
                <a:srgbClr val="475569"/>
              </a:buClr>
              <a:buSzPts val="825"/>
              <a:buFont typeface="Inter"/>
              <a:buNone/>
            </a:pPr>
            <a:r>
              <a:rPr b="0" i="0" lang="en-US" sz="825" u="none" cap="none" strike="noStrike">
                <a:solidFill>
                  <a:srgbClr val="475569"/>
                </a:solidFill>
                <a:latin typeface="Inter"/>
                <a:ea typeface="Inter"/>
                <a:cs typeface="Inter"/>
                <a:sym typeface="Inter"/>
              </a:rPr>
              <a:t>Avg sentiment polarity</a:t>
            </a:r>
            <a:endParaRPr b="0" i="0" sz="825" u="none" cap="none" strike="noStrike">
              <a:solidFill>
                <a:schemeClr val="dk1"/>
              </a:solidFill>
              <a:latin typeface="Calibri"/>
              <a:ea typeface="Calibri"/>
              <a:cs typeface="Calibri"/>
              <a:sym typeface="Calibri"/>
            </a:endParaRPr>
          </a:p>
        </p:txBody>
      </p:sp>
      <p:sp>
        <p:nvSpPr>
          <p:cNvPr id="306" name="Google Shape;306;p6"/>
          <p:cNvSpPr/>
          <p:nvPr/>
        </p:nvSpPr>
        <p:spPr>
          <a:xfrm>
            <a:off x="7463343" y="4742074"/>
            <a:ext cx="1602300" cy="157200"/>
          </a:xfrm>
          <a:prstGeom prst="rect">
            <a:avLst/>
          </a:prstGeom>
          <a:noFill/>
          <a:ln>
            <a:noFill/>
          </a:ln>
        </p:spPr>
        <p:txBody>
          <a:bodyPr anchorCtr="0" anchor="ctr" bIns="0" lIns="0" spcFirstLastPara="1" rIns="0" wrap="square" tIns="0">
            <a:noAutofit/>
          </a:bodyPr>
          <a:lstStyle/>
          <a:p>
            <a:pPr indent="0" lvl="0" marL="0" marR="0" rtl="0" algn="l">
              <a:lnSpc>
                <a:spcPct val="150060"/>
              </a:lnSpc>
              <a:spcBef>
                <a:spcPts val="0"/>
              </a:spcBef>
              <a:spcAft>
                <a:spcPts val="0"/>
              </a:spcAft>
              <a:buClr>
                <a:srgbClr val="94A3B8"/>
              </a:buClr>
              <a:buSzPts val="825"/>
              <a:buFont typeface="Inter"/>
              <a:buNone/>
            </a:pPr>
            <a:r>
              <a:rPr b="1" i="0" lang="en-US" sz="825" u="none" cap="none" strike="noStrike">
                <a:solidFill>
                  <a:srgbClr val="94A3B8"/>
                </a:solidFill>
                <a:latin typeface="Inter"/>
                <a:ea typeface="Inter"/>
                <a:cs typeface="Inter"/>
                <a:sym typeface="Inter"/>
              </a:rPr>
              <a:t>PAID APPS</a:t>
            </a:r>
            <a:endParaRPr b="0" i="0" sz="825" u="none" cap="none" strike="noStrike">
              <a:solidFill>
                <a:schemeClr val="dk1"/>
              </a:solidFill>
              <a:latin typeface="Calibri"/>
              <a:ea typeface="Calibri"/>
              <a:cs typeface="Calibri"/>
              <a:sym typeface="Calibri"/>
            </a:endParaRPr>
          </a:p>
        </p:txBody>
      </p:sp>
      <p:sp>
        <p:nvSpPr>
          <p:cNvPr id="307" name="Google Shape;307;p6"/>
          <p:cNvSpPr/>
          <p:nvPr/>
        </p:nvSpPr>
        <p:spPr>
          <a:xfrm>
            <a:off x="7463343" y="4927811"/>
            <a:ext cx="2032500" cy="2514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F172A"/>
              </a:buClr>
              <a:buSzPts val="1650"/>
              <a:buFont typeface="Calibri"/>
              <a:buNone/>
            </a:pPr>
            <a:r>
              <a:rPr b="0" i="0" lang="en-US" sz="1650" u="none" cap="none" strike="noStrike">
                <a:solidFill>
                  <a:srgbClr val="0F172A"/>
                </a:solidFill>
                <a:latin typeface="Calibri"/>
                <a:ea typeface="Calibri"/>
                <a:cs typeface="Calibri"/>
                <a:sym typeface="Calibri"/>
              </a:rPr>
              <a:t>0.288</a:t>
            </a:r>
            <a:endParaRPr b="0" i="0" sz="1650" u="none" cap="none" strike="noStrike">
              <a:solidFill>
                <a:schemeClr val="dk1"/>
              </a:solidFill>
              <a:latin typeface="Calibri"/>
              <a:ea typeface="Calibri"/>
              <a:cs typeface="Calibri"/>
              <a:sym typeface="Calibri"/>
            </a:endParaRPr>
          </a:p>
        </p:txBody>
      </p:sp>
      <p:sp>
        <p:nvSpPr>
          <p:cNvPr id="308" name="Google Shape;308;p6"/>
          <p:cNvSpPr/>
          <p:nvPr/>
        </p:nvSpPr>
        <p:spPr>
          <a:xfrm>
            <a:off x="7463343" y="5198232"/>
            <a:ext cx="2842200" cy="157200"/>
          </a:xfrm>
          <a:prstGeom prst="rect">
            <a:avLst/>
          </a:prstGeom>
          <a:noFill/>
          <a:ln>
            <a:noFill/>
          </a:ln>
        </p:spPr>
        <p:txBody>
          <a:bodyPr anchorCtr="0" anchor="ctr" bIns="0" lIns="0" spcFirstLastPara="1" rIns="0" wrap="square" tIns="0">
            <a:noAutofit/>
          </a:bodyPr>
          <a:lstStyle/>
          <a:p>
            <a:pPr indent="0" lvl="0" marL="0" marR="0" rtl="0" algn="l">
              <a:lnSpc>
                <a:spcPct val="150060"/>
              </a:lnSpc>
              <a:spcBef>
                <a:spcPts val="0"/>
              </a:spcBef>
              <a:spcAft>
                <a:spcPts val="0"/>
              </a:spcAft>
              <a:buClr>
                <a:srgbClr val="475569"/>
              </a:buClr>
              <a:buSzPts val="825"/>
              <a:buFont typeface="Inter"/>
              <a:buNone/>
            </a:pPr>
            <a:r>
              <a:rPr b="0" i="0" lang="en-US" sz="825" u="none" cap="none" strike="noStrike">
                <a:solidFill>
                  <a:srgbClr val="475569"/>
                </a:solidFill>
                <a:latin typeface="Inter"/>
                <a:ea typeface="Inter"/>
                <a:cs typeface="Inter"/>
                <a:sym typeface="Inter"/>
              </a:rPr>
              <a:t>Avg sentiment polarity</a:t>
            </a:r>
            <a:endParaRPr b="0" i="0" sz="825" u="none" cap="none" strike="noStrike">
              <a:solidFill>
                <a:schemeClr val="dk1"/>
              </a:solidFill>
              <a:latin typeface="Calibri"/>
              <a:ea typeface="Calibri"/>
              <a:cs typeface="Calibri"/>
              <a:sym typeface="Calibri"/>
            </a:endParaRPr>
          </a:p>
        </p:txBody>
      </p:sp>
      <p:sp>
        <p:nvSpPr>
          <p:cNvPr id="309" name="Google Shape;309;p6"/>
          <p:cNvSpPr/>
          <p:nvPr/>
        </p:nvSpPr>
        <p:spPr>
          <a:xfrm>
            <a:off x="9549170" y="4742074"/>
            <a:ext cx="2136600" cy="1716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059669"/>
              </a:buClr>
              <a:buSzPts val="900"/>
              <a:buFont typeface="Inter"/>
              <a:buNone/>
            </a:pPr>
            <a:r>
              <a:rPr b="1" i="0" lang="en-US" sz="900" u="none" cap="none" strike="noStrike">
                <a:solidFill>
                  <a:srgbClr val="059669"/>
                </a:solidFill>
                <a:latin typeface="Inter"/>
                <a:ea typeface="Inter"/>
                <a:cs typeface="Inter"/>
                <a:sym typeface="Inter"/>
              </a:rPr>
              <a:t>Key Finding</a:t>
            </a:r>
            <a:endParaRPr b="0" i="0" sz="900" u="none" cap="none" strike="noStrike">
              <a:solidFill>
                <a:schemeClr val="dk1"/>
              </a:solidFill>
              <a:latin typeface="Calibri"/>
              <a:ea typeface="Calibri"/>
              <a:cs typeface="Calibri"/>
              <a:sym typeface="Calibri"/>
            </a:endParaRPr>
          </a:p>
        </p:txBody>
      </p:sp>
      <p:sp>
        <p:nvSpPr>
          <p:cNvPr id="310" name="Google Shape;310;p6"/>
          <p:cNvSpPr/>
          <p:nvPr/>
        </p:nvSpPr>
        <p:spPr>
          <a:xfrm>
            <a:off x="9370576" y="4942099"/>
            <a:ext cx="2136600" cy="8001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064E3B"/>
              </a:buClr>
              <a:buSzPts val="900"/>
              <a:buFont typeface="Inter"/>
              <a:buNone/>
            </a:pPr>
            <a:r>
              <a:rPr b="0" i="0" lang="en-US" sz="900" u="none" cap="none" strike="noStrike">
                <a:solidFill>
                  <a:srgbClr val="064E3B"/>
                </a:solidFill>
                <a:latin typeface="Inter"/>
                <a:ea typeface="Inter"/>
                <a:cs typeface="Inter"/>
                <a:sym typeface="Inter"/>
              </a:rPr>
              <a:t>Paid apps score marginally higher in sentiment, but the gap is narrow — both types remain in the </a:t>
            </a:r>
            <a:r>
              <a:rPr b="1" i="0" lang="en-US" sz="900" u="none" cap="none" strike="noStrike">
                <a:solidFill>
                  <a:srgbClr val="064E3B"/>
                </a:solidFill>
                <a:latin typeface="Inter"/>
                <a:ea typeface="Inter"/>
                <a:cs typeface="Inter"/>
                <a:sym typeface="Inter"/>
              </a:rPr>
              <a:t>positive</a:t>
            </a:r>
            <a:r>
              <a:rPr b="0" i="0" lang="en-US" sz="900" u="none" cap="none" strike="noStrike">
                <a:solidFill>
                  <a:srgbClr val="064E3B"/>
                </a:solidFill>
                <a:latin typeface="Inter"/>
                <a:ea typeface="Inter"/>
                <a:cs typeface="Inter"/>
                <a:sym typeface="Inter"/>
              </a:rPr>
              <a:t> range. Sentiment alone is not a decisive factor for pricing.</a:t>
            </a:r>
            <a:endParaRPr b="0" i="0" sz="900" u="none" cap="none" strike="noStrike">
              <a:solidFill>
                <a:schemeClr val="dk1"/>
              </a:solidFill>
              <a:latin typeface="Calibri"/>
              <a:ea typeface="Calibri"/>
              <a:cs typeface="Calibri"/>
              <a:sym typeface="Calibri"/>
            </a:endParaRPr>
          </a:p>
        </p:txBody>
      </p:sp>
      <p:sp>
        <p:nvSpPr>
          <p:cNvPr id="311" name="Google Shape;311;p6"/>
          <p:cNvSpPr/>
          <p:nvPr/>
        </p:nvSpPr>
        <p:spPr>
          <a:xfrm>
            <a:off x="571500" y="1241971"/>
            <a:ext cx="4640461" cy="4650000"/>
          </a:xfrm>
          <a:prstGeom prst="roundRect">
            <a:avLst>
              <a:gd fmla="val 4000" name="adj"/>
            </a:avLst>
          </a:prstGeom>
          <a:solidFill>
            <a:srgbClr val="E2E8F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12" name="Google Shape;312;p6"/>
          <p:cNvSpPr/>
          <p:nvPr/>
        </p:nvSpPr>
        <p:spPr>
          <a:xfrm>
            <a:off x="730150" y="3126984"/>
            <a:ext cx="4299900" cy="2001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0F172A"/>
              </a:buClr>
              <a:buSzPts val="1050"/>
              <a:buFont typeface="Inter"/>
              <a:buNone/>
            </a:pPr>
            <a:r>
              <a:rPr b="1" i="0" lang="en-US" sz="1050" u="none" cap="none" strike="noStrike">
                <a:solidFill>
                  <a:srgbClr val="0F172A"/>
                </a:solidFill>
                <a:latin typeface="Inter"/>
                <a:ea typeface="Inter"/>
                <a:cs typeface="Inter"/>
                <a:sym typeface="Inter"/>
              </a:rPr>
              <a:t>HOW WE MEASURED THIS</a:t>
            </a:r>
            <a:endParaRPr/>
          </a:p>
        </p:txBody>
      </p:sp>
      <p:sp>
        <p:nvSpPr>
          <p:cNvPr id="313" name="Google Shape;313;p6"/>
          <p:cNvSpPr/>
          <p:nvPr/>
        </p:nvSpPr>
        <p:spPr>
          <a:xfrm>
            <a:off x="711150" y="3418146"/>
            <a:ext cx="4179900" cy="75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125"/>
              <a:buFont typeface="Arial"/>
              <a:buNone/>
            </a:pPr>
            <a:r>
              <a:rPr b="0" i="0" lang="en-US" sz="1125" u="none" cap="none" strike="noStrike">
                <a:solidFill>
                  <a:srgbClr val="475569"/>
                </a:solidFill>
                <a:latin typeface="Calibri"/>
                <a:ea typeface="Calibri"/>
                <a:cs typeface="Calibri"/>
                <a:sym typeface="Calibri"/>
              </a:rPr>
              <a:t>We join every review to its app, then group by app type (Free vs. Paid) and average the sentiment_polarity score within each group.</a:t>
            </a:r>
            <a:endParaRPr/>
          </a:p>
        </p:txBody>
      </p:sp>
      <p:sp>
        <p:nvSpPr>
          <p:cNvPr id="314" name="Google Shape;314;p6"/>
          <p:cNvSpPr/>
          <p:nvPr/>
        </p:nvSpPr>
        <p:spPr>
          <a:xfrm>
            <a:off x="723900" y="4484821"/>
            <a:ext cx="4299900" cy="2001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100"/>
              <a:buFont typeface="Arial"/>
              <a:buNone/>
            </a:pPr>
            <a:r>
              <a:rPr b="1" i="0" lang="en-US" sz="1100" u="none" cap="none" strike="noStrike">
                <a:solidFill>
                  <a:srgbClr val="64748B"/>
                </a:solidFill>
                <a:latin typeface="Inter"/>
                <a:ea typeface="Inter"/>
                <a:cs typeface="Inter"/>
                <a:sym typeface="Inter"/>
              </a:rPr>
              <a:t>SO WHAT</a:t>
            </a:r>
            <a:endParaRPr/>
          </a:p>
        </p:txBody>
      </p:sp>
      <p:sp>
        <p:nvSpPr>
          <p:cNvPr id="315" name="Google Shape;315;p6"/>
          <p:cNvSpPr/>
          <p:nvPr/>
        </p:nvSpPr>
        <p:spPr>
          <a:xfrm>
            <a:off x="723900" y="4767934"/>
            <a:ext cx="4179900" cy="75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250"/>
              <a:buFont typeface="Arial"/>
              <a:buNone/>
            </a:pPr>
            <a:r>
              <a:rPr b="0" i="0" lang="en-US" sz="1250" u="none" cap="none" strike="noStrike">
                <a:solidFill>
                  <a:srgbClr val="0F172A"/>
                </a:solidFill>
                <a:latin typeface="Calibri"/>
                <a:ea typeface="Calibri"/>
                <a:cs typeface="Calibri"/>
                <a:sym typeface="Calibri"/>
              </a:rPr>
              <a:t>Sentiment is a weak, secondary signal</a:t>
            </a:r>
            <a:r>
              <a:rPr lang="en-US" sz="1250">
                <a:solidFill>
                  <a:srgbClr val="0F172A"/>
                </a:solidFill>
                <a:latin typeface="Calibri"/>
                <a:ea typeface="Calibri"/>
                <a:cs typeface="Calibri"/>
                <a:sym typeface="Calibri"/>
              </a:rPr>
              <a:t>. N</a:t>
            </a:r>
            <a:r>
              <a:rPr b="0" i="0" lang="en-US" sz="1250" u="none" cap="none" strike="noStrike">
                <a:solidFill>
                  <a:srgbClr val="0F172A"/>
                </a:solidFill>
                <a:latin typeface="Calibri"/>
                <a:ea typeface="Calibri"/>
                <a:cs typeface="Calibri"/>
                <a:sym typeface="Calibri"/>
              </a:rPr>
              <a:t>ot strong enough on its own to justify charging for the app.</a:t>
            </a:r>
            <a:endParaRPr/>
          </a:p>
        </p:txBody>
      </p:sp>
      <p:sp>
        <p:nvSpPr>
          <p:cNvPr id="316" name="Google Shape;316;p6"/>
          <p:cNvSpPr/>
          <p:nvPr/>
        </p:nvSpPr>
        <p:spPr>
          <a:xfrm>
            <a:off x="677300" y="1813475"/>
            <a:ext cx="4447500" cy="538500"/>
          </a:xfrm>
          <a:prstGeom prst="rect">
            <a:avLst/>
          </a:prstGeom>
          <a:noFill/>
          <a:ln>
            <a:noFill/>
          </a:ln>
        </p:spPr>
        <p:txBody>
          <a:bodyPr anchorCtr="0" anchor="ctr" bIns="0" lIns="0" spcFirstLastPara="1" rIns="0" wrap="square" tIns="0">
            <a:noAutofit/>
          </a:bodyPr>
          <a:lstStyle/>
          <a:p>
            <a:pPr indent="0" lvl="0" marL="0" marR="0" rtl="0" algn="l">
              <a:lnSpc>
                <a:spcPct val="145025"/>
              </a:lnSpc>
              <a:spcBef>
                <a:spcPts val="0"/>
              </a:spcBef>
              <a:spcAft>
                <a:spcPts val="0"/>
              </a:spcAft>
              <a:buClr>
                <a:srgbClr val="475569"/>
              </a:buClr>
              <a:buSzPts val="975"/>
              <a:buFont typeface="Inter"/>
              <a:buNone/>
            </a:pPr>
            <a:r>
              <a:rPr b="0" i="0" lang="en-US" sz="975" u="none" cap="none" strike="noStrike">
                <a:solidFill>
                  <a:srgbClr val="475569"/>
                </a:solidFill>
                <a:latin typeface="Inter"/>
                <a:ea typeface="Inter"/>
                <a:cs typeface="Inter"/>
                <a:sym typeface="Inter"/>
              </a:rPr>
              <a:t>Do paid apps generate more positive user sentiment than free apps? Measured via </a:t>
            </a:r>
            <a:r>
              <a:rPr b="0" i="0" lang="en-US" sz="900" u="none" cap="none" strike="noStrike">
                <a:solidFill>
                  <a:srgbClr val="7C3AED"/>
                </a:solidFill>
                <a:latin typeface="Calibri"/>
                <a:ea typeface="Calibri"/>
                <a:cs typeface="Calibri"/>
                <a:sym typeface="Calibri"/>
              </a:rPr>
              <a:t>sentiment_polarity</a:t>
            </a:r>
            <a:r>
              <a:rPr b="0" i="0" lang="en-US" sz="975" u="none" cap="none" strike="noStrike">
                <a:solidFill>
                  <a:srgbClr val="475569"/>
                </a:solidFill>
                <a:latin typeface="Inter"/>
                <a:ea typeface="Inter"/>
                <a:cs typeface="Inter"/>
                <a:sym typeface="Inter"/>
              </a:rPr>
              <a:t> from the reviews table.</a:t>
            </a:r>
            <a:r>
              <a:rPr lang="en-US" sz="975">
                <a:solidFill>
                  <a:srgbClr val="475569"/>
                </a:solidFill>
                <a:latin typeface="Inter"/>
                <a:ea typeface="Inter"/>
                <a:cs typeface="Inter"/>
                <a:sym typeface="Inter"/>
              </a:rPr>
              <a:t> A</a:t>
            </a:r>
            <a:r>
              <a:rPr b="0" i="0" lang="en-US" sz="975" u="none" cap="none" strike="noStrike">
                <a:solidFill>
                  <a:srgbClr val="475569"/>
                </a:solidFill>
                <a:latin typeface="Inter"/>
                <a:ea typeface="Inter"/>
                <a:cs typeface="Inter"/>
                <a:sym typeface="Inter"/>
              </a:rPr>
              <a:t> float score where </a:t>
            </a:r>
            <a:r>
              <a:rPr b="1" i="0" lang="en-US" sz="975" u="none" cap="none" strike="noStrike">
                <a:solidFill>
                  <a:srgbClr val="475569"/>
                </a:solidFill>
                <a:latin typeface="Inter"/>
                <a:ea typeface="Inter"/>
                <a:cs typeface="Inter"/>
                <a:sym typeface="Inter"/>
              </a:rPr>
              <a:t>+1 = most positive</a:t>
            </a:r>
            <a:r>
              <a:rPr b="0" i="0" lang="en-US" sz="975" u="none" cap="none" strike="noStrike">
                <a:solidFill>
                  <a:srgbClr val="475569"/>
                </a:solidFill>
                <a:latin typeface="Inter"/>
                <a:ea typeface="Inter"/>
                <a:cs typeface="Inter"/>
                <a:sym typeface="Inter"/>
              </a:rPr>
              <a:t>, </a:t>
            </a:r>
            <a:r>
              <a:rPr b="1" i="0" lang="en-US" sz="975" u="none" cap="none" strike="noStrike">
                <a:solidFill>
                  <a:srgbClr val="475569"/>
                </a:solidFill>
                <a:latin typeface="Inter"/>
                <a:ea typeface="Inter"/>
                <a:cs typeface="Inter"/>
                <a:sym typeface="Inter"/>
              </a:rPr>
              <a:t>−1 = most negative</a:t>
            </a:r>
            <a:r>
              <a:rPr b="0" i="0" lang="en-US" sz="975" u="none" cap="none" strike="noStrike">
                <a:solidFill>
                  <a:srgbClr val="475569"/>
                </a:solidFill>
                <a:latin typeface="Inter"/>
                <a:ea typeface="Inter"/>
                <a:cs typeface="Inter"/>
                <a:sym typeface="Inter"/>
              </a:rPr>
              <a:t>.</a:t>
            </a:r>
            <a:endParaRPr b="0" i="0" sz="975" u="none" cap="none" strike="noStrike">
              <a:solidFill>
                <a:schemeClr val="dk1"/>
              </a:solidFill>
              <a:latin typeface="Calibri"/>
              <a:ea typeface="Calibri"/>
              <a:cs typeface="Calibri"/>
              <a:sym typeface="Calibri"/>
            </a:endParaRPr>
          </a:p>
        </p:txBody>
      </p:sp>
      <p:sp>
        <p:nvSpPr>
          <p:cNvPr id="317" name="Google Shape;317;p6"/>
          <p:cNvSpPr/>
          <p:nvPr/>
        </p:nvSpPr>
        <p:spPr>
          <a:xfrm>
            <a:off x="677302" y="1584875"/>
            <a:ext cx="4386600" cy="1953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0F172A"/>
              </a:buClr>
              <a:buSzPts val="1050"/>
              <a:buFont typeface="Inter"/>
              <a:buNone/>
            </a:pPr>
            <a:r>
              <a:rPr b="1" i="0" lang="en-US" sz="1050" u="none" cap="none" strike="noStrike">
                <a:solidFill>
                  <a:srgbClr val="0F172A"/>
                </a:solidFill>
                <a:latin typeface="Inter"/>
                <a:ea typeface="Inter"/>
                <a:cs typeface="Inter"/>
                <a:sym typeface="Inter"/>
              </a:rPr>
              <a:t>Business Question</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2" name="Shape 322"/>
        <p:cNvGrpSpPr/>
        <p:nvPr/>
      </p:nvGrpSpPr>
      <p:grpSpPr>
        <a:xfrm>
          <a:off x="0" y="0"/>
          <a:ext cx="0" cy="0"/>
          <a:chOff x="0" y="0"/>
          <a:chExt cx="0" cy="0"/>
        </a:xfrm>
      </p:grpSpPr>
      <p:pic>
        <p:nvPicPr>
          <p:cNvPr descr="preencoded.png" id="323" name="Google Shape;323;p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324" name="Google Shape;324;p7"/>
          <p:cNvPicPr preferRelativeResize="0"/>
          <p:nvPr/>
        </p:nvPicPr>
        <p:blipFill rotWithShape="1">
          <a:blip r:embed="rId4">
            <a:alphaModFix/>
          </a:blip>
          <a:srcRect b="0" l="0" r="0" t="0"/>
          <a:stretch/>
        </p:blipFill>
        <p:spPr>
          <a:xfrm>
            <a:off x="0" y="0"/>
            <a:ext cx="12192000" cy="6858000"/>
          </a:xfrm>
          <a:prstGeom prst="rect">
            <a:avLst/>
          </a:prstGeom>
          <a:noFill/>
          <a:ln>
            <a:noFill/>
          </a:ln>
        </p:spPr>
      </p:pic>
      <p:pic>
        <p:nvPicPr>
          <p:cNvPr descr="preencoded.png" id="325" name="Google Shape;325;p7"/>
          <p:cNvPicPr preferRelativeResize="0"/>
          <p:nvPr/>
        </p:nvPicPr>
        <p:blipFill rotWithShape="1">
          <a:blip r:embed="rId5">
            <a:alphaModFix/>
          </a:blip>
          <a:srcRect b="0" l="0" r="0" t="0"/>
          <a:stretch/>
        </p:blipFill>
        <p:spPr>
          <a:xfrm>
            <a:off x="571500" y="381000"/>
            <a:ext cx="11049000" cy="670471"/>
          </a:xfrm>
          <a:prstGeom prst="rect">
            <a:avLst/>
          </a:prstGeom>
          <a:noFill/>
          <a:ln>
            <a:noFill/>
          </a:ln>
        </p:spPr>
      </p:pic>
      <p:pic>
        <p:nvPicPr>
          <p:cNvPr descr="preencoded.png" id="326" name="Google Shape;326;p7"/>
          <p:cNvPicPr preferRelativeResize="0"/>
          <p:nvPr/>
        </p:nvPicPr>
        <p:blipFill rotWithShape="1">
          <a:blip r:embed="rId6">
            <a:alphaModFix/>
          </a:blip>
          <a:srcRect b="0" l="0" r="0" t="0"/>
          <a:stretch/>
        </p:blipFill>
        <p:spPr>
          <a:xfrm>
            <a:off x="571500" y="1394375"/>
            <a:ext cx="4883795" cy="4614858"/>
          </a:xfrm>
          <a:prstGeom prst="rect">
            <a:avLst/>
          </a:prstGeom>
          <a:noFill/>
          <a:ln>
            <a:noFill/>
          </a:ln>
        </p:spPr>
      </p:pic>
      <p:pic>
        <p:nvPicPr>
          <p:cNvPr descr="preencoded.png" id="327" name="Google Shape;327;p7"/>
          <p:cNvPicPr preferRelativeResize="0"/>
          <p:nvPr/>
        </p:nvPicPr>
        <p:blipFill rotWithShape="1">
          <a:blip r:embed="rId7">
            <a:alphaModFix/>
          </a:blip>
          <a:srcRect b="0" l="0" r="0" t="0"/>
          <a:stretch/>
        </p:blipFill>
        <p:spPr>
          <a:xfrm>
            <a:off x="5760095" y="958596"/>
            <a:ext cx="5860406" cy="5486400"/>
          </a:xfrm>
          <a:prstGeom prst="rect">
            <a:avLst/>
          </a:prstGeom>
          <a:noFill/>
          <a:ln>
            <a:noFill/>
          </a:ln>
        </p:spPr>
      </p:pic>
      <p:sp>
        <p:nvSpPr>
          <p:cNvPr id="328" name="Google Shape;328;p7"/>
          <p:cNvSpPr/>
          <p:nvPr/>
        </p:nvSpPr>
        <p:spPr>
          <a:xfrm>
            <a:off x="762000" y="381000"/>
            <a:ext cx="11430000" cy="365671"/>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F172A"/>
              </a:buClr>
              <a:buSzPts val="2400"/>
              <a:buFont typeface="Inter"/>
              <a:buNone/>
            </a:pPr>
            <a:r>
              <a:rPr b="1" i="0" lang="en-US" sz="2400" u="none" cap="none" strike="noStrike">
                <a:solidFill>
                  <a:srgbClr val="0F172A"/>
                </a:solidFill>
                <a:latin typeface="Inter"/>
                <a:ea typeface="Inter"/>
                <a:cs typeface="Inter"/>
                <a:sym typeface="Inter"/>
              </a:rPr>
              <a:t>Q3: Average Pricing Trends per Category</a:t>
            </a:r>
            <a:endParaRPr b="0" i="0" sz="2400" u="none" cap="none" strike="noStrike">
              <a:solidFill>
                <a:schemeClr val="dk1"/>
              </a:solidFill>
              <a:latin typeface="Calibri"/>
              <a:ea typeface="Calibri"/>
              <a:cs typeface="Calibri"/>
              <a:sym typeface="Calibri"/>
            </a:endParaRPr>
          </a:p>
        </p:txBody>
      </p:sp>
      <p:sp>
        <p:nvSpPr>
          <p:cNvPr id="329" name="Google Shape;329;p7"/>
          <p:cNvSpPr/>
          <p:nvPr/>
        </p:nvSpPr>
        <p:spPr>
          <a:xfrm>
            <a:off x="685800" y="1594375"/>
            <a:ext cx="4731300" cy="2001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0F172A"/>
              </a:buClr>
              <a:buSzPts val="1050"/>
              <a:buFont typeface="Inter"/>
              <a:buNone/>
            </a:pPr>
            <a:r>
              <a:rPr b="1" i="0" lang="en-US" sz="1050" u="none" cap="none" strike="noStrike">
                <a:solidFill>
                  <a:srgbClr val="0F172A"/>
                </a:solidFill>
                <a:latin typeface="Inter"/>
                <a:ea typeface="Inter"/>
                <a:cs typeface="Inter"/>
                <a:sym typeface="Inter"/>
              </a:rPr>
              <a:t>BUSINESS QUESTION</a:t>
            </a:r>
            <a:endParaRPr b="0" i="0" sz="1050" u="none" cap="none" strike="noStrike">
              <a:solidFill>
                <a:schemeClr val="dk1"/>
              </a:solidFill>
              <a:latin typeface="Calibri"/>
              <a:ea typeface="Calibri"/>
              <a:cs typeface="Calibri"/>
              <a:sym typeface="Calibri"/>
            </a:endParaRPr>
          </a:p>
        </p:txBody>
      </p:sp>
      <p:sp>
        <p:nvSpPr>
          <p:cNvPr id="330" name="Google Shape;330;p7"/>
          <p:cNvSpPr/>
          <p:nvPr/>
        </p:nvSpPr>
        <p:spPr>
          <a:xfrm>
            <a:off x="685800" y="1824375"/>
            <a:ext cx="4655100" cy="6200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000000"/>
              </a:buClr>
              <a:buSzPts val="1125"/>
              <a:buFont typeface="Arial"/>
              <a:buNone/>
            </a:pPr>
            <a:r>
              <a:rPr lang="en-US" sz="1250">
                <a:solidFill>
                  <a:srgbClr val="475569"/>
                </a:solidFill>
                <a:latin typeface="Calibri"/>
                <a:ea typeface="Calibri"/>
                <a:cs typeface="Calibri"/>
                <a:sym typeface="Calibri"/>
              </a:rPr>
              <a:t>Which app categories can realistically sustain a premium paid price?</a:t>
            </a:r>
            <a:endParaRPr b="0" i="0" sz="1200" u="none" cap="none" strike="noStrike">
              <a:solidFill>
                <a:schemeClr val="dk1"/>
              </a:solidFill>
              <a:latin typeface="Calibri"/>
              <a:ea typeface="Calibri"/>
              <a:cs typeface="Calibri"/>
              <a:sym typeface="Calibri"/>
            </a:endParaRPr>
          </a:p>
        </p:txBody>
      </p:sp>
      <p:pic>
        <p:nvPicPr>
          <p:cNvPr id="331" name="Google Shape;331;p7"/>
          <p:cNvPicPr preferRelativeResize="0"/>
          <p:nvPr/>
        </p:nvPicPr>
        <p:blipFill rotWithShape="1">
          <a:blip r:embed="rId8">
            <a:alphaModFix/>
          </a:blip>
          <a:srcRect b="0" l="0" r="0" t="0"/>
          <a:stretch/>
        </p:blipFill>
        <p:spPr>
          <a:xfrm>
            <a:off x="6412400" y="1051477"/>
            <a:ext cx="4731299" cy="5228498"/>
          </a:xfrm>
          <a:prstGeom prst="rect">
            <a:avLst/>
          </a:prstGeom>
          <a:noFill/>
          <a:ln>
            <a:noFill/>
          </a:ln>
        </p:spPr>
      </p:pic>
      <p:sp>
        <p:nvSpPr>
          <p:cNvPr id="332" name="Google Shape;332;p7"/>
          <p:cNvSpPr/>
          <p:nvPr/>
        </p:nvSpPr>
        <p:spPr>
          <a:xfrm>
            <a:off x="685800" y="2544375"/>
            <a:ext cx="4731300" cy="2001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100"/>
              <a:buFont typeface="Arial"/>
              <a:buNone/>
            </a:pPr>
            <a:r>
              <a:rPr b="1" i="0" lang="en-US" sz="1100" u="none" cap="none" strike="noStrike">
                <a:solidFill>
                  <a:srgbClr val="64748B"/>
                </a:solidFill>
                <a:latin typeface="Inter"/>
                <a:ea typeface="Inter"/>
                <a:cs typeface="Inter"/>
                <a:sym typeface="Inter"/>
              </a:rPr>
              <a:t>KEY FINDING</a:t>
            </a:r>
            <a:endParaRPr b="0" i="0" sz="1200" u="none" cap="none" strike="noStrike">
              <a:solidFill>
                <a:schemeClr val="dk1"/>
              </a:solidFill>
              <a:latin typeface="Calibri"/>
              <a:ea typeface="Calibri"/>
              <a:cs typeface="Calibri"/>
              <a:sym typeface="Calibri"/>
            </a:endParaRPr>
          </a:p>
        </p:txBody>
      </p:sp>
      <p:sp>
        <p:nvSpPr>
          <p:cNvPr id="333" name="Google Shape;333;p7"/>
          <p:cNvSpPr/>
          <p:nvPr/>
        </p:nvSpPr>
        <p:spPr>
          <a:xfrm>
            <a:off x="685800" y="2774375"/>
            <a:ext cx="4655100" cy="140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250"/>
              <a:buFont typeface="Arial"/>
              <a:buNone/>
            </a:pPr>
            <a:r>
              <a:rPr b="0" i="0" lang="en-US" sz="1250" u="none" cap="none" strike="noStrike">
                <a:solidFill>
                  <a:srgbClr val="475569"/>
                </a:solidFill>
                <a:latin typeface="Calibri"/>
                <a:ea typeface="Calibri"/>
                <a:cs typeface="Calibri"/>
                <a:sym typeface="Calibri"/>
              </a:rPr>
              <a:t>Reliable pricing sits around </a:t>
            </a:r>
            <a:r>
              <a:rPr b="1" i="0" lang="en-US" sz="1250" u="none" cap="none" strike="noStrike">
                <a:solidFill>
                  <a:srgbClr val="0F172A"/>
                </a:solidFill>
                <a:latin typeface="Calibri"/>
                <a:ea typeface="Calibri"/>
                <a:cs typeface="Calibri"/>
                <a:sym typeface="Calibri"/>
              </a:rPr>
              <a:t>$9–$15</a:t>
            </a:r>
            <a:r>
              <a:rPr b="0" i="0" lang="en-US" sz="1250" u="none" cap="none" strike="noStrike">
                <a:solidFill>
                  <a:srgbClr val="475569"/>
                </a:solidFill>
                <a:latin typeface="Calibri"/>
                <a:ea typeface="Calibri"/>
                <a:cs typeface="Calibri"/>
                <a:sym typeface="Calibri"/>
              </a:rPr>
              <a:t> (Business, Medical, Productivity). Headline highs </a:t>
            </a:r>
            <a:r>
              <a:rPr lang="en-US" sz="1250">
                <a:solidFill>
                  <a:srgbClr val="475569"/>
                </a:solidFill>
                <a:latin typeface="Calibri"/>
                <a:ea typeface="Calibri"/>
                <a:cs typeface="Calibri"/>
                <a:sym typeface="Calibri"/>
              </a:rPr>
              <a:t>,</a:t>
            </a:r>
            <a:r>
              <a:rPr b="0" i="0" lang="en-US" sz="1250" u="none" cap="none" strike="noStrike">
                <a:solidFill>
                  <a:srgbClr val="475569"/>
                </a:solidFill>
                <a:latin typeface="Calibri"/>
                <a:ea typeface="Calibri"/>
                <a:cs typeface="Calibri"/>
                <a:sym typeface="Calibri"/>
              </a:rPr>
              <a:t> Finance ($170.64), Lifestyle ($124.26), Events ($109.99) </a:t>
            </a:r>
            <a:r>
              <a:rPr b="0" i="0" lang="en-US" sz="1250" u="none" cap="none" strike="noStrike">
                <a:solidFill>
                  <a:srgbClr val="475569"/>
                </a:solidFill>
                <a:latin typeface="Calibri"/>
                <a:ea typeface="Calibri"/>
                <a:cs typeface="Calibri"/>
                <a:sym typeface="Calibri"/>
              </a:rPr>
              <a:t> </a:t>
            </a:r>
            <a:r>
              <a:rPr b="0" i="0" lang="en-US" sz="1250" u="none" cap="none" strike="noStrike">
                <a:solidFill>
                  <a:srgbClr val="475569"/>
                </a:solidFill>
                <a:latin typeface="Calibri"/>
                <a:ea typeface="Calibri"/>
                <a:cs typeface="Calibri"/>
                <a:sym typeface="Calibri"/>
              </a:rPr>
              <a:t>are misleading: Events has just 1 paid app, and Finance/Lifestyle are pulled up by $400 outlier apps.</a:t>
            </a:r>
            <a:endParaRPr b="0" i="0" sz="1200" u="none" cap="none" strike="noStrike">
              <a:solidFill>
                <a:schemeClr val="dk1"/>
              </a:solidFill>
              <a:latin typeface="Calibri"/>
              <a:ea typeface="Calibri"/>
              <a:cs typeface="Calibri"/>
              <a:sym typeface="Calibri"/>
            </a:endParaRPr>
          </a:p>
        </p:txBody>
      </p:sp>
      <p:sp>
        <p:nvSpPr>
          <p:cNvPr id="334" name="Google Shape;334;p7"/>
          <p:cNvSpPr/>
          <p:nvPr/>
        </p:nvSpPr>
        <p:spPr>
          <a:xfrm>
            <a:off x="685800" y="4304375"/>
            <a:ext cx="4731300" cy="2001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100"/>
              <a:buFont typeface="Arial"/>
              <a:buNone/>
            </a:pPr>
            <a:r>
              <a:rPr b="1" i="0" lang="en-US" sz="1100" u="none" cap="none" strike="noStrike">
                <a:solidFill>
                  <a:srgbClr val="64748B"/>
                </a:solidFill>
                <a:latin typeface="Inter"/>
                <a:ea typeface="Inter"/>
                <a:cs typeface="Inter"/>
                <a:sym typeface="Inter"/>
              </a:rPr>
              <a:t>SO WHAT</a:t>
            </a:r>
            <a:endParaRPr b="0" i="0" sz="1200" u="none" cap="none" strike="noStrike">
              <a:solidFill>
                <a:schemeClr val="dk1"/>
              </a:solidFill>
              <a:latin typeface="Calibri"/>
              <a:ea typeface="Calibri"/>
              <a:cs typeface="Calibri"/>
              <a:sym typeface="Calibri"/>
            </a:endParaRPr>
          </a:p>
        </p:txBody>
      </p:sp>
      <p:sp>
        <p:nvSpPr>
          <p:cNvPr id="335" name="Google Shape;335;p7"/>
          <p:cNvSpPr/>
          <p:nvPr/>
        </p:nvSpPr>
        <p:spPr>
          <a:xfrm>
            <a:off x="685800" y="4534375"/>
            <a:ext cx="4655100" cy="80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250"/>
              <a:buFont typeface="Arial"/>
              <a:buNone/>
            </a:pPr>
            <a:r>
              <a:rPr b="0" i="0" lang="en-US" sz="1250" u="none" cap="none" strike="noStrike">
                <a:solidFill>
                  <a:srgbClr val="0F172A"/>
                </a:solidFill>
                <a:latin typeface="Calibri"/>
                <a:ea typeface="Calibri"/>
                <a:cs typeface="Calibri"/>
                <a:sym typeface="Calibri"/>
              </a:rPr>
              <a:t>Set pricing benchmarks off the stable mid-tier, not the highest raw average.</a:t>
            </a:r>
            <a:endParaRPr b="0" i="0" sz="1200" u="none" cap="none" strike="noStrike">
              <a:solidFill>
                <a:schemeClr val="dk1"/>
              </a:solidFill>
              <a:latin typeface="Calibri"/>
              <a:ea typeface="Calibri"/>
              <a:cs typeface="Calibri"/>
              <a:sym typeface="Calibri"/>
            </a:endParaRPr>
          </a:p>
        </p:txBody>
      </p:sp>
      <p:sp>
        <p:nvSpPr>
          <p:cNvPr id="336" name="Google Shape;336;p7"/>
          <p:cNvSpPr/>
          <p:nvPr/>
        </p:nvSpPr>
        <p:spPr>
          <a:xfrm>
            <a:off x="685800" y="5484375"/>
            <a:ext cx="588000" cy="260000"/>
          </a:xfrm>
          <a:prstGeom prst="roundRect">
            <a:avLst>
              <a:gd fmla="val 30000" name="adj"/>
            </a:avLst>
          </a:prstGeom>
          <a:solidFill>
            <a:srgbClr val="EEF2F6"/>
          </a:solid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475569"/>
                </a:solidFill>
                <a:latin typeface="Calibri"/>
                <a:ea typeface="Calibri"/>
                <a:cs typeface="Calibri"/>
                <a:sym typeface="Calibri"/>
              </a:rPr>
              <a:t>JOIN</a:t>
            </a:r>
            <a:endParaRPr/>
          </a:p>
        </p:txBody>
      </p:sp>
      <p:sp>
        <p:nvSpPr>
          <p:cNvPr id="337" name="Google Shape;337;p7"/>
          <p:cNvSpPr/>
          <p:nvPr/>
        </p:nvSpPr>
        <p:spPr>
          <a:xfrm>
            <a:off x="1333800" y="5484375"/>
            <a:ext cx="670000" cy="260000"/>
          </a:xfrm>
          <a:prstGeom prst="roundRect">
            <a:avLst>
              <a:gd fmla="val 30000" name="adj"/>
            </a:avLst>
          </a:prstGeom>
          <a:solidFill>
            <a:srgbClr val="EEF2F6"/>
          </a:solid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475569"/>
                </a:solidFill>
                <a:latin typeface="Calibri"/>
                <a:ea typeface="Calibri"/>
                <a:cs typeface="Calibri"/>
                <a:sym typeface="Calibri"/>
              </a:rPr>
              <a:t>WHERE</a:t>
            </a:r>
            <a:endParaRPr/>
          </a:p>
        </p:txBody>
      </p:sp>
      <p:sp>
        <p:nvSpPr>
          <p:cNvPr id="338" name="Google Shape;338;p7"/>
          <p:cNvSpPr/>
          <p:nvPr/>
        </p:nvSpPr>
        <p:spPr>
          <a:xfrm>
            <a:off x="2063800" y="5484375"/>
            <a:ext cx="916000" cy="260000"/>
          </a:xfrm>
          <a:prstGeom prst="roundRect">
            <a:avLst>
              <a:gd fmla="val 30000" name="adj"/>
            </a:avLst>
          </a:prstGeom>
          <a:solidFill>
            <a:srgbClr val="EEF2F6"/>
          </a:solid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475569"/>
                </a:solidFill>
                <a:latin typeface="Calibri"/>
                <a:ea typeface="Calibri"/>
                <a:cs typeface="Calibri"/>
                <a:sym typeface="Calibri"/>
              </a:rPr>
              <a:t>GROUP BY</a:t>
            </a:r>
            <a:endParaRPr/>
          </a:p>
        </p:txBody>
      </p:sp>
      <p:sp>
        <p:nvSpPr>
          <p:cNvPr id="339" name="Google Shape;339;p7"/>
          <p:cNvSpPr/>
          <p:nvPr/>
        </p:nvSpPr>
        <p:spPr>
          <a:xfrm>
            <a:off x="3039800" y="5484375"/>
            <a:ext cx="1490000" cy="260000"/>
          </a:xfrm>
          <a:prstGeom prst="roundRect">
            <a:avLst>
              <a:gd fmla="val 30000" name="adj"/>
            </a:avLst>
          </a:prstGeom>
          <a:solidFill>
            <a:srgbClr val="EEF2F6"/>
          </a:solid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475569"/>
                </a:solidFill>
                <a:latin typeface="Calibri"/>
                <a:ea typeface="Calibri"/>
                <a:cs typeface="Calibri"/>
                <a:sym typeface="Calibri"/>
              </a:rPr>
              <a:t>MIN · MAX · AVG</a:t>
            </a:r>
            <a:endParaRPr/>
          </a:p>
        </p:txBody>
      </p:sp>
      <p:pic>
        <p:nvPicPr>
          <p:cNvPr id="340" name="Google Shape;340;p7"/>
          <p:cNvPicPr preferRelativeResize="0"/>
          <p:nvPr/>
        </p:nvPicPr>
        <p:blipFill>
          <a:blip r:embed="rId9">
            <a:alphaModFix/>
          </a:blip>
          <a:stretch>
            <a:fillRect/>
          </a:stretch>
        </p:blipFill>
        <p:spPr>
          <a:xfrm>
            <a:off x="9271950" y="4018975"/>
            <a:ext cx="1184400" cy="1184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5" name="Shape 345"/>
        <p:cNvGrpSpPr/>
        <p:nvPr/>
      </p:nvGrpSpPr>
      <p:grpSpPr>
        <a:xfrm>
          <a:off x="0" y="0"/>
          <a:ext cx="0" cy="0"/>
          <a:chOff x="0" y="0"/>
          <a:chExt cx="0" cy="0"/>
        </a:xfrm>
      </p:grpSpPr>
      <p:pic>
        <p:nvPicPr>
          <p:cNvPr descr="preencoded.png" id="346" name="Google Shape;346;p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347" name="Google Shape;347;p8"/>
          <p:cNvPicPr preferRelativeResize="0"/>
          <p:nvPr/>
        </p:nvPicPr>
        <p:blipFill rotWithShape="1">
          <a:blip r:embed="rId4">
            <a:alphaModFix/>
          </a:blip>
          <a:srcRect b="0" l="0" r="0" t="0"/>
          <a:stretch/>
        </p:blipFill>
        <p:spPr>
          <a:xfrm>
            <a:off x="0" y="0"/>
            <a:ext cx="12192000" cy="6858000"/>
          </a:xfrm>
          <a:prstGeom prst="rect">
            <a:avLst/>
          </a:prstGeom>
          <a:noFill/>
          <a:ln>
            <a:noFill/>
          </a:ln>
        </p:spPr>
      </p:pic>
      <p:pic>
        <p:nvPicPr>
          <p:cNvPr descr="preencoded.png" id="348" name="Google Shape;348;p8"/>
          <p:cNvPicPr preferRelativeResize="0"/>
          <p:nvPr/>
        </p:nvPicPr>
        <p:blipFill rotWithShape="1">
          <a:blip r:embed="rId5">
            <a:alphaModFix/>
          </a:blip>
          <a:srcRect b="0" l="0" r="0" t="0"/>
          <a:stretch/>
        </p:blipFill>
        <p:spPr>
          <a:xfrm>
            <a:off x="571500" y="381000"/>
            <a:ext cx="11049000" cy="670471"/>
          </a:xfrm>
          <a:prstGeom prst="rect">
            <a:avLst/>
          </a:prstGeom>
          <a:noFill/>
          <a:ln>
            <a:noFill/>
          </a:ln>
        </p:spPr>
      </p:pic>
      <p:sp>
        <p:nvSpPr>
          <p:cNvPr id="349" name="Google Shape;349;p8"/>
          <p:cNvSpPr/>
          <p:nvPr/>
        </p:nvSpPr>
        <p:spPr>
          <a:xfrm>
            <a:off x="762000" y="381000"/>
            <a:ext cx="11430000" cy="365671"/>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F172A"/>
              </a:buClr>
              <a:buSzPts val="2400"/>
              <a:buFont typeface="Inter"/>
              <a:buNone/>
            </a:pPr>
            <a:r>
              <a:rPr b="1" i="0" lang="en-US" sz="2400" u="none" cap="none" strike="noStrike">
                <a:solidFill>
                  <a:srgbClr val="0F172A"/>
                </a:solidFill>
                <a:latin typeface="Inter"/>
                <a:ea typeface="Inter"/>
                <a:cs typeface="Inter"/>
                <a:sym typeface="Inter"/>
              </a:rPr>
              <a:t>Q4: Total Install Counts by Category</a:t>
            </a:r>
            <a:endParaRPr b="0" i="0" sz="2400" u="none" cap="none" strike="noStrike">
              <a:solidFill>
                <a:schemeClr val="dk1"/>
              </a:solidFill>
              <a:latin typeface="Calibri"/>
              <a:ea typeface="Calibri"/>
              <a:cs typeface="Calibri"/>
              <a:sym typeface="Calibri"/>
            </a:endParaRPr>
          </a:p>
        </p:txBody>
      </p:sp>
      <p:pic>
        <p:nvPicPr>
          <p:cNvPr id="350" name="Google Shape;350;p8"/>
          <p:cNvPicPr preferRelativeResize="0"/>
          <p:nvPr/>
        </p:nvPicPr>
        <p:blipFill rotWithShape="1">
          <a:blip r:embed="rId6">
            <a:alphaModFix/>
          </a:blip>
          <a:srcRect b="0" l="0" r="0" t="0"/>
          <a:stretch/>
        </p:blipFill>
        <p:spPr>
          <a:xfrm>
            <a:off x="6065850" y="1051475"/>
            <a:ext cx="5188223" cy="5721777"/>
          </a:xfrm>
          <a:prstGeom prst="rect">
            <a:avLst/>
          </a:prstGeom>
          <a:noFill/>
          <a:ln>
            <a:noFill/>
          </a:ln>
        </p:spPr>
      </p:pic>
      <p:sp>
        <p:nvSpPr>
          <p:cNvPr id="351" name="Google Shape;351;p8"/>
          <p:cNvSpPr/>
          <p:nvPr/>
        </p:nvSpPr>
        <p:spPr>
          <a:xfrm>
            <a:off x="264025" y="1567000"/>
            <a:ext cx="5484000" cy="4541400"/>
          </a:xfrm>
          <a:prstGeom prst="roundRect">
            <a:avLst>
              <a:gd fmla="val 4000" name="adj"/>
            </a:avLst>
          </a:prstGeom>
          <a:solidFill>
            <a:srgbClr val="E2E8F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52" name="Google Shape;352;p8"/>
          <p:cNvSpPr/>
          <p:nvPr/>
        </p:nvSpPr>
        <p:spPr>
          <a:xfrm>
            <a:off x="800100" y="1997650"/>
            <a:ext cx="3840600" cy="50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300"/>
              <a:buFont typeface="Arial"/>
              <a:buNone/>
            </a:pPr>
            <a:r>
              <a:rPr b="0" i="0" lang="en-US" sz="1300" u="none" cap="none" strike="noStrike">
                <a:solidFill>
                  <a:srgbClr val="475569"/>
                </a:solidFill>
                <a:latin typeface="Calibri"/>
                <a:ea typeface="Calibri"/>
                <a:cs typeface="Calibri"/>
                <a:sym typeface="Calibri"/>
              </a:rPr>
              <a:t>Which categories give the agency the most reach?</a:t>
            </a:r>
            <a:endParaRPr b="0" i="0" sz="1200" u="none" cap="none" strike="noStrike">
              <a:solidFill>
                <a:schemeClr val="dk1"/>
              </a:solidFill>
              <a:latin typeface="Calibri"/>
              <a:ea typeface="Calibri"/>
              <a:cs typeface="Calibri"/>
              <a:sym typeface="Calibri"/>
            </a:endParaRPr>
          </a:p>
        </p:txBody>
      </p:sp>
      <p:sp>
        <p:nvSpPr>
          <p:cNvPr id="353" name="Google Shape;353;p8"/>
          <p:cNvSpPr/>
          <p:nvPr/>
        </p:nvSpPr>
        <p:spPr>
          <a:xfrm>
            <a:off x="800100" y="1747650"/>
            <a:ext cx="4200000" cy="2001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100"/>
              <a:buFont typeface="Arial"/>
              <a:buNone/>
            </a:pPr>
            <a:r>
              <a:rPr b="1" i="0" lang="en-US" sz="1100" u="none" cap="none" strike="noStrike">
                <a:solidFill>
                  <a:srgbClr val="64748B"/>
                </a:solidFill>
                <a:latin typeface="Inter"/>
                <a:ea typeface="Inter"/>
                <a:cs typeface="Inter"/>
                <a:sym typeface="Inter"/>
              </a:rPr>
              <a:t>BUSINESS QUESTION</a:t>
            </a:r>
            <a:endParaRPr b="0" i="0" sz="1200" u="none" cap="none" strike="noStrike">
              <a:solidFill>
                <a:schemeClr val="dk1"/>
              </a:solidFill>
              <a:latin typeface="Calibri"/>
              <a:ea typeface="Calibri"/>
              <a:cs typeface="Calibri"/>
              <a:sym typeface="Calibri"/>
            </a:endParaRPr>
          </a:p>
        </p:txBody>
      </p:sp>
      <p:pic>
        <p:nvPicPr>
          <p:cNvPr descr="preencoded.png" id="354" name="Google Shape;354;p8"/>
          <p:cNvPicPr preferRelativeResize="0"/>
          <p:nvPr/>
        </p:nvPicPr>
        <p:blipFill rotWithShape="1">
          <a:blip r:embed="rId7">
            <a:alphaModFix/>
          </a:blip>
          <a:srcRect b="0" l="0" r="0" t="0"/>
          <a:stretch/>
        </p:blipFill>
        <p:spPr>
          <a:xfrm>
            <a:off x="571500" y="4530923"/>
            <a:ext cx="2091630" cy="628650"/>
          </a:xfrm>
          <a:prstGeom prst="rect">
            <a:avLst/>
          </a:prstGeom>
          <a:noFill/>
          <a:ln>
            <a:noFill/>
          </a:ln>
        </p:spPr>
      </p:pic>
      <p:pic>
        <p:nvPicPr>
          <p:cNvPr descr="preencoded.png" id="355" name="Google Shape;355;p8"/>
          <p:cNvPicPr preferRelativeResize="0"/>
          <p:nvPr/>
        </p:nvPicPr>
        <p:blipFill rotWithShape="1">
          <a:blip r:embed="rId8">
            <a:alphaModFix/>
          </a:blip>
          <a:srcRect b="0" l="0" r="0" t="0"/>
          <a:stretch/>
        </p:blipFill>
        <p:spPr>
          <a:xfrm>
            <a:off x="685800" y="4747320"/>
            <a:ext cx="228600" cy="195858"/>
          </a:xfrm>
          <a:prstGeom prst="rect">
            <a:avLst/>
          </a:prstGeom>
          <a:noFill/>
          <a:ln>
            <a:noFill/>
          </a:ln>
        </p:spPr>
      </p:pic>
      <p:pic>
        <p:nvPicPr>
          <p:cNvPr descr="preencoded.png" id="356" name="Google Shape;356;p8"/>
          <p:cNvPicPr preferRelativeResize="0"/>
          <p:nvPr/>
        </p:nvPicPr>
        <p:blipFill rotWithShape="1">
          <a:blip r:embed="rId9">
            <a:alphaModFix/>
          </a:blip>
          <a:srcRect b="0" l="0" r="0" t="0"/>
          <a:stretch/>
        </p:blipFill>
        <p:spPr>
          <a:xfrm>
            <a:off x="2777430" y="4530923"/>
            <a:ext cx="2091779" cy="628650"/>
          </a:xfrm>
          <a:prstGeom prst="rect">
            <a:avLst/>
          </a:prstGeom>
          <a:noFill/>
          <a:ln>
            <a:noFill/>
          </a:ln>
        </p:spPr>
      </p:pic>
      <p:pic>
        <p:nvPicPr>
          <p:cNvPr descr="preencoded.png" id="357" name="Google Shape;357;p8"/>
          <p:cNvPicPr preferRelativeResize="0"/>
          <p:nvPr/>
        </p:nvPicPr>
        <p:blipFill rotWithShape="1">
          <a:blip r:embed="rId10">
            <a:alphaModFix/>
          </a:blip>
          <a:srcRect b="0" l="0" r="0" t="0"/>
          <a:stretch/>
        </p:blipFill>
        <p:spPr>
          <a:xfrm>
            <a:off x="2891730" y="4755803"/>
            <a:ext cx="228600" cy="178891"/>
          </a:xfrm>
          <a:prstGeom prst="rect">
            <a:avLst/>
          </a:prstGeom>
          <a:noFill/>
          <a:ln>
            <a:noFill/>
          </a:ln>
        </p:spPr>
      </p:pic>
      <p:pic>
        <p:nvPicPr>
          <p:cNvPr descr="preencoded.png" id="358" name="Google Shape;358;p8"/>
          <p:cNvPicPr preferRelativeResize="0"/>
          <p:nvPr/>
        </p:nvPicPr>
        <p:blipFill rotWithShape="1">
          <a:blip r:embed="rId7">
            <a:alphaModFix/>
          </a:blip>
          <a:srcRect b="0" l="0" r="0" t="0"/>
          <a:stretch/>
        </p:blipFill>
        <p:spPr>
          <a:xfrm>
            <a:off x="571500" y="5273873"/>
            <a:ext cx="2091630" cy="628650"/>
          </a:xfrm>
          <a:prstGeom prst="rect">
            <a:avLst/>
          </a:prstGeom>
          <a:noFill/>
          <a:ln>
            <a:noFill/>
          </a:ln>
        </p:spPr>
      </p:pic>
      <p:pic>
        <p:nvPicPr>
          <p:cNvPr descr="preencoded.png" id="359" name="Google Shape;359;p8"/>
          <p:cNvPicPr preferRelativeResize="0"/>
          <p:nvPr/>
        </p:nvPicPr>
        <p:blipFill rotWithShape="1">
          <a:blip r:embed="rId11">
            <a:alphaModFix/>
          </a:blip>
          <a:srcRect b="0" l="0" r="0" t="0"/>
          <a:stretch/>
        </p:blipFill>
        <p:spPr>
          <a:xfrm>
            <a:off x="685800" y="5494734"/>
            <a:ext cx="228600" cy="186928"/>
          </a:xfrm>
          <a:prstGeom prst="rect">
            <a:avLst/>
          </a:prstGeom>
          <a:noFill/>
          <a:ln>
            <a:noFill/>
          </a:ln>
        </p:spPr>
      </p:pic>
      <p:pic>
        <p:nvPicPr>
          <p:cNvPr descr="preencoded.png" id="360" name="Google Shape;360;p8"/>
          <p:cNvPicPr preferRelativeResize="0"/>
          <p:nvPr/>
        </p:nvPicPr>
        <p:blipFill rotWithShape="1">
          <a:blip r:embed="rId9">
            <a:alphaModFix/>
          </a:blip>
          <a:srcRect b="0" l="0" r="0" t="0"/>
          <a:stretch/>
        </p:blipFill>
        <p:spPr>
          <a:xfrm>
            <a:off x="2777430" y="5273873"/>
            <a:ext cx="2091779" cy="628650"/>
          </a:xfrm>
          <a:prstGeom prst="rect">
            <a:avLst/>
          </a:prstGeom>
          <a:noFill/>
          <a:ln>
            <a:noFill/>
          </a:ln>
        </p:spPr>
      </p:pic>
      <p:pic>
        <p:nvPicPr>
          <p:cNvPr descr="preencoded.png" id="361" name="Google Shape;361;p8"/>
          <p:cNvPicPr preferRelativeResize="0"/>
          <p:nvPr/>
        </p:nvPicPr>
        <p:blipFill rotWithShape="1">
          <a:blip r:embed="rId12">
            <a:alphaModFix/>
          </a:blip>
          <a:srcRect b="0" l="0" r="0" t="0"/>
          <a:stretch/>
        </p:blipFill>
        <p:spPr>
          <a:xfrm>
            <a:off x="2891730" y="5494734"/>
            <a:ext cx="228600" cy="186928"/>
          </a:xfrm>
          <a:prstGeom prst="rect">
            <a:avLst/>
          </a:prstGeom>
          <a:noFill/>
          <a:ln>
            <a:noFill/>
          </a:ln>
        </p:spPr>
      </p:pic>
      <p:sp>
        <p:nvSpPr>
          <p:cNvPr id="362" name="Google Shape;362;p8"/>
          <p:cNvSpPr/>
          <p:nvPr/>
        </p:nvSpPr>
        <p:spPr>
          <a:xfrm>
            <a:off x="1028700" y="4645223"/>
            <a:ext cx="1520130" cy="40005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475569"/>
              </a:buClr>
              <a:buSzPts val="1050"/>
              <a:buFont typeface="Inter"/>
              <a:buNone/>
            </a:pPr>
            <a:r>
              <a:rPr b="1" i="0" lang="en-US" sz="1050" u="none" cap="none" strike="noStrike">
                <a:solidFill>
                  <a:srgbClr val="475569"/>
                </a:solidFill>
                <a:latin typeface="Inter"/>
                <a:ea typeface="Inter"/>
                <a:cs typeface="Inter"/>
                <a:sym typeface="Inter"/>
              </a:rPr>
              <a:t>LEFT JOIN Implementation</a:t>
            </a:r>
            <a:endParaRPr b="0" i="0" sz="1050" u="none" cap="none" strike="noStrike">
              <a:solidFill>
                <a:schemeClr val="dk1"/>
              </a:solidFill>
              <a:latin typeface="Calibri"/>
              <a:ea typeface="Calibri"/>
              <a:cs typeface="Calibri"/>
              <a:sym typeface="Calibri"/>
            </a:endParaRPr>
          </a:p>
        </p:txBody>
      </p:sp>
      <p:sp>
        <p:nvSpPr>
          <p:cNvPr id="363" name="Google Shape;363;p8"/>
          <p:cNvSpPr/>
          <p:nvPr/>
        </p:nvSpPr>
        <p:spPr>
          <a:xfrm>
            <a:off x="3234630" y="4645223"/>
            <a:ext cx="1520279" cy="40005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475569"/>
              </a:buClr>
              <a:buSzPts val="1050"/>
              <a:buFont typeface="Inter"/>
              <a:buNone/>
            </a:pPr>
            <a:r>
              <a:rPr b="1" i="0" lang="en-US" sz="1050" u="none" cap="none" strike="noStrike">
                <a:solidFill>
                  <a:srgbClr val="475569"/>
                </a:solidFill>
                <a:latin typeface="Inter"/>
                <a:ea typeface="Inter"/>
                <a:cs typeface="Inter"/>
                <a:sym typeface="Inter"/>
              </a:rPr>
              <a:t>Aggregation by Category</a:t>
            </a:r>
            <a:endParaRPr b="0" i="0" sz="1050" u="none" cap="none" strike="noStrike">
              <a:solidFill>
                <a:schemeClr val="dk1"/>
              </a:solidFill>
              <a:latin typeface="Calibri"/>
              <a:ea typeface="Calibri"/>
              <a:cs typeface="Calibri"/>
              <a:sym typeface="Calibri"/>
            </a:endParaRPr>
          </a:p>
        </p:txBody>
      </p:sp>
      <p:sp>
        <p:nvSpPr>
          <p:cNvPr id="364" name="Google Shape;364;p8"/>
          <p:cNvSpPr/>
          <p:nvPr/>
        </p:nvSpPr>
        <p:spPr>
          <a:xfrm>
            <a:off x="1028700" y="5388173"/>
            <a:ext cx="1520130" cy="40005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475569"/>
              </a:buClr>
              <a:buSzPts val="1050"/>
              <a:buFont typeface="Inter"/>
              <a:buNone/>
            </a:pPr>
            <a:r>
              <a:rPr b="1" i="0" lang="en-US" sz="1050" u="none" cap="none" strike="noStrike">
                <a:solidFill>
                  <a:srgbClr val="475569"/>
                </a:solidFill>
                <a:latin typeface="Inter"/>
                <a:ea typeface="Inter"/>
                <a:cs typeface="Inter"/>
                <a:sym typeface="Inter"/>
              </a:rPr>
              <a:t>Descending Volume Rank</a:t>
            </a:r>
            <a:endParaRPr b="0" i="0" sz="1050" u="none" cap="none" strike="noStrike">
              <a:solidFill>
                <a:schemeClr val="dk1"/>
              </a:solidFill>
              <a:latin typeface="Calibri"/>
              <a:ea typeface="Calibri"/>
              <a:cs typeface="Calibri"/>
              <a:sym typeface="Calibri"/>
            </a:endParaRPr>
          </a:p>
        </p:txBody>
      </p:sp>
      <p:sp>
        <p:nvSpPr>
          <p:cNvPr id="365" name="Google Shape;365;p8"/>
          <p:cNvSpPr/>
          <p:nvPr/>
        </p:nvSpPr>
        <p:spPr>
          <a:xfrm>
            <a:off x="3234630" y="5388173"/>
            <a:ext cx="1520279" cy="40005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475569"/>
              </a:buClr>
              <a:buSzPts val="1050"/>
              <a:buFont typeface="Inter"/>
              <a:buNone/>
            </a:pPr>
            <a:r>
              <a:rPr b="1" i="0" lang="en-US" sz="1050" u="none" cap="none" strike="noStrike">
                <a:solidFill>
                  <a:srgbClr val="475569"/>
                </a:solidFill>
                <a:latin typeface="Inter"/>
                <a:ea typeface="Inter"/>
                <a:cs typeface="Inter"/>
                <a:sym typeface="Inter"/>
              </a:rPr>
              <a:t>All 33 Categories Included</a:t>
            </a:r>
            <a:endParaRPr b="0" i="0" sz="1050" u="none" cap="none" strike="noStrike">
              <a:solidFill>
                <a:schemeClr val="dk1"/>
              </a:solidFill>
              <a:latin typeface="Calibri"/>
              <a:ea typeface="Calibri"/>
              <a:cs typeface="Calibri"/>
              <a:sym typeface="Calibri"/>
            </a:endParaRPr>
          </a:p>
        </p:txBody>
      </p:sp>
      <p:sp>
        <p:nvSpPr>
          <p:cNvPr id="366" name="Google Shape;366;p8"/>
          <p:cNvSpPr/>
          <p:nvPr/>
        </p:nvSpPr>
        <p:spPr>
          <a:xfrm>
            <a:off x="800100" y="2617650"/>
            <a:ext cx="4200000" cy="2001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100"/>
              <a:buFont typeface="Arial"/>
              <a:buNone/>
            </a:pPr>
            <a:r>
              <a:rPr b="1" i="0" lang="en-US" sz="1100" u="none" cap="none" strike="noStrike">
                <a:solidFill>
                  <a:srgbClr val="64748B"/>
                </a:solidFill>
                <a:latin typeface="Inter"/>
                <a:ea typeface="Inter"/>
                <a:cs typeface="Inter"/>
                <a:sym typeface="Inter"/>
              </a:rPr>
              <a:t>KEY FINDING</a:t>
            </a:r>
            <a:endParaRPr b="0" i="0" sz="1200" u="none" cap="none" strike="noStrike">
              <a:solidFill>
                <a:schemeClr val="dk1"/>
              </a:solidFill>
              <a:latin typeface="Calibri"/>
              <a:ea typeface="Calibri"/>
              <a:cs typeface="Calibri"/>
              <a:sym typeface="Calibri"/>
            </a:endParaRPr>
          </a:p>
        </p:txBody>
      </p:sp>
      <p:sp>
        <p:nvSpPr>
          <p:cNvPr id="367" name="Google Shape;367;p8"/>
          <p:cNvSpPr/>
          <p:nvPr/>
        </p:nvSpPr>
        <p:spPr>
          <a:xfrm>
            <a:off x="800100" y="2867650"/>
            <a:ext cx="4665000" cy="75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300"/>
              <a:buFont typeface="Arial"/>
              <a:buNone/>
            </a:pPr>
            <a:r>
              <a:rPr b="0" i="0" lang="en-US" sz="1300" u="none" cap="none" strike="noStrike">
                <a:solidFill>
                  <a:srgbClr val="475569"/>
                </a:solidFill>
                <a:latin typeface="Calibri"/>
                <a:ea typeface="Calibri"/>
                <a:cs typeface="Calibri"/>
                <a:sym typeface="Calibri"/>
              </a:rPr>
              <a:t>Game (</a:t>
            </a:r>
            <a:r>
              <a:rPr b="1" i="0" lang="en-US" sz="1300" u="none" cap="none" strike="noStrike">
                <a:solidFill>
                  <a:srgbClr val="0F172A"/>
                </a:solidFill>
                <a:latin typeface="Calibri"/>
                <a:ea typeface="Calibri"/>
                <a:cs typeface="Calibri"/>
                <a:sym typeface="Calibri"/>
              </a:rPr>
              <a:t>31.5B</a:t>
            </a:r>
            <a:r>
              <a:rPr b="0" i="0" lang="en-US" sz="1300" u="none" cap="none" strike="noStrike">
                <a:solidFill>
                  <a:srgbClr val="475569"/>
                </a:solidFill>
                <a:latin typeface="Calibri"/>
                <a:ea typeface="Calibri"/>
                <a:cs typeface="Calibri"/>
                <a:sym typeface="Calibri"/>
              </a:rPr>
              <a:t> installs) and Communication (</a:t>
            </a:r>
            <a:r>
              <a:rPr b="1" i="0" lang="en-US" sz="1300" u="none" cap="none" strike="noStrike">
                <a:solidFill>
                  <a:srgbClr val="0F172A"/>
                </a:solidFill>
                <a:latin typeface="Calibri"/>
                <a:ea typeface="Calibri"/>
                <a:cs typeface="Calibri"/>
                <a:sym typeface="Calibri"/>
              </a:rPr>
              <a:t>24.2B</a:t>
            </a:r>
            <a:r>
              <a:rPr b="0" i="0" lang="en-US" sz="1300" u="none" cap="none" strike="noStrike">
                <a:solidFill>
                  <a:srgbClr val="475569"/>
                </a:solidFill>
                <a:latin typeface="Calibri"/>
                <a:ea typeface="Calibri"/>
                <a:cs typeface="Calibri"/>
                <a:sym typeface="Calibri"/>
              </a:rPr>
              <a:t>) dominate reach. Finance </a:t>
            </a:r>
            <a:r>
              <a:rPr lang="en-US" sz="1300">
                <a:solidFill>
                  <a:srgbClr val="475569"/>
                </a:solidFill>
                <a:latin typeface="Calibri"/>
                <a:ea typeface="Calibri"/>
                <a:cs typeface="Calibri"/>
                <a:sym typeface="Calibri"/>
              </a:rPr>
              <a:t>,</a:t>
            </a:r>
            <a:r>
              <a:rPr b="0" i="0" lang="en-US" sz="1300" u="none" cap="none" strike="noStrike">
                <a:solidFill>
                  <a:srgbClr val="475569"/>
                </a:solidFill>
                <a:latin typeface="Calibri"/>
                <a:ea typeface="Calibri"/>
                <a:cs typeface="Calibri"/>
                <a:sym typeface="Calibri"/>
              </a:rPr>
              <a:t> the highest-priced category</a:t>
            </a:r>
            <a:r>
              <a:rPr lang="en-US" sz="1300">
                <a:solidFill>
                  <a:srgbClr val="475569"/>
                </a:solidFill>
                <a:latin typeface="Calibri"/>
                <a:ea typeface="Calibri"/>
                <a:cs typeface="Calibri"/>
                <a:sym typeface="Calibri"/>
              </a:rPr>
              <a:t>,</a:t>
            </a:r>
            <a:r>
              <a:rPr b="0" i="0" lang="en-US" sz="1300" u="none" cap="none" strike="noStrike">
                <a:solidFill>
                  <a:srgbClr val="475569"/>
                </a:solidFill>
                <a:latin typeface="Calibri"/>
                <a:ea typeface="Calibri"/>
                <a:cs typeface="Calibri"/>
                <a:sym typeface="Calibri"/>
              </a:rPr>
              <a:t> ranks only ~15th (770M).</a:t>
            </a:r>
            <a:endParaRPr b="0" i="0" sz="1200" u="none" cap="none" strike="noStrike">
              <a:solidFill>
                <a:schemeClr val="dk1"/>
              </a:solidFill>
              <a:latin typeface="Calibri"/>
              <a:ea typeface="Calibri"/>
              <a:cs typeface="Calibri"/>
              <a:sym typeface="Calibri"/>
            </a:endParaRPr>
          </a:p>
        </p:txBody>
      </p:sp>
      <p:sp>
        <p:nvSpPr>
          <p:cNvPr id="368" name="Google Shape;368;p8"/>
          <p:cNvSpPr/>
          <p:nvPr/>
        </p:nvSpPr>
        <p:spPr>
          <a:xfrm>
            <a:off x="800100" y="3737650"/>
            <a:ext cx="4200000" cy="2001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100"/>
              <a:buFont typeface="Arial"/>
              <a:buNone/>
            </a:pPr>
            <a:r>
              <a:rPr b="1" i="0" lang="en-US" sz="1100" u="none" cap="none" strike="noStrike">
                <a:solidFill>
                  <a:srgbClr val="64748B"/>
                </a:solidFill>
                <a:latin typeface="Inter"/>
                <a:ea typeface="Inter"/>
                <a:cs typeface="Inter"/>
                <a:sym typeface="Inter"/>
              </a:rPr>
              <a:t>SO WHAT</a:t>
            </a:r>
            <a:endParaRPr b="0" i="0" sz="1200" u="none" cap="none" strike="noStrike">
              <a:solidFill>
                <a:schemeClr val="dk1"/>
              </a:solidFill>
              <a:latin typeface="Calibri"/>
              <a:ea typeface="Calibri"/>
              <a:cs typeface="Calibri"/>
              <a:sym typeface="Calibri"/>
            </a:endParaRPr>
          </a:p>
        </p:txBody>
      </p:sp>
      <p:sp>
        <p:nvSpPr>
          <p:cNvPr id="369" name="Google Shape;369;p8"/>
          <p:cNvSpPr/>
          <p:nvPr/>
        </p:nvSpPr>
        <p:spPr>
          <a:xfrm>
            <a:off x="800100" y="4037750"/>
            <a:ext cx="3840600" cy="30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300"/>
              <a:buFont typeface="Arial"/>
              <a:buNone/>
            </a:pPr>
            <a:r>
              <a:rPr b="0" i="0" lang="en-US" sz="1300" u="none" cap="none" strike="noStrike">
                <a:solidFill>
                  <a:srgbClr val="0F172A"/>
                </a:solidFill>
                <a:latin typeface="Calibri"/>
                <a:ea typeface="Calibri"/>
                <a:cs typeface="Calibri"/>
                <a:sym typeface="Calibri"/>
              </a:rPr>
              <a:t>High price ≠ high reach </a:t>
            </a:r>
            <a:r>
              <a:rPr lang="en-US" sz="1300">
                <a:solidFill>
                  <a:srgbClr val="0F172A"/>
                </a:solidFill>
                <a:latin typeface="Calibri"/>
                <a:ea typeface="Calibri"/>
                <a:cs typeface="Calibri"/>
                <a:sym typeface="Calibri"/>
              </a:rPr>
              <a:t>,</a:t>
            </a:r>
            <a:r>
              <a:rPr b="0" i="0" lang="en-US" sz="1300" u="none" cap="none" strike="noStrike">
                <a:solidFill>
                  <a:srgbClr val="0F172A"/>
                </a:solidFill>
                <a:latin typeface="Calibri"/>
                <a:ea typeface="Calibri"/>
                <a:cs typeface="Calibri"/>
                <a:sym typeface="Calibri"/>
              </a:rPr>
              <a:t> scale needs free access.</a:t>
            </a:r>
            <a:endParaRPr b="0" i="0" sz="1200" u="none" cap="none" strike="noStrike">
              <a:solidFill>
                <a:schemeClr val="dk1"/>
              </a:solidFill>
              <a:latin typeface="Calibri"/>
              <a:ea typeface="Calibri"/>
              <a:cs typeface="Calibri"/>
              <a:sym typeface="Calibri"/>
            </a:endParaRPr>
          </a:p>
        </p:txBody>
      </p:sp>
      <p:pic>
        <p:nvPicPr>
          <p:cNvPr id="370" name="Google Shape;370;p8"/>
          <p:cNvPicPr preferRelativeResize="0"/>
          <p:nvPr/>
        </p:nvPicPr>
        <p:blipFill>
          <a:blip r:embed="rId13">
            <a:alphaModFix/>
          </a:blip>
          <a:stretch>
            <a:fillRect/>
          </a:stretch>
        </p:blipFill>
        <p:spPr>
          <a:xfrm>
            <a:off x="7181028" y="3811292"/>
            <a:ext cx="3866850" cy="2067918"/>
          </a:xfrm>
          <a:prstGeom prst="rect">
            <a:avLst/>
          </a:prstGeom>
          <a:noFill/>
          <a:ln>
            <a:noFill/>
          </a:ln>
        </p:spPr>
      </p:pic>
      <p:pic>
        <p:nvPicPr>
          <p:cNvPr id="371" name="Google Shape;371;p8"/>
          <p:cNvPicPr preferRelativeResize="0"/>
          <p:nvPr/>
        </p:nvPicPr>
        <p:blipFill>
          <a:blip r:embed="rId14">
            <a:alphaModFix/>
          </a:blip>
          <a:stretch>
            <a:fillRect/>
          </a:stretch>
        </p:blipFill>
        <p:spPr>
          <a:xfrm>
            <a:off x="8572362" y="4037750"/>
            <a:ext cx="1084200" cy="1084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6" name="Shape 376"/>
        <p:cNvGrpSpPr/>
        <p:nvPr/>
      </p:nvGrpSpPr>
      <p:grpSpPr>
        <a:xfrm>
          <a:off x="0" y="0"/>
          <a:ext cx="0" cy="0"/>
          <a:chOff x="0" y="0"/>
          <a:chExt cx="0" cy="0"/>
        </a:xfrm>
      </p:grpSpPr>
      <p:pic>
        <p:nvPicPr>
          <p:cNvPr descr="preencoded.png" id="377" name="Google Shape;377;p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378" name="Google Shape;378;p9"/>
          <p:cNvPicPr preferRelativeResize="0"/>
          <p:nvPr/>
        </p:nvPicPr>
        <p:blipFill rotWithShape="1">
          <a:blip r:embed="rId4">
            <a:alphaModFix/>
          </a:blip>
          <a:srcRect b="0" l="0" r="0" t="0"/>
          <a:stretch/>
        </p:blipFill>
        <p:spPr>
          <a:xfrm>
            <a:off x="0" y="0"/>
            <a:ext cx="12192000" cy="6858000"/>
          </a:xfrm>
          <a:prstGeom prst="rect">
            <a:avLst/>
          </a:prstGeom>
          <a:noFill/>
          <a:ln>
            <a:noFill/>
          </a:ln>
        </p:spPr>
      </p:pic>
      <p:pic>
        <p:nvPicPr>
          <p:cNvPr descr="preencoded.png" id="379" name="Google Shape;379;p9"/>
          <p:cNvPicPr preferRelativeResize="0"/>
          <p:nvPr/>
        </p:nvPicPr>
        <p:blipFill rotWithShape="1">
          <a:blip r:embed="rId5">
            <a:alphaModFix/>
          </a:blip>
          <a:srcRect b="0" l="0" r="0" t="0"/>
          <a:stretch/>
        </p:blipFill>
        <p:spPr>
          <a:xfrm>
            <a:off x="571500" y="381000"/>
            <a:ext cx="11049000" cy="670471"/>
          </a:xfrm>
          <a:prstGeom prst="rect">
            <a:avLst/>
          </a:prstGeom>
          <a:noFill/>
          <a:ln>
            <a:noFill/>
          </a:ln>
        </p:spPr>
      </p:pic>
      <p:pic>
        <p:nvPicPr>
          <p:cNvPr descr="preencoded.png" id="380" name="Google Shape;380;p9"/>
          <p:cNvPicPr preferRelativeResize="0"/>
          <p:nvPr/>
        </p:nvPicPr>
        <p:blipFill rotWithShape="1">
          <a:blip r:embed="rId6">
            <a:alphaModFix/>
          </a:blip>
          <a:srcRect b="0" l="0" r="0" t="0"/>
          <a:stretch/>
        </p:blipFill>
        <p:spPr>
          <a:xfrm>
            <a:off x="6248400" y="1280071"/>
            <a:ext cx="2609850" cy="857250"/>
          </a:xfrm>
          <a:prstGeom prst="rect">
            <a:avLst/>
          </a:prstGeom>
          <a:noFill/>
          <a:ln>
            <a:noFill/>
          </a:ln>
        </p:spPr>
      </p:pic>
      <p:pic>
        <p:nvPicPr>
          <p:cNvPr descr="preencoded.png" id="381" name="Google Shape;381;p9"/>
          <p:cNvPicPr preferRelativeResize="0"/>
          <p:nvPr/>
        </p:nvPicPr>
        <p:blipFill rotWithShape="1">
          <a:blip r:embed="rId6">
            <a:alphaModFix/>
          </a:blip>
          <a:srcRect b="0" l="0" r="0" t="0"/>
          <a:stretch/>
        </p:blipFill>
        <p:spPr>
          <a:xfrm>
            <a:off x="9010650" y="1280071"/>
            <a:ext cx="2609850" cy="857250"/>
          </a:xfrm>
          <a:prstGeom prst="rect">
            <a:avLst/>
          </a:prstGeom>
          <a:noFill/>
          <a:ln>
            <a:noFill/>
          </a:ln>
        </p:spPr>
      </p:pic>
      <p:pic>
        <p:nvPicPr>
          <p:cNvPr descr="preencoded.png" id="382" name="Google Shape;382;p9"/>
          <p:cNvPicPr preferRelativeResize="0"/>
          <p:nvPr/>
        </p:nvPicPr>
        <p:blipFill rotWithShape="1">
          <a:blip r:embed="rId7">
            <a:alphaModFix/>
          </a:blip>
          <a:srcRect b="0" l="0" r="0" t="0"/>
          <a:stretch/>
        </p:blipFill>
        <p:spPr>
          <a:xfrm>
            <a:off x="6248400" y="2365921"/>
            <a:ext cx="5372100" cy="4419600"/>
          </a:xfrm>
          <a:prstGeom prst="rect">
            <a:avLst/>
          </a:prstGeom>
          <a:noFill/>
          <a:ln>
            <a:noFill/>
          </a:ln>
        </p:spPr>
      </p:pic>
      <p:pic>
        <p:nvPicPr>
          <p:cNvPr descr="preencoded.png" id="383" name="Google Shape;383;p9"/>
          <p:cNvPicPr preferRelativeResize="0"/>
          <p:nvPr/>
        </p:nvPicPr>
        <p:blipFill rotWithShape="1">
          <a:blip r:embed="rId8">
            <a:alphaModFix/>
          </a:blip>
          <a:srcRect b="0" l="0" r="0" t="0"/>
          <a:stretch/>
        </p:blipFill>
        <p:spPr>
          <a:xfrm>
            <a:off x="6362700" y="2480221"/>
            <a:ext cx="5143500" cy="276225"/>
          </a:xfrm>
          <a:prstGeom prst="rect">
            <a:avLst/>
          </a:prstGeom>
          <a:noFill/>
          <a:ln>
            <a:noFill/>
          </a:ln>
        </p:spPr>
      </p:pic>
      <p:pic>
        <p:nvPicPr>
          <p:cNvPr descr="preencoded.png" id="384" name="Google Shape;384;p9"/>
          <p:cNvPicPr preferRelativeResize="0"/>
          <p:nvPr/>
        </p:nvPicPr>
        <p:blipFill rotWithShape="1">
          <a:blip r:embed="rId9">
            <a:alphaModFix/>
          </a:blip>
          <a:srcRect b="0" l="0" r="0" t="0"/>
          <a:stretch/>
        </p:blipFill>
        <p:spPr>
          <a:xfrm>
            <a:off x="6362700" y="2870746"/>
            <a:ext cx="5124450" cy="3619500"/>
          </a:xfrm>
          <a:prstGeom prst="rect">
            <a:avLst/>
          </a:prstGeom>
          <a:noFill/>
          <a:ln>
            <a:noFill/>
          </a:ln>
        </p:spPr>
      </p:pic>
      <p:pic>
        <p:nvPicPr>
          <p:cNvPr descr="preencoded.png" id="385" name="Google Shape;385;p9"/>
          <p:cNvPicPr preferRelativeResize="0"/>
          <p:nvPr/>
        </p:nvPicPr>
        <p:blipFill rotWithShape="1">
          <a:blip r:embed="rId10">
            <a:alphaModFix/>
          </a:blip>
          <a:srcRect b="0" l="0" r="0" t="0"/>
          <a:stretch/>
        </p:blipFill>
        <p:spPr>
          <a:xfrm>
            <a:off x="6362700" y="6490246"/>
            <a:ext cx="1809750" cy="180975"/>
          </a:xfrm>
          <a:prstGeom prst="rect">
            <a:avLst/>
          </a:prstGeom>
          <a:noFill/>
          <a:ln>
            <a:noFill/>
          </a:ln>
        </p:spPr>
      </p:pic>
      <p:sp>
        <p:nvSpPr>
          <p:cNvPr id="386" name="Google Shape;386;p9"/>
          <p:cNvSpPr/>
          <p:nvPr/>
        </p:nvSpPr>
        <p:spPr>
          <a:xfrm>
            <a:off x="762000" y="381000"/>
            <a:ext cx="11430000" cy="365671"/>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F172A"/>
              </a:buClr>
              <a:buSzPts val="2400"/>
              <a:buFont typeface="Inter"/>
              <a:buNone/>
            </a:pPr>
            <a:r>
              <a:rPr b="1" lang="en-US" sz="2400">
                <a:solidFill>
                  <a:srgbClr val="0F172A"/>
                </a:solidFill>
                <a:latin typeface="Inter"/>
                <a:ea typeface="Inter"/>
                <a:cs typeface="Inter"/>
                <a:sym typeface="Inter"/>
              </a:rPr>
              <a:t>Q5: </a:t>
            </a:r>
            <a:r>
              <a:rPr b="1" i="0" lang="en-US" sz="2400" u="none" cap="none" strike="noStrike">
                <a:solidFill>
                  <a:srgbClr val="0F172A"/>
                </a:solidFill>
                <a:latin typeface="Inter"/>
                <a:ea typeface="Inter"/>
                <a:cs typeface="Inter"/>
                <a:sym typeface="Inter"/>
              </a:rPr>
              <a:t>Relationship Between Review Volume and Ratings</a:t>
            </a:r>
            <a:endParaRPr b="0" i="0" sz="2400" u="none" cap="none" strike="noStrike">
              <a:solidFill>
                <a:schemeClr val="dk1"/>
              </a:solidFill>
              <a:latin typeface="Calibri"/>
              <a:ea typeface="Calibri"/>
              <a:cs typeface="Calibri"/>
              <a:sym typeface="Calibri"/>
            </a:endParaRPr>
          </a:p>
        </p:txBody>
      </p:sp>
      <p:sp>
        <p:nvSpPr>
          <p:cNvPr id="387" name="Google Shape;387;p9"/>
          <p:cNvSpPr/>
          <p:nvPr/>
        </p:nvSpPr>
        <p:spPr>
          <a:xfrm>
            <a:off x="6400800" y="1432471"/>
            <a:ext cx="2682240" cy="17145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475569"/>
              </a:buClr>
              <a:buSzPts val="900"/>
              <a:buFont typeface="Inter"/>
              <a:buNone/>
            </a:pPr>
            <a:r>
              <a:rPr b="0" i="0" lang="en-US" sz="900" u="none" cap="none" strike="noStrike">
                <a:solidFill>
                  <a:srgbClr val="475569"/>
                </a:solidFill>
                <a:latin typeface="Inter"/>
                <a:ea typeface="Inter"/>
                <a:cs typeface="Inter"/>
                <a:sym typeface="Inter"/>
              </a:rPr>
              <a:t>TOTAL APPS ANALYZED</a:t>
            </a:r>
            <a:endParaRPr b="0" i="0" sz="900" u="none" cap="none" strike="noStrike">
              <a:solidFill>
                <a:schemeClr val="dk1"/>
              </a:solidFill>
              <a:latin typeface="Calibri"/>
              <a:ea typeface="Calibri"/>
              <a:cs typeface="Calibri"/>
              <a:sym typeface="Calibri"/>
            </a:endParaRPr>
          </a:p>
        </p:txBody>
      </p:sp>
      <p:sp>
        <p:nvSpPr>
          <p:cNvPr id="388" name="Google Shape;388;p9"/>
          <p:cNvSpPr/>
          <p:nvPr/>
        </p:nvSpPr>
        <p:spPr>
          <a:xfrm>
            <a:off x="6400800" y="1642021"/>
            <a:ext cx="2674620" cy="3429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2563EB"/>
              </a:buClr>
              <a:buSzPts val="1800"/>
              <a:buFont typeface="Inter"/>
              <a:buNone/>
            </a:pPr>
            <a:r>
              <a:rPr b="1" i="0" lang="en-US" sz="1800" u="none" cap="none" strike="noStrike">
                <a:solidFill>
                  <a:srgbClr val="2563EB"/>
                </a:solidFill>
                <a:latin typeface="Inter"/>
                <a:ea typeface="Inter"/>
                <a:cs typeface="Inter"/>
                <a:sym typeface="Inter"/>
              </a:rPr>
              <a:t>10,356</a:t>
            </a:r>
            <a:endParaRPr b="0" i="0" sz="1800" u="none" cap="none" strike="noStrike">
              <a:solidFill>
                <a:schemeClr val="dk1"/>
              </a:solidFill>
              <a:latin typeface="Calibri"/>
              <a:ea typeface="Calibri"/>
              <a:cs typeface="Calibri"/>
              <a:sym typeface="Calibri"/>
            </a:endParaRPr>
          </a:p>
        </p:txBody>
      </p:sp>
      <p:sp>
        <p:nvSpPr>
          <p:cNvPr id="389" name="Google Shape;389;p9"/>
          <p:cNvSpPr/>
          <p:nvPr/>
        </p:nvSpPr>
        <p:spPr>
          <a:xfrm>
            <a:off x="9163050" y="1432471"/>
            <a:ext cx="2682240" cy="17145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475569"/>
              </a:buClr>
              <a:buSzPts val="900"/>
              <a:buFont typeface="Inter"/>
              <a:buNone/>
            </a:pPr>
            <a:r>
              <a:rPr b="0" i="0" lang="en-US" sz="900" u="none" cap="none" strike="noStrike">
                <a:solidFill>
                  <a:srgbClr val="475569"/>
                </a:solidFill>
                <a:latin typeface="Inter"/>
                <a:ea typeface="Inter"/>
                <a:cs typeface="Inter"/>
                <a:sym typeface="Inter"/>
              </a:rPr>
              <a:t>AVG RATING (GLOBAL)</a:t>
            </a:r>
            <a:endParaRPr b="0" i="0" sz="900" u="none" cap="none" strike="noStrike">
              <a:solidFill>
                <a:schemeClr val="dk1"/>
              </a:solidFill>
              <a:latin typeface="Calibri"/>
              <a:ea typeface="Calibri"/>
              <a:cs typeface="Calibri"/>
              <a:sym typeface="Calibri"/>
            </a:endParaRPr>
          </a:p>
        </p:txBody>
      </p:sp>
      <p:sp>
        <p:nvSpPr>
          <p:cNvPr id="390" name="Google Shape;390;p9"/>
          <p:cNvSpPr/>
          <p:nvPr/>
        </p:nvSpPr>
        <p:spPr>
          <a:xfrm>
            <a:off x="9163050" y="1642021"/>
            <a:ext cx="2419350" cy="3429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2563EB"/>
              </a:buClr>
              <a:buSzPts val="1800"/>
              <a:buFont typeface="Inter"/>
              <a:buNone/>
            </a:pPr>
            <a:r>
              <a:rPr b="1" i="0" lang="en-US" sz="1800" u="none" cap="none" strike="noStrike">
                <a:solidFill>
                  <a:srgbClr val="2563EB"/>
                </a:solidFill>
                <a:latin typeface="Inter"/>
                <a:ea typeface="Inter"/>
                <a:cs typeface="Inter"/>
                <a:sym typeface="Inter"/>
              </a:rPr>
              <a:t>4.19</a:t>
            </a:r>
            <a:endParaRPr b="0" i="0" sz="1800" u="none" cap="none" strike="noStrike">
              <a:solidFill>
                <a:schemeClr val="dk1"/>
              </a:solidFill>
              <a:latin typeface="Calibri"/>
              <a:ea typeface="Calibri"/>
              <a:cs typeface="Calibri"/>
              <a:sym typeface="Calibri"/>
            </a:endParaRPr>
          </a:p>
        </p:txBody>
      </p:sp>
      <p:sp>
        <p:nvSpPr>
          <p:cNvPr id="391" name="Google Shape;391;p9"/>
          <p:cNvSpPr/>
          <p:nvPr/>
        </p:nvSpPr>
        <p:spPr>
          <a:xfrm>
            <a:off x="6362700" y="2480221"/>
            <a:ext cx="5829300" cy="276225"/>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0F172A"/>
              </a:buClr>
              <a:buSzPts val="1050"/>
              <a:buFont typeface="Inter"/>
              <a:buNone/>
            </a:pPr>
            <a:r>
              <a:rPr b="1" i="0" lang="en-US" sz="1050" u="none" cap="none" strike="noStrike">
                <a:solidFill>
                  <a:srgbClr val="0F172A"/>
                </a:solidFill>
                <a:latin typeface="Inter"/>
                <a:ea typeface="Inter"/>
                <a:cs typeface="Inter"/>
                <a:sym typeface="Inter"/>
              </a:rPr>
              <a:t>Average Rating Comparison by Review Volume</a:t>
            </a:r>
            <a:endParaRPr b="0" i="0" sz="1050" u="none" cap="none" strike="noStrike">
              <a:solidFill>
                <a:schemeClr val="dk1"/>
              </a:solidFill>
              <a:latin typeface="Calibri"/>
              <a:ea typeface="Calibri"/>
              <a:cs typeface="Calibri"/>
              <a:sym typeface="Calibri"/>
            </a:endParaRPr>
          </a:p>
        </p:txBody>
      </p:sp>
      <p:sp>
        <p:nvSpPr>
          <p:cNvPr id="392" name="Google Shape;392;p9"/>
          <p:cNvSpPr/>
          <p:nvPr/>
        </p:nvSpPr>
        <p:spPr>
          <a:xfrm>
            <a:off x="6438900" y="6490246"/>
            <a:ext cx="3635141" cy="180975"/>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94A3B8"/>
              </a:buClr>
              <a:buSzPts val="750"/>
              <a:buFont typeface="Inter"/>
              <a:buNone/>
            </a:pPr>
            <a:r>
              <a:rPr b="0" i="0" lang="en-US" sz="750" u="none" cap="none" strike="noStrike">
                <a:solidFill>
                  <a:srgbClr val="94A3B8"/>
                </a:solidFill>
                <a:latin typeface="Inter"/>
                <a:ea typeface="Inter"/>
                <a:cs typeface="Inter"/>
                <a:sym typeface="Inter"/>
              </a:rPr>
              <a:t>Source: queries.sql (MySQL 8.0)</a:t>
            </a:r>
            <a:endParaRPr b="0" i="0" sz="750" u="none" cap="none" strike="noStrike">
              <a:solidFill>
                <a:schemeClr val="dk1"/>
              </a:solidFill>
              <a:latin typeface="Calibri"/>
              <a:ea typeface="Calibri"/>
              <a:cs typeface="Calibri"/>
              <a:sym typeface="Calibri"/>
            </a:endParaRPr>
          </a:p>
        </p:txBody>
      </p:sp>
      <p:sp>
        <p:nvSpPr>
          <p:cNvPr id="393" name="Google Shape;393;p9"/>
          <p:cNvSpPr/>
          <p:nvPr/>
        </p:nvSpPr>
        <p:spPr>
          <a:xfrm>
            <a:off x="571500" y="1280074"/>
            <a:ext cx="5372100" cy="4336826"/>
          </a:xfrm>
          <a:prstGeom prst="roundRect">
            <a:avLst>
              <a:gd fmla="val 4000" name="adj"/>
            </a:avLst>
          </a:prstGeom>
          <a:solidFill>
            <a:srgbClr val="E2E8F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000000"/>
              </a:solidFill>
              <a:latin typeface="Arial"/>
              <a:ea typeface="Arial"/>
              <a:cs typeface="Arial"/>
              <a:sym typeface="Arial"/>
            </a:endParaRPr>
          </a:p>
        </p:txBody>
      </p:sp>
      <p:sp>
        <p:nvSpPr>
          <p:cNvPr id="394" name="Google Shape;394;p9"/>
          <p:cNvSpPr/>
          <p:nvPr/>
        </p:nvSpPr>
        <p:spPr>
          <a:xfrm>
            <a:off x="723900" y="1560074"/>
            <a:ext cx="5072100" cy="2001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0F172A"/>
              </a:buClr>
              <a:buSzPts val="1050"/>
              <a:buFont typeface="Inter"/>
              <a:buNone/>
            </a:pPr>
            <a:r>
              <a:rPr b="1" i="0" lang="en-US" sz="1050" u="none" cap="none" strike="noStrike">
                <a:solidFill>
                  <a:srgbClr val="0F172A"/>
                </a:solidFill>
                <a:latin typeface="Inter"/>
                <a:ea typeface="Inter"/>
                <a:cs typeface="Inter"/>
                <a:sym typeface="Inter"/>
              </a:rPr>
              <a:t>BUSINESS QUESTION</a:t>
            </a:r>
            <a:endParaRPr/>
          </a:p>
        </p:txBody>
      </p:sp>
      <p:sp>
        <p:nvSpPr>
          <p:cNvPr id="395" name="Google Shape;395;p9"/>
          <p:cNvSpPr/>
          <p:nvPr/>
        </p:nvSpPr>
        <p:spPr>
          <a:xfrm>
            <a:off x="723900" y="1790074"/>
            <a:ext cx="4996100" cy="450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125"/>
              <a:buFont typeface="Arial"/>
              <a:buNone/>
            </a:pPr>
            <a:r>
              <a:rPr lang="en-US" sz="1250">
                <a:solidFill>
                  <a:srgbClr val="475569"/>
                </a:solidFill>
                <a:latin typeface="Calibri"/>
                <a:ea typeface="Calibri"/>
                <a:cs typeface="Calibri"/>
                <a:sym typeface="Calibri"/>
              </a:rPr>
              <a:t>Does review volume signal a higher-quality app?</a:t>
            </a:r>
            <a:endParaRPr sz="1250">
              <a:solidFill>
                <a:srgbClr val="475569"/>
              </a:solidFill>
              <a:latin typeface="Calibri"/>
              <a:ea typeface="Calibri"/>
              <a:cs typeface="Calibri"/>
              <a:sym typeface="Calibri"/>
            </a:endParaRPr>
          </a:p>
        </p:txBody>
      </p:sp>
      <p:sp>
        <p:nvSpPr>
          <p:cNvPr id="396" name="Google Shape;396;p9"/>
          <p:cNvSpPr/>
          <p:nvPr/>
        </p:nvSpPr>
        <p:spPr>
          <a:xfrm>
            <a:off x="723900" y="2440074"/>
            <a:ext cx="5072100" cy="2001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100"/>
              <a:buFont typeface="Arial"/>
              <a:buNone/>
            </a:pPr>
            <a:r>
              <a:rPr b="1" i="0" lang="en-US" sz="1100" u="none" cap="none" strike="noStrike">
                <a:solidFill>
                  <a:srgbClr val="64748B"/>
                </a:solidFill>
                <a:latin typeface="Inter"/>
                <a:ea typeface="Inter"/>
                <a:cs typeface="Inter"/>
                <a:sym typeface="Inter"/>
              </a:rPr>
              <a:t>KEY FINDING</a:t>
            </a:r>
            <a:endParaRPr/>
          </a:p>
        </p:txBody>
      </p:sp>
      <p:sp>
        <p:nvSpPr>
          <p:cNvPr id="397" name="Google Shape;397;p9"/>
          <p:cNvSpPr/>
          <p:nvPr/>
        </p:nvSpPr>
        <p:spPr>
          <a:xfrm>
            <a:off x="723900" y="2670074"/>
            <a:ext cx="4996100" cy="90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250"/>
              <a:buFont typeface="Arial"/>
              <a:buNone/>
            </a:pPr>
            <a:r>
              <a:rPr b="0" i="0" lang="en-US" sz="1250" u="none" cap="none" strike="noStrike">
                <a:solidFill>
                  <a:srgbClr val="475569"/>
                </a:solidFill>
                <a:latin typeface="Calibri"/>
                <a:ea typeface="Calibri"/>
                <a:cs typeface="Calibri"/>
                <a:sym typeface="Calibri"/>
              </a:rPr>
              <a:t>Apps with above-average review counts rate modestly higher (</a:t>
            </a:r>
            <a:r>
              <a:rPr b="1" i="0" lang="en-US" sz="1250" u="none" cap="none" strike="noStrike">
                <a:solidFill>
                  <a:srgbClr val="0F172A"/>
                </a:solidFill>
                <a:latin typeface="Calibri"/>
                <a:ea typeface="Calibri"/>
                <a:cs typeface="Calibri"/>
                <a:sym typeface="Calibri"/>
              </a:rPr>
              <a:t>4.38</a:t>
            </a:r>
            <a:r>
              <a:rPr b="0" i="0" lang="en-US" sz="1250" u="none" cap="none" strike="noStrike">
                <a:solidFill>
                  <a:srgbClr val="475569"/>
                </a:solidFill>
                <a:latin typeface="Calibri"/>
                <a:ea typeface="Calibri"/>
                <a:cs typeface="Calibri"/>
                <a:sym typeface="Calibri"/>
              </a:rPr>
              <a:t> vs </a:t>
            </a:r>
            <a:r>
              <a:rPr b="1" i="0" lang="en-US" sz="1250" u="none" cap="none" strike="noStrike">
                <a:solidFill>
                  <a:srgbClr val="0F172A"/>
                </a:solidFill>
                <a:latin typeface="Calibri"/>
                <a:ea typeface="Calibri"/>
                <a:cs typeface="Calibri"/>
                <a:sym typeface="Calibri"/>
              </a:rPr>
              <a:t>4.15</a:t>
            </a:r>
            <a:r>
              <a:rPr b="0" i="0" lang="en-US" sz="1250" u="none" cap="none" strike="noStrike">
                <a:solidFill>
                  <a:srgbClr val="475569"/>
                </a:solidFill>
                <a:latin typeface="Calibri"/>
                <a:ea typeface="Calibri"/>
                <a:cs typeface="Calibri"/>
                <a:sym typeface="Calibri"/>
              </a:rPr>
              <a:t>)  a real but small gap, and only ~10% of apps clear that bar.</a:t>
            </a:r>
            <a:endParaRPr/>
          </a:p>
        </p:txBody>
      </p:sp>
      <p:sp>
        <p:nvSpPr>
          <p:cNvPr id="398" name="Google Shape;398;p9"/>
          <p:cNvSpPr/>
          <p:nvPr/>
        </p:nvSpPr>
        <p:spPr>
          <a:xfrm>
            <a:off x="723900" y="3740074"/>
            <a:ext cx="5072100" cy="2001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100"/>
              <a:buFont typeface="Arial"/>
              <a:buNone/>
            </a:pPr>
            <a:r>
              <a:rPr b="1" i="0" lang="en-US" sz="1100" u="none" cap="none" strike="noStrike">
                <a:solidFill>
                  <a:srgbClr val="64748B"/>
                </a:solidFill>
                <a:latin typeface="Inter"/>
                <a:ea typeface="Inter"/>
                <a:cs typeface="Inter"/>
                <a:sym typeface="Inter"/>
              </a:rPr>
              <a:t>SO WHAT</a:t>
            </a:r>
            <a:endParaRPr/>
          </a:p>
        </p:txBody>
      </p:sp>
      <p:sp>
        <p:nvSpPr>
          <p:cNvPr id="399" name="Google Shape;399;p9"/>
          <p:cNvSpPr/>
          <p:nvPr/>
        </p:nvSpPr>
        <p:spPr>
          <a:xfrm>
            <a:off x="723900" y="3970074"/>
            <a:ext cx="4996100" cy="65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00"/>
              </a:buClr>
              <a:buSzPts val="1250"/>
              <a:buFont typeface="Arial"/>
              <a:buNone/>
            </a:pPr>
            <a:r>
              <a:rPr lang="en-US" sz="1250">
                <a:solidFill>
                  <a:srgbClr val="0F172A"/>
                </a:solidFill>
                <a:latin typeface="Calibri"/>
                <a:ea typeface="Calibri"/>
                <a:cs typeface="Calibri"/>
                <a:sym typeface="Calibri"/>
              </a:rPr>
              <a:t>Treat review volume as a secondary indicator of app performance, not as evidence that more reviews cause higher ratings. </a:t>
            </a:r>
            <a:endParaRPr/>
          </a:p>
        </p:txBody>
      </p:sp>
      <p:sp>
        <p:nvSpPr>
          <p:cNvPr id="400" name="Google Shape;400;p9"/>
          <p:cNvSpPr/>
          <p:nvPr/>
        </p:nvSpPr>
        <p:spPr>
          <a:xfrm>
            <a:off x="723900" y="4870074"/>
            <a:ext cx="900000" cy="260000"/>
          </a:xfrm>
          <a:prstGeom prst="roundRect">
            <a:avLst>
              <a:gd fmla="val 30000" name="adj"/>
            </a:avLst>
          </a:prstGeom>
          <a:solidFill>
            <a:srgbClr val="EEF2F6"/>
          </a:solid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475569"/>
                </a:solidFill>
                <a:latin typeface="Calibri"/>
                <a:ea typeface="Calibri"/>
                <a:cs typeface="Calibri"/>
                <a:sym typeface="Calibri"/>
              </a:rPr>
              <a:t>Subquery</a:t>
            </a:r>
            <a:endParaRPr/>
          </a:p>
        </p:txBody>
      </p:sp>
      <p:sp>
        <p:nvSpPr>
          <p:cNvPr id="401" name="Google Shape;401;p9"/>
          <p:cNvSpPr/>
          <p:nvPr/>
        </p:nvSpPr>
        <p:spPr>
          <a:xfrm>
            <a:off x="1683900" y="4870074"/>
            <a:ext cx="700000" cy="260000"/>
          </a:xfrm>
          <a:prstGeom prst="roundRect">
            <a:avLst>
              <a:gd fmla="val 30000" name="adj"/>
            </a:avLst>
          </a:prstGeom>
          <a:solidFill>
            <a:srgbClr val="EEF2F6"/>
          </a:solid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475569"/>
                </a:solidFill>
                <a:latin typeface="Calibri"/>
                <a:ea typeface="Calibri"/>
                <a:cs typeface="Calibri"/>
                <a:sym typeface="Calibri"/>
              </a:rPr>
              <a:t>CASE</a:t>
            </a:r>
            <a:endParaRPr/>
          </a:p>
        </p:txBody>
      </p:sp>
      <p:sp>
        <p:nvSpPr>
          <p:cNvPr id="402" name="Google Shape;402;p9"/>
          <p:cNvSpPr/>
          <p:nvPr/>
        </p:nvSpPr>
        <p:spPr>
          <a:xfrm>
            <a:off x="2443900" y="4870074"/>
            <a:ext cx="900000" cy="260000"/>
          </a:xfrm>
          <a:prstGeom prst="roundRect">
            <a:avLst>
              <a:gd fmla="val 30000" name="adj"/>
            </a:avLst>
          </a:prstGeom>
          <a:solidFill>
            <a:srgbClr val="EEF2F6"/>
          </a:solid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475569"/>
                </a:solidFill>
                <a:latin typeface="Calibri"/>
                <a:ea typeface="Calibri"/>
                <a:cs typeface="Calibri"/>
                <a:sym typeface="Calibri"/>
              </a:rPr>
              <a:t>GROUP BY</a:t>
            </a:r>
            <a:endParaRPr/>
          </a:p>
        </p:txBody>
      </p:sp>
      <p:sp>
        <p:nvSpPr>
          <p:cNvPr id="403" name="Google Shape;403;p9"/>
          <p:cNvSpPr/>
          <p:nvPr/>
        </p:nvSpPr>
        <p:spPr>
          <a:xfrm>
            <a:off x="3403900" y="4870074"/>
            <a:ext cx="700000" cy="260000"/>
          </a:xfrm>
          <a:prstGeom prst="roundRect">
            <a:avLst>
              <a:gd fmla="val 30000" name="adj"/>
            </a:avLst>
          </a:prstGeom>
          <a:solidFill>
            <a:srgbClr val="EEF2F6"/>
          </a:solid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475569"/>
                </a:solidFill>
                <a:latin typeface="Calibri"/>
                <a:ea typeface="Calibri"/>
                <a:cs typeface="Calibri"/>
                <a:sym typeface="Calibri"/>
              </a:rPr>
              <a:t>AVG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8" name="Shape 408"/>
        <p:cNvGrpSpPr/>
        <p:nvPr/>
      </p:nvGrpSpPr>
      <p:grpSpPr>
        <a:xfrm>
          <a:off x="0" y="0"/>
          <a:ext cx="0" cy="0"/>
          <a:chOff x="0" y="0"/>
          <a:chExt cx="0" cy="0"/>
        </a:xfrm>
      </p:grpSpPr>
      <p:pic>
        <p:nvPicPr>
          <p:cNvPr descr="preencoded.png" id="409" name="Google Shape;409;p1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preencoded.png" id="410" name="Google Shape;410;p10"/>
          <p:cNvPicPr preferRelativeResize="0"/>
          <p:nvPr/>
        </p:nvPicPr>
        <p:blipFill rotWithShape="1">
          <a:blip r:embed="rId4">
            <a:alphaModFix/>
          </a:blip>
          <a:srcRect b="0" l="0" r="0" t="0"/>
          <a:stretch/>
        </p:blipFill>
        <p:spPr>
          <a:xfrm>
            <a:off x="0" y="0"/>
            <a:ext cx="12192000" cy="6858000"/>
          </a:xfrm>
          <a:prstGeom prst="rect">
            <a:avLst/>
          </a:prstGeom>
          <a:noFill/>
          <a:ln>
            <a:noFill/>
          </a:ln>
        </p:spPr>
      </p:pic>
      <p:pic>
        <p:nvPicPr>
          <p:cNvPr descr="preencoded.png" id="411" name="Google Shape;411;p10"/>
          <p:cNvPicPr preferRelativeResize="0"/>
          <p:nvPr/>
        </p:nvPicPr>
        <p:blipFill rotWithShape="1">
          <a:blip r:embed="rId5">
            <a:alphaModFix/>
          </a:blip>
          <a:srcRect b="0" l="0" r="0" t="0"/>
          <a:stretch/>
        </p:blipFill>
        <p:spPr>
          <a:xfrm>
            <a:off x="571500" y="180975"/>
            <a:ext cx="11049000" cy="670471"/>
          </a:xfrm>
          <a:prstGeom prst="rect">
            <a:avLst/>
          </a:prstGeom>
          <a:noFill/>
          <a:ln>
            <a:noFill/>
          </a:ln>
        </p:spPr>
      </p:pic>
      <p:pic>
        <p:nvPicPr>
          <p:cNvPr descr="preencoded.png" id="412" name="Google Shape;412;p10"/>
          <p:cNvPicPr preferRelativeResize="0"/>
          <p:nvPr/>
        </p:nvPicPr>
        <p:blipFill rotWithShape="1">
          <a:blip r:embed="rId6">
            <a:alphaModFix/>
          </a:blip>
          <a:srcRect b="0" l="0" r="0" t="0"/>
          <a:stretch/>
        </p:blipFill>
        <p:spPr>
          <a:xfrm>
            <a:off x="571500" y="956221"/>
            <a:ext cx="11049000" cy="1843385"/>
          </a:xfrm>
          <a:prstGeom prst="rect">
            <a:avLst/>
          </a:prstGeom>
          <a:noFill/>
          <a:ln>
            <a:noFill/>
          </a:ln>
        </p:spPr>
      </p:pic>
      <p:pic>
        <p:nvPicPr>
          <p:cNvPr descr="preencoded.png" id="413" name="Google Shape;413;p10"/>
          <p:cNvPicPr preferRelativeResize="0"/>
          <p:nvPr/>
        </p:nvPicPr>
        <p:blipFill rotWithShape="1">
          <a:blip r:embed="rId7">
            <a:alphaModFix/>
          </a:blip>
          <a:srcRect b="0" l="0" r="0" t="0"/>
          <a:stretch/>
        </p:blipFill>
        <p:spPr>
          <a:xfrm>
            <a:off x="1943100" y="2284958"/>
            <a:ext cx="9448800" cy="9525"/>
          </a:xfrm>
          <a:prstGeom prst="rect">
            <a:avLst/>
          </a:prstGeom>
          <a:noFill/>
          <a:ln>
            <a:noFill/>
          </a:ln>
        </p:spPr>
      </p:pic>
      <p:pic>
        <p:nvPicPr>
          <p:cNvPr descr="preencoded.png" id="414" name="Google Shape;414;p10"/>
          <p:cNvPicPr preferRelativeResize="0"/>
          <p:nvPr/>
        </p:nvPicPr>
        <p:blipFill rotWithShape="1">
          <a:blip r:embed="rId8">
            <a:alphaModFix/>
          </a:blip>
          <a:srcRect b="0" l="0" r="0" t="0"/>
          <a:stretch/>
        </p:blipFill>
        <p:spPr>
          <a:xfrm>
            <a:off x="1943100" y="2427833"/>
            <a:ext cx="1219200" cy="238125"/>
          </a:xfrm>
          <a:prstGeom prst="rect">
            <a:avLst/>
          </a:prstGeom>
          <a:noFill/>
          <a:ln>
            <a:noFill/>
          </a:ln>
        </p:spPr>
      </p:pic>
      <p:pic>
        <p:nvPicPr>
          <p:cNvPr descr="preencoded.png" id="415" name="Google Shape;415;p10"/>
          <p:cNvPicPr preferRelativeResize="0"/>
          <p:nvPr/>
        </p:nvPicPr>
        <p:blipFill rotWithShape="1">
          <a:blip r:embed="rId9">
            <a:alphaModFix/>
          </a:blip>
          <a:srcRect b="0" l="0" r="0" t="0"/>
          <a:stretch/>
        </p:blipFill>
        <p:spPr>
          <a:xfrm>
            <a:off x="571500" y="2894856"/>
            <a:ext cx="11049000" cy="1843385"/>
          </a:xfrm>
          <a:prstGeom prst="rect">
            <a:avLst/>
          </a:prstGeom>
          <a:noFill/>
          <a:ln>
            <a:noFill/>
          </a:ln>
        </p:spPr>
      </p:pic>
      <p:pic>
        <p:nvPicPr>
          <p:cNvPr descr="preencoded.png" id="416" name="Google Shape;416;p10"/>
          <p:cNvPicPr preferRelativeResize="0"/>
          <p:nvPr/>
        </p:nvPicPr>
        <p:blipFill rotWithShape="1">
          <a:blip r:embed="rId7">
            <a:alphaModFix/>
          </a:blip>
          <a:srcRect b="0" l="0" r="0" t="0"/>
          <a:stretch/>
        </p:blipFill>
        <p:spPr>
          <a:xfrm>
            <a:off x="1943100" y="4223593"/>
            <a:ext cx="9448800" cy="9525"/>
          </a:xfrm>
          <a:prstGeom prst="rect">
            <a:avLst/>
          </a:prstGeom>
          <a:noFill/>
          <a:ln>
            <a:noFill/>
          </a:ln>
        </p:spPr>
      </p:pic>
      <p:pic>
        <p:nvPicPr>
          <p:cNvPr descr="preencoded.png" id="417" name="Google Shape;417;p10"/>
          <p:cNvPicPr preferRelativeResize="0"/>
          <p:nvPr/>
        </p:nvPicPr>
        <p:blipFill rotWithShape="1">
          <a:blip r:embed="rId8">
            <a:alphaModFix/>
          </a:blip>
          <a:srcRect b="0" l="0" r="0" t="0"/>
          <a:stretch/>
        </p:blipFill>
        <p:spPr>
          <a:xfrm>
            <a:off x="1943100" y="4366468"/>
            <a:ext cx="1219200" cy="238125"/>
          </a:xfrm>
          <a:prstGeom prst="rect">
            <a:avLst/>
          </a:prstGeom>
          <a:noFill/>
          <a:ln>
            <a:noFill/>
          </a:ln>
        </p:spPr>
      </p:pic>
      <p:pic>
        <p:nvPicPr>
          <p:cNvPr descr="preencoded.png" id="418" name="Google Shape;418;p10"/>
          <p:cNvPicPr preferRelativeResize="0"/>
          <p:nvPr/>
        </p:nvPicPr>
        <p:blipFill rotWithShape="1">
          <a:blip r:embed="rId10">
            <a:alphaModFix/>
          </a:blip>
          <a:srcRect b="0" l="0" r="0" t="0"/>
          <a:stretch/>
        </p:blipFill>
        <p:spPr>
          <a:xfrm>
            <a:off x="571500" y="4833491"/>
            <a:ext cx="11049000" cy="1843385"/>
          </a:xfrm>
          <a:prstGeom prst="rect">
            <a:avLst/>
          </a:prstGeom>
          <a:noFill/>
          <a:ln>
            <a:noFill/>
          </a:ln>
        </p:spPr>
      </p:pic>
      <p:pic>
        <p:nvPicPr>
          <p:cNvPr descr="preencoded.png" id="419" name="Google Shape;419;p10"/>
          <p:cNvPicPr preferRelativeResize="0"/>
          <p:nvPr/>
        </p:nvPicPr>
        <p:blipFill rotWithShape="1">
          <a:blip r:embed="rId7">
            <a:alphaModFix/>
          </a:blip>
          <a:srcRect b="0" l="0" r="0" t="0"/>
          <a:stretch/>
        </p:blipFill>
        <p:spPr>
          <a:xfrm>
            <a:off x="1943100" y="6162229"/>
            <a:ext cx="9448800" cy="9525"/>
          </a:xfrm>
          <a:prstGeom prst="rect">
            <a:avLst/>
          </a:prstGeom>
          <a:noFill/>
          <a:ln>
            <a:noFill/>
          </a:ln>
        </p:spPr>
      </p:pic>
      <p:pic>
        <p:nvPicPr>
          <p:cNvPr descr="preencoded.png" id="420" name="Google Shape;420;p10"/>
          <p:cNvPicPr preferRelativeResize="0"/>
          <p:nvPr/>
        </p:nvPicPr>
        <p:blipFill rotWithShape="1">
          <a:blip r:embed="rId8">
            <a:alphaModFix/>
          </a:blip>
          <a:srcRect b="0" l="0" r="0" t="0"/>
          <a:stretch/>
        </p:blipFill>
        <p:spPr>
          <a:xfrm>
            <a:off x="1943100" y="6305104"/>
            <a:ext cx="1219200" cy="238125"/>
          </a:xfrm>
          <a:prstGeom prst="rect">
            <a:avLst/>
          </a:prstGeom>
          <a:noFill/>
          <a:ln>
            <a:noFill/>
          </a:ln>
        </p:spPr>
      </p:pic>
      <p:sp>
        <p:nvSpPr>
          <p:cNvPr id="421" name="Google Shape;421;p10"/>
          <p:cNvSpPr/>
          <p:nvPr/>
        </p:nvSpPr>
        <p:spPr>
          <a:xfrm>
            <a:off x="762000" y="180975"/>
            <a:ext cx="11430000" cy="365671"/>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F172A"/>
              </a:buClr>
              <a:buSzPts val="2400"/>
              <a:buFont typeface="Inter"/>
              <a:buNone/>
            </a:pPr>
            <a:r>
              <a:rPr b="1" i="0" lang="en-US" sz="2400" u="none" cap="none" strike="noStrike">
                <a:solidFill>
                  <a:srgbClr val="0F172A"/>
                </a:solidFill>
                <a:latin typeface="Inter"/>
                <a:ea typeface="Inter"/>
                <a:cs typeface="Inter"/>
                <a:sym typeface="Inter"/>
              </a:rPr>
              <a:t>Strategic Recommendations and Conclusion</a:t>
            </a:r>
            <a:endParaRPr b="0" i="0" sz="2400" u="none" cap="none" strike="noStrike">
              <a:solidFill>
                <a:schemeClr val="dk1"/>
              </a:solidFill>
              <a:latin typeface="Calibri"/>
              <a:ea typeface="Calibri"/>
              <a:cs typeface="Calibri"/>
              <a:sym typeface="Calibri"/>
            </a:endParaRPr>
          </a:p>
        </p:txBody>
      </p:sp>
      <p:sp>
        <p:nvSpPr>
          <p:cNvPr id="422" name="Google Shape;422;p10"/>
          <p:cNvSpPr/>
          <p:nvPr/>
        </p:nvSpPr>
        <p:spPr>
          <a:xfrm>
            <a:off x="762000" y="622846"/>
            <a:ext cx="10934700" cy="2286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475569"/>
              </a:buClr>
              <a:buSzPts val="1200"/>
              <a:buFont typeface="Inter"/>
              <a:buNone/>
            </a:pPr>
            <a:r>
              <a:t/>
            </a:r>
            <a:endParaRPr b="0" i="0" sz="1200" u="none" cap="none" strike="noStrike">
              <a:solidFill>
                <a:schemeClr val="dk1"/>
              </a:solidFill>
              <a:latin typeface="Calibri"/>
              <a:ea typeface="Calibri"/>
              <a:cs typeface="Calibri"/>
              <a:sym typeface="Calibri"/>
            </a:endParaRPr>
          </a:p>
        </p:txBody>
      </p:sp>
      <p:sp>
        <p:nvSpPr>
          <p:cNvPr id="423" name="Google Shape;423;p10"/>
          <p:cNvSpPr/>
          <p:nvPr/>
        </p:nvSpPr>
        <p:spPr>
          <a:xfrm>
            <a:off x="647700" y="1060996"/>
            <a:ext cx="1066800" cy="60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563EB"/>
              </a:buClr>
              <a:buSzPts val="4800"/>
              <a:buFont typeface="Calibri"/>
              <a:buNone/>
            </a:pPr>
            <a:r>
              <a:rPr b="1" i="0" lang="en-US" sz="4800" u="none" cap="none" strike="noStrike">
                <a:solidFill>
                  <a:srgbClr val="2563EB"/>
                </a:solidFill>
                <a:latin typeface="Calibri"/>
                <a:ea typeface="Calibri"/>
                <a:cs typeface="Calibri"/>
                <a:sym typeface="Calibri"/>
              </a:rPr>
              <a:t>01</a:t>
            </a:r>
            <a:endParaRPr b="0" i="0" sz="4800" u="none" cap="none" strike="noStrike">
              <a:solidFill>
                <a:schemeClr val="dk1"/>
              </a:solidFill>
              <a:latin typeface="Calibri"/>
              <a:ea typeface="Calibri"/>
              <a:cs typeface="Calibri"/>
              <a:sym typeface="Calibri"/>
            </a:endParaRPr>
          </a:p>
        </p:txBody>
      </p:sp>
      <p:sp>
        <p:nvSpPr>
          <p:cNvPr id="424" name="Google Shape;424;p10"/>
          <p:cNvSpPr/>
          <p:nvPr/>
        </p:nvSpPr>
        <p:spPr>
          <a:xfrm>
            <a:off x="1943100" y="1060996"/>
            <a:ext cx="9563100" cy="3429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0F172A"/>
              </a:buClr>
              <a:buSzPts val="1800"/>
              <a:buFont typeface="Inter"/>
              <a:buNone/>
            </a:pPr>
            <a:r>
              <a:rPr b="1" i="0" lang="en-US" sz="1800" u="none" cap="none" strike="noStrike">
                <a:solidFill>
                  <a:srgbClr val="0F172A"/>
                </a:solidFill>
                <a:latin typeface="Inter"/>
                <a:ea typeface="Inter"/>
                <a:cs typeface="Inter"/>
                <a:sym typeface="Inter"/>
              </a:rPr>
              <a:t>Adopt a Freemium Pricing Model</a:t>
            </a:r>
            <a:endParaRPr b="0" i="0" sz="1800" u="none" cap="none" strike="noStrike">
              <a:solidFill>
                <a:schemeClr val="dk1"/>
              </a:solidFill>
              <a:latin typeface="Calibri"/>
              <a:ea typeface="Calibri"/>
              <a:cs typeface="Calibri"/>
              <a:sym typeface="Calibri"/>
            </a:endParaRPr>
          </a:p>
        </p:txBody>
      </p:sp>
      <p:sp>
        <p:nvSpPr>
          <p:cNvPr id="425" name="Google Shape;425;p10"/>
          <p:cNvSpPr/>
          <p:nvPr/>
        </p:nvSpPr>
        <p:spPr>
          <a:xfrm>
            <a:off x="1943100" y="1461046"/>
            <a:ext cx="9448800" cy="728663"/>
          </a:xfrm>
          <a:prstGeom prst="rect">
            <a:avLst/>
          </a:prstGeom>
          <a:noFill/>
          <a:ln>
            <a:noFill/>
          </a:ln>
        </p:spPr>
        <p:txBody>
          <a:bodyPr anchorCtr="0" anchor="ctr" bIns="0" lIns="0" spcFirstLastPara="1" rIns="0" wrap="square" tIns="0">
            <a:noAutofit/>
          </a:bodyPr>
          <a:lstStyle/>
          <a:p>
            <a:pPr indent="0" lvl="0" marL="0" marR="0" rtl="0" algn="l">
              <a:lnSpc>
                <a:spcPct val="150039"/>
              </a:lnSpc>
              <a:spcBef>
                <a:spcPts val="0"/>
              </a:spcBef>
              <a:spcAft>
                <a:spcPts val="0"/>
              </a:spcAft>
              <a:buClr>
                <a:srgbClr val="475569"/>
              </a:buClr>
              <a:buSzPts val="1275"/>
              <a:buFont typeface="Inter"/>
              <a:buNone/>
            </a:pPr>
            <a:r>
              <a:rPr b="0" i="0" lang="en-US" sz="1275" u="none" cap="none" strike="noStrike">
                <a:solidFill>
                  <a:srgbClr val="475569"/>
                </a:solidFill>
                <a:latin typeface="Inter"/>
                <a:ea typeface="Inter"/>
                <a:cs typeface="Inter"/>
                <a:sym typeface="Inter"/>
              </a:rPr>
              <a:t>Based on </a:t>
            </a:r>
            <a:r>
              <a:rPr b="1" i="0" lang="en-US" sz="1275" u="none" cap="none" strike="noStrike">
                <a:solidFill>
                  <a:srgbClr val="0F172A"/>
                </a:solidFill>
                <a:latin typeface="Inter"/>
                <a:ea typeface="Inter"/>
                <a:cs typeface="Inter"/>
                <a:sym typeface="Inter"/>
              </a:rPr>
              <a:t>Q2 sentiment analysis</a:t>
            </a:r>
            <a:r>
              <a:rPr b="0" i="0" lang="en-US" sz="1275" u="none" cap="none" strike="noStrike">
                <a:solidFill>
                  <a:srgbClr val="475569"/>
                </a:solidFill>
                <a:latin typeface="Inter"/>
                <a:ea typeface="Inter"/>
                <a:cs typeface="Inter"/>
                <a:sym typeface="Inter"/>
              </a:rPr>
              <a:t>, user polarity scores for Free vs. Paid apps show negligible variance. However, </a:t>
            </a:r>
            <a:r>
              <a:rPr b="1" i="0" lang="en-US" sz="1275" u="none" cap="none" strike="noStrike">
                <a:solidFill>
                  <a:srgbClr val="0F172A"/>
                </a:solidFill>
                <a:latin typeface="Inter"/>
                <a:ea typeface="Inter"/>
                <a:cs typeface="Inter"/>
                <a:sym typeface="Inter"/>
              </a:rPr>
              <a:t>Q4 install data</a:t>
            </a:r>
            <a:r>
              <a:rPr b="0" i="0" lang="en-US" sz="1275" u="none" cap="none" strike="noStrike">
                <a:solidFill>
                  <a:srgbClr val="475569"/>
                </a:solidFill>
                <a:latin typeface="Inter"/>
                <a:ea typeface="Inter"/>
                <a:cs typeface="Inter"/>
                <a:sym typeface="Inter"/>
              </a:rPr>
              <a:t> indicates that top-performing market segments are driven by massive download volumes achievable only via zero-entry price points.</a:t>
            </a:r>
            <a:endParaRPr b="0" i="0" sz="1275" u="none" cap="none" strike="noStrike">
              <a:solidFill>
                <a:schemeClr val="dk1"/>
              </a:solidFill>
              <a:latin typeface="Calibri"/>
              <a:ea typeface="Calibri"/>
              <a:cs typeface="Calibri"/>
              <a:sym typeface="Calibri"/>
            </a:endParaRPr>
          </a:p>
        </p:txBody>
      </p:sp>
      <p:sp>
        <p:nvSpPr>
          <p:cNvPr id="426" name="Google Shape;426;p10"/>
          <p:cNvSpPr/>
          <p:nvPr/>
        </p:nvSpPr>
        <p:spPr>
          <a:xfrm>
            <a:off x="2057400" y="2427833"/>
            <a:ext cx="1766411" cy="238125"/>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2563EB"/>
              </a:buClr>
              <a:buSzPts val="1050"/>
              <a:buFont typeface="Calibri"/>
              <a:buNone/>
            </a:pPr>
            <a:r>
              <a:rPr b="1" i="0" lang="en-US" sz="1050" u="none" cap="none" strike="noStrike">
                <a:solidFill>
                  <a:srgbClr val="2563EB"/>
                </a:solidFill>
                <a:latin typeface="Calibri"/>
                <a:ea typeface="Calibri"/>
                <a:cs typeface="Calibri"/>
                <a:sym typeface="Calibri"/>
              </a:rPr>
              <a:t>TARGET IMPACT</a:t>
            </a:r>
            <a:endParaRPr b="0" i="0" sz="1050" u="none" cap="none" strike="noStrike">
              <a:solidFill>
                <a:schemeClr val="dk1"/>
              </a:solidFill>
              <a:latin typeface="Calibri"/>
              <a:ea typeface="Calibri"/>
              <a:cs typeface="Calibri"/>
              <a:sym typeface="Calibri"/>
            </a:endParaRPr>
          </a:p>
        </p:txBody>
      </p:sp>
      <p:sp>
        <p:nvSpPr>
          <p:cNvPr id="427" name="Google Shape;427;p10"/>
          <p:cNvSpPr/>
          <p:nvPr/>
        </p:nvSpPr>
        <p:spPr>
          <a:xfrm>
            <a:off x="3257550" y="2432596"/>
            <a:ext cx="8934450" cy="2286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0F172A"/>
              </a:buClr>
              <a:buSzPts val="1200"/>
              <a:buFont typeface="Inter"/>
              <a:buNone/>
            </a:pPr>
            <a:r>
              <a:rPr b="1" i="0" lang="en-US" sz="1200" u="none" cap="none" strike="noStrike">
                <a:solidFill>
                  <a:srgbClr val="0F172A"/>
                </a:solidFill>
                <a:latin typeface="Inter"/>
                <a:ea typeface="Inter"/>
                <a:cs typeface="Inter"/>
                <a:sym typeface="Inter"/>
              </a:rPr>
              <a:t>Maximize top-of-funnel acquisition and rapid market penetration.</a:t>
            </a:r>
            <a:endParaRPr b="0" i="0" sz="1200" u="none" cap="none" strike="noStrike">
              <a:solidFill>
                <a:schemeClr val="dk1"/>
              </a:solidFill>
              <a:latin typeface="Calibri"/>
              <a:ea typeface="Calibri"/>
              <a:cs typeface="Calibri"/>
              <a:sym typeface="Calibri"/>
            </a:endParaRPr>
          </a:p>
        </p:txBody>
      </p:sp>
      <p:sp>
        <p:nvSpPr>
          <p:cNvPr id="428" name="Google Shape;428;p10"/>
          <p:cNvSpPr/>
          <p:nvPr/>
        </p:nvSpPr>
        <p:spPr>
          <a:xfrm>
            <a:off x="647700" y="2999631"/>
            <a:ext cx="1066800" cy="60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563EB"/>
              </a:buClr>
              <a:buSzPts val="4800"/>
              <a:buFont typeface="Calibri"/>
              <a:buNone/>
            </a:pPr>
            <a:r>
              <a:rPr b="1" i="0" lang="en-US" sz="4800" u="none" cap="none" strike="noStrike">
                <a:solidFill>
                  <a:srgbClr val="2563EB"/>
                </a:solidFill>
                <a:latin typeface="Calibri"/>
                <a:ea typeface="Calibri"/>
                <a:cs typeface="Calibri"/>
                <a:sym typeface="Calibri"/>
              </a:rPr>
              <a:t>02</a:t>
            </a:r>
            <a:endParaRPr b="0" i="0" sz="4800" u="none" cap="none" strike="noStrike">
              <a:solidFill>
                <a:schemeClr val="dk1"/>
              </a:solidFill>
              <a:latin typeface="Calibri"/>
              <a:ea typeface="Calibri"/>
              <a:cs typeface="Calibri"/>
              <a:sym typeface="Calibri"/>
            </a:endParaRPr>
          </a:p>
        </p:txBody>
      </p:sp>
      <p:sp>
        <p:nvSpPr>
          <p:cNvPr id="429" name="Google Shape;429;p10"/>
          <p:cNvSpPr/>
          <p:nvPr/>
        </p:nvSpPr>
        <p:spPr>
          <a:xfrm>
            <a:off x="1943100" y="2951606"/>
            <a:ext cx="10248900" cy="342900"/>
          </a:xfrm>
          <a:prstGeom prst="rect">
            <a:avLst/>
          </a:prstGeom>
          <a:noFill/>
          <a:ln>
            <a:noFill/>
          </a:ln>
        </p:spPr>
        <p:txBody>
          <a:bodyPr anchorCtr="0" anchor="ctr" bIns="0" lIns="0" spcFirstLastPara="1" rIns="0" wrap="square" tIns="0">
            <a:noAutofit/>
          </a:bodyPr>
          <a:lstStyle/>
          <a:p>
            <a:pPr indent="0" lvl="0" marL="0" rtl="0" algn="l">
              <a:lnSpc>
                <a:spcPct val="150000"/>
              </a:lnSpc>
              <a:spcBef>
                <a:spcPts val="0"/>
              </a:spcBef>
              <a:spcAft>
                <a:spcPts val="0"/>
              </a:spcAft>
              <a:buClr>
                <a:schemeClr val="dk1"/>
              </a:buClr>
              <a:buSzPts val="1100"/>
              <a:buFont typeface="Arial"/>
              <a:buNone/>
            </a:pPr>
            <a:r>
              <a:rPr b="1" lang="en-US" sz="1800">
                <a:solidFill>
                  <a:srgbClr val="0F172A"/>
                </a:solidFill>
                <a:latin typeface="Inter"/>
                <a:ea typeface="Inter"/>
                <a:cs typeface="Inter"/>
                <a:sym typeface="Inter"/>
              </a:rPr>
              <a:t>Separate Rating Niches from Scale Categories</a:t>
            </a:r>
            <a:endParaRPr b="1" sz="1800">
              <a:solidFill>
                <a:srgbClr val="0F172A"/>
              </a:solidFill>
              <a:latin typeface="Inter"/>
              <a:ea typeface="Inter"/>
              <a:cs typeface="Inter"/>
              <a:sym typeface="Inter"/>
            </a:endParaRPr>
          </a:p>
        </p:txBody>
      </p:sp>
      <p:sp>
        <p:nvSpPr>
          <p:cNvPr id="430" name="Google Shape;430;p10"/>
          <p:cNvSpPr/>
          <p:nvPr/>
        </p:nvSpPr>
        <p:spPr>
          <a:xfrm>
            <a:off x="1943100" y="3504606"/>
            <a:ext cx="9448800" cy="728700"/>
          </a:xfrm>
          <a:prstGeom prst="rect">
            <a:avLst/>
          </a:prstGeom>
          <a:noFill/>
          <a:ln>
            <a:noFill/>
          </a:ln>
        </p:spPr>
        <p:txBody>
          <a:bodyPr anchorCtr="0" anchor="ctr" bIns="0" lIns="0" spcFirstLastPara="1" rIns="0" wrap="square" tIns="0">
            <a:noAutofit/>
          </a:bodyPr>
          <a:lstStyle/>
          <a:p>
            <a:pPr indent="0" lvl="0" marL="0" rtl="0" algn="l">
              <a:lnSpc>
                <a:spcPct val="150000"/>
              </a:lnSpc>
              <a:spcBef>
                <a:spcPts val="0"/>
              </a:spcBef>
              <a:spcAft>
                <a:spcPts val="0"/>
              </a:spcAft>
              <a:buClr>
                <a:schemeClr val="dk1"/>
              </a:buClr>
              <a:buSzPts val="1100"/>
              <a:buFont typeface="Arial"/>
              <a:buNone/>
            </a:pPr>
            <a:r>
              <a:rPr lang="en-US" sz="1275">
                <a:solidFill>
                  <a:srgbClr val="475569"/>
                </a:solidFill>
                <a:latin typeface="Inter"/>
                <a:ea typeface="Inter"/>
                <a:cs typeface="Inter"/>
                <a:sym typeface="Inter"/>
              </a:rPr>
              <a:t>Education has the strongest average rating, but the category spread is small. Game and Communication dominate total installs. Recommendation: choose the category based on product fit, then benchmark against the right goal: rating quality or market reach.</a:t>
            </a:r>
            <a:endParaRPr sz="1275">
              <a:solidFill>
                <a:srgbClr val="475569"/>
              </a:solidFill>
              <a:latin typeface="Inter"/>
              <a:ea typeface="Inter"/>
              <a:cs typeface="Inter"/>
              <a:sym typeface="Inter"/>
            </a:endParaRPr>
          </a:p>
          <a:p>
            <a:pPr indent="0" lvl="0" marL="0" marR="0" rtl="0" algn="l">
              <a:lnSpc>
                <a:spcPct val="150039"/>
              </a:lnSpc>
              <a:spcBef>
                <a:spcPts val="0"/>
              </a:spcBef>
              <a:spcAft>
                <a:spcPts val="0"/>
              </a:spcAft>
              <a:buClr>
                <a:srgbClr val="475569"/>
              </a:buClr>
              <a:buSzPts val="1275"/>
              <a:buFont typeface="Inter"/>
              <a:buNone/>
            </a:pPr>
            <a:r>
              <a:t/>
            </a:r>
            <a:endParaRPr sz="1275">
              <a:solidFill>
                <a:srgbClr val="475569"/>
              </a:solidFill>
              <a:latin typeface="Inter"/>
              <a:ea typeface="Inter"/>
              <a:cs typeface="Inter"/>
              <a:sym typeface="Inter"/>
            </a:endParaRPr>
          </a:p>
        </p:txBody>
      </p:sp>
      <p:sp>
        <p:nvSpPr>
          <p:cNvPr id="431" name="Google Shape;431;p10"/>
          <p:cNvSpPr/>
          <p:nvPr/>
        </p:nvSpPr>
        <p:spPr>
          <a:xfrm>
            <a:off x="2057400" y="4366468"/>
            <a:ext cx="1766411" cy="238125"/>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2563EB"/>
              </a:buClr>
              <a:buSzPts val="1050"/>
              <a:buFont typeface="Calibri"/>
              <a:buNone/>
            </a:pPr>
            <a:r>
              <a:rPr b="1" i="0" lang="en-US" sz="1050" u="none" cap="none" strike="noStrike">
                <a:solidFill>
                  <a:srgbClr val="2563EB"/>
                </a:solidFill>
                <a:latin typeface="Calibri"/>
                <a:ea typeface="Calibri"/>
                <a:cs typeface="Calibri"/>
                <a:sym typeface="Calibri"/>
              </a:rPr>
              <a:t>TARGET IMPACT</a:t>
            </a:r>
            <a:endParaRPr b="0" i="0" sz="1050" u="none" cap="none" strike="noStrike">
              <a:solidFill>
                <a:schemeClr val="dk1"/>
              </a:solidFill>
              <a:latin typeface="Calibri"/>
              <a:ea typeface="Calibri"/>
              <a:cs typeface="Calibri"/>
              <a:sym typeface="Calibri"/>
            </a:endParaRPr>
          </a:p>
        </p:txBody>
      </p:sp>
      <p:sp>
        <p:nvSpPr>
          <p:cNvPr id="432" name="Google Shape;432;p10"/>
          <p:cNvSpPr/>
          <p:nvPr/>
        </p:nvSpPr>
        <p:spPr>
          <a:xfrm>
            <a:off x="3257550" y="4371231"/>
            <a:ext cx="8934450" cy="2286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0F172A"/>
              </a:buClr>
              <a:buSzPts val="1200"/>
              <a:buFont typeface="Inter"/>
              <a:buNone/>
            </a:pPr>
            <a:r>
              <a:rPr b="1" i="0" lang="en-US" sz="1200" u="none" cap="none" strike="noStrike">
                <a:solidFill>
                  <a:srgbClr val="0F172A"/>
                </a:solidFill>
                <a:latin typeface="Inter"/>
                <a:ea typeface="Inter"/>
                <a:cs typeface="Inter"/>
                <a:sym typeface="Inter"/>
              </a:rPr>
              <a:t>Achieve sustainable organic growth with lower churn rates.</a:t>
            </a:r>
            <a:endParaRPr b="0" i="0" sz="1200" u="none" cap="none" strike="noStrike">
              <a:solidFill>
                <a:schemeClr val="dk1"/>
              </a:solidFill>
              <a:latin typeface="Calibri"/>
              <a:ea typeface="Calibri"/>
              <a:cs typeface="Calibri"/>
              <a:sym typeface="Calibri"/>
            </a:endParaRPr>
          </a:p>
        </p:txBody>
      </p:sp>
      <p:sp>
        <p:nvSpPr>
          <p:cNvPr id="433" name="Google Shape;433;p10"/>
          <p:cNvSpPr/>
          <p:nvPr/>
        </p:nvSpPr>
        <p:spPr>
          <a:xfrm>
            <a:off x="647700" y="4938266"/>
            <a:ext cx="1066800" cy="60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563EB"/>
              </a:buClr>
              <a:buSzPts val="4800"/>
              <a:buFont typeface="Calibri"/>
              <a:buNone/>
            </a:pPr>
            <a:r>
              <a:rPr b="1" i="0" lang="en-US" sz="4800" u="none" cap="none" strike="noStrike">
                <a:solidFill>
                  <a:srgbClr val="2563EB"/>
                </a:solidFill>
                <a:latin typeface="Calibri"/>
                <a:ea typeface="Calibri"/>
                <a:cs typeface="Calibri"/>
                <a:sym typeface="Calibri"/>
              </a:rPr>
              <a:t>03</a:t>
            </a:r>
            <a:endParaRPr b="0" i="0" sz="4800" u="none" cap="none" strike="noStrike">
              <a:solidFill>
                <a:schemeClr val="dk1"/>
              </a:solidFill>
              <a:latin typeface="Calibri"/>
              <a:ea typeface="Calibri"/>
              <a:cs typeface="Calibri"/>
              <a:sym typeface="Calibri"/>
            </a:endParaRPr>
          </a:p>
        </p:txBody>
      </p:sp>
      <p:sp>
        <p:nvSpPr>
          <p:cNvPr id="434" name="Google Shape;434;p10"/>
          <p:cNvSpPr/>
          <p:nvPr/>
        </p:nvSpPr>
        <p:spPr>
          <a:xfrm>
            <a:off x="1943100" y="4938266"/>
            <a:ext cx="10248900" cy="342900"/>
          </a:xfrm>
          <a:prstGeom prst="rect">
            <a:avLst/>
          </a:prstGeom>
          <a:noFill/>
          <a:ln>
            <a:noFill/>
          </a:ln>
        </p:spPr>
        <p:txBody>
          <a:bodyPr anchorCtr="0" anchor="ctr" bIns="0" lIns="0" spcFirstLastPara="1" rIns="0" wrap="square" tIns="0">
            <a:noAutofit/>
          </a:bodyPr>
          <a:lstStyle/>
          <a:p>
            <a:pPr indent="0" lvl="0" marL="0" rtl="0" algn="l">
              <a:lnSpc>
                <a:spcPct val="150000"/>
              </a:lnSpc>
              <a:spcBef>
                <a:spcPts val="0"/>
              </a:spcBef>
              <a:spcAft>
                <a:spcPts val="0"/>
              </a:spcAft>
              <a:buClr>
                <a:schemeClr val="dk1"/>
              </a:buClr>
              <a:buSzPts val="1100"/>
              <a:buFont typeface="Arial"/>
              <a:buNone/>
            </a:pPr>
            <a:r>
              <a:rPr b="1" lang="en-US" sz="1800">
                <a:solidFill>
                  <a:srgbClr val="0F172A"/>
                </a:solidFill>
                <a:latin typeface="Inter"/>
                <a:ea typeface="Inter"/>
                <a:cs typeface="Inter"/>
                <a:sym typeface="Inter"/>
              </a:rPr>
              <a:t>Treat Reviews as Engagement, Not Proof of Quality</a:t>
            </a:r>
            <a:endParaRPr b="1" sz="1800">
              <a:solidFill>
                <a:srgbClr val="0F172A"/>
              </a:solidFill>
              <a:latin typeface="Inter"/>
              <a:ea typeface="Inter"/>
              <a:cs typeface="Inter"/>
              <a:sym typeface="Inter"/>
            </a:endParaRPr>
          </a:p>
        </p:txBody>
      </p:sp>
      <p:sp>
        <p:nvSpPr>
          <p:cNvPr id="435" name="Google Shape;435;p10"/>
          <p:cNvSpPr/>
          <p:nvPr/>
        </p:nvSpPr>
        <p:spPr>
          <a:xfrm>
            <a:off x="1943100" y="5456041"/>
            <a:ext cx="9448800" cy="728700"/>
          </a:xfrm>
          <a:prstGeom prst="rect">
            <a:avLst/>
          </a:prstGeom>
          <a:noFill/>
          <a:ln>
            <a:noFill/>
          </a:ln>
        </p:spPr>
        <p:txBody>
          <a:bodyPr anchorCtr="0" anchor="ctr" bIns="0" lIns="0" spcFirstLastPara="1" rIns="0" wrap="square" tIns="0">
            <a:noAutofit/>
          </a:bodyPr>
          <a:lstStyle/>
          <a:p>
            <a:pPr indent="0" lvl="0" marL="0" rtl="0" algn="l">
              <a:lnSpc>
                <a:spcPct val="150000"/>
              </a:lnSpc>
              <a:spcBef>
                <a:spcPts val="0"/>
              </a:spcBef>
              <a:spcAft>
                <a:spcPts val="0"/>
              </a:spcAft>
              <a:buClr>
                <a:schemeClr val="dk1"/>
              </a:buClr>
              <a:buSzPts val="1100"/>
              <a:buFont typeface="Arial"/>
              <a:buNone/>
            </a:pPr>
            <a:r>
              <a:rPr lang="en-US" sz="1275">
                <a:solidFill>
                  <a:srgbClr val="0F172A"/>
                </a:solidFill>
                <a:latin typeface="Inter"/>
                <a:ea typeface="Inter"/>
                <a:cs typeface="Inter"/>
                <a:sym typeface="Inter"/>
              </a:rPr>
              <a:t>Apps with more reviews show higher average ratings, but the relationship is modest and not causal. Use review volume as an early engagement signal while improving ratings through product quality, onboarding, support, and review prompts.</a:t>
            </a:r>
            <a:endParaRPr sz="1275">
              <a:solidFill>
                <a:srgbClr val="0F172A"/>
              </a:solidFill>
              <a:latin typeface="Inter"/>
              <a:ea typeface="Inter"/>
              <a:cs typeface="Inter"/>
              <a:sym typeface="Inter"/>
            </a:endParaRPr>
          </a:p>
          <a:p>
            <a:pPr indent="0" lvl="0" marL="0" marR="0" rtl="0" algn="l">
              <a:lnSpc>
                <a:spcPct val="150039"/>
              </a:lnSpc>
              <a:spcBef>
                <a:spcPts val="0"/>
              </a:spcBef>
              <a:spcAft>
                <a:spcPts val="0"/>
              </a:spcAft>
              <a:buClr>
                <a:srgbClr val="0F172A"/>
              </a:buClr>
              <a:buSzPts val="1275"/>
              <a:buFont typeface="Inter"/>
              <a:buNone/>
            </a:pPr>
            <a:r>
              <a:t/>
            </a:r>
            <a:endParaRPr b="1" sz="1275">
              <a:solidFill>
                <a:srgbClr val="0F172A"/>
              </a:solidFill>
              <a:latin typeface="Inter"/>
              <a:ea typeface="Inter"/>
              <a:cs typeface="Inter"/>
              <a:sym typeface="Inter"/>
            </a:endParaRPr>
          </a:p>
        </p:txBody>
      </p:sp>
      <p:sp>
        <p:nvSpPr>
          <p:cNvPr id="436" name="Google Shape;436;p10"/>
          <p:cNvSpPr/>
          <p:nvPr/>
        </p:nvSpPr>
        <p:spPr>
          <a:xfrm>
            <a:off x="2057400" y="6305104"/>
            <a:ext cx="1766411" cy="238125"/>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2563EB"/>
              </a:buClr>
              <a:buSzPts val="1050"/>
              <a:buFont typeface="Calibri"/>
              <a:buNone/>
            </a:pPr>
            <a:r>
              <a:rPr b="1" i="0" lang="en-US" sz="1050" u="none" cap="none" strike="noStrike">
                <a:solidFill>
                  <a:srgbClr val="2563EB"/>
                </a:solidFill>
                <a:latin typeface="Calibri"/>
                <a:ea typeface="Calibri"/>
                <a:cs typeface="Calibri"/>
                <a:sym typeface="Calibri"/>
              </a:rPr>
              <a:t>TARGET IMPACT</a:t>
            </a:r>
            <a:endParaRPr b="0" i="0" sz="1050" u="none" cap="none" strike="noStrike">
              <a:solidFill>
                <a:schemeClr val="dk1"/>
              </a:solidFill>
              <a:latin typeface="Calibri"/>
              <a:ea typeface="Calibri"/>
              <a:cs typeface="Calibri"/>
              <a:sym typeface="Calibri"/>
            </a:endParaRPr>
          </a:p>
        </p:txBody>
      </p:sp>
      <p:sp>
        <p:nvSpPr>
          <p:cNvPr id="437" name="Google Shape;437;p10"/>
          <p:cNvSpPr/>
          <p:nvPr/>
        </p:nvSpPr>
        <p:spPr>
          <a:xfrm>
            <a:off x="3257550" y="6309875"/>
            <a:ext cx="8248500" cy="228600"/>
          </a:xfrm>
          <a:prstGeom prst="rect">
            <a:avLst/>
          </a:prstGeom>
          <a:noFill/>
          <a:ln>
            <a:noFill/>
          </a:ln>
        </p:spPr>
        <p:txBody>
          <a:bodyPr anchorCtr="0" anchor="ctr" bIns="0" lIns="0" spcFirstLastPara="1" rIns="0" wrap="square" tIns="0">
            <a:noAutofit/>
          </a:bodyPr>
          <a:lstStyle/>
          <a:p>
            <a:pPr indent="0" lvl="0" marL="0" marR="0" rtl="0" algn="l">
              <a:lnSpc>
                <a:spcPct val="150000"/>
              </a:lnSpc>
              <a:spcBef>
                <a:spcPts val="0"/>
              </a:spcBef>
              <a:spcAft>
                <a:spcPts val="0"/>
              </a:spcAft>
              <a:buClr>
                <a:srgbClr val="0F172A"/>
              </a:buClr>
              <a:buSzPts val="1200"/>
              <a:buFont typeface="Inter"/>
              <a:buNone/>
            </a:pPr>
            <a:r>
              <a:rPr b="1" i="0" lang="en-US" sz="1200" u="none" cap="none" strike="noStrike">
                <a:solidFill>
                  <a:srgbClr val="0F172A"/>
                </a:solidFill>
                <a:latin typeface="Inter"/>
                <a:ea typeface="Inter"/>
                <a:cs typeface="Inter"/>
                <a:sym typeface="Inter"/>
              </a:rPr>
              <a:t>Strengthen Store SEO and establish long-term brand authority.</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g3f4b3e0a787_4_8"/>
          <p:cNvSpPr txBox="1"/>
          <p:nvPr/>
        </p:nvSpPr>
        <p:spPr>
          <a:xfrm>
            <a:off x="6130650" y="2442150"/>
            <a:ext cx="5771400" cy="197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900">
                <a:solidFill>
                  <a:srgbClr val="2563EB"/>
                </a:solidFill>
                <a:latin typeface="Montserrat"/>
                <a:ea typeface="Montserrat"/>
                <a:cs typeface="Montserrat"/>
                <a:sym typeface="Montserrat"/>
              </a:rPr>
              <a:t>Thank you</a:t>
            </a:r>
            <a:endParaRPr b="1" sz="4900">
              <a:solidFill>
                <a:srgbClr val="2563EB"/>
              </a:solidFill>
              <a:latin typeface="Montserrat"/>
              <a:ea typeface="Montserrat"/>
              <a:cs typeface="Montserrat"/>
              <a:sym typeface="Montserrat"/>
            </a:endParaRPr>
          </a:p>
        </p:txBody>
      </p:sp>
      <p:pic>
        <p:nvPicPr>
          <p:cNvPr id="444" name="Google Shape;444;g3f4b3e0a787_4_8"/>
          <p:cNvPicPr preferRelativeResize="0"/>
          <p:nvPr/>
        </p:nvPicPr>
        <p:blipFill>
          <a:blip r:embed="rId3">
            <a:alphaModFix/>
          </a:blip>
          <a:stretch>
            <a:fillRect/>
          </a:stretch>
        </p:blipFill>
        <p:spPr>
          <a:xfrm>
            <a:off x="100200" y="2609125"/>
            <a:ext cx="4363150" cy="4363150"/>
          </a:xfrm>
          <a:prstGeom prst="rect">
            <a:avLst/>
          </a:prstGeom>
          <a:noFill/>
          <a:ln>
            <a:noFill/>
          </a:ln>
        </p:spPr>
      </p:pic>
      <p:sp>
        <p:nvSpPr>
          <p:cNvPr id="445" name="Google Shape;445;g3f4b3e0a787_4_8"/>
          <p:cNvSpPr txBox="1"/>
          <p:nvPr/>
        </p:nvSpPr>
        <p:spPr>
          <a:xfrm>
            <a:off x="5577350" y="4192375"/>
            <a:ext cx="1724400" cy="40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rgbClr val="2563EB"/>
                </a:solidFill>
                <a:latin typeface="Montserrat"/>
                <a:ea typeface="Montserrat"/>
                <a:cs typeface="Montserrat"/>
                <a:sym typeface="Montserrat"/>
              </a:rPr>
              <a:t>Matteo Grossi</a:t>
            </a:r>
            <a:endParaRPr sz="1200">
              <a:solidFill>
                <a:srgbClr val="2563EB"/>
              </a:solidFill>
              <a:latin typeface="Montserrat"/>
              <a:ea typeface="Montserrat"/>
              <a:cs typeface="Montserrat"/>
              <a:sym typeface="Montserrat"/>
            </a:endParaRPr>
          </a:p>
        </p:txBody>
      </p:sp>
      <p:sp>
        <p:nvSpPr>
          <p:cNvPr id="446" name="Google Shape;446;g3f4b3e0a787_4_8"/>
          <p:cNvSpPr txBox="1"/>
          <p:nvPr/>
        </p:nvSpPr>
        <p:spPr>
          <a:xfrm>
            <a:off x="9336426" y="4192381"/>
            <a:ext cx="1724400" cy="58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US" sz="1200">
                <a:solidFill>
                  <a:srgbClr val="2563EB"/>
                </a:solidFill>
                <a:latin typeface="Montserrat"/>
                <a:ea typeface="Montserrat"/>
                <a:cs typeface="Montserrat"/>
                <a:sym typeface="Montserrat"/>
              </a:rPr>
              <a:t>Berker Ildokuz</a:t>
            </a:r>
            <a:endParaRPr sz="1200">
              <a:solidFill>
                <a:srgbClr val="2563EB"/>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2026-07-10T13:43:15Z</dcterms:created>
  <dc:creator>PptxGenJS</dc:creator>
</cp:coreProperties>
</file>